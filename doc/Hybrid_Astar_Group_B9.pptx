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3FD7515-769F-6FF9-87E9-18845E249069}">
          <p14:sldIdLst>
            <p14:sldId id="256"/>
            <p14:sldId id="257"/>
          </p14:sldIdLst>
        </p14:section>
        <p14:section name="Part 1: Hybrid A* in general" id="{6C0F9D7A-4218-B06E-DE62-F2802998A151}">
          <p14:sldIdLst>
            <p14:sldId id="258"/>
            <p14:sldId id="259"/>
            <p14:sldId id="260"/>
            <p14:sldId id="261"/>
            <p14:sldId id="262"/>
            <p14:sldId id="263"/>
            <p14:sldId id="264"/>
          </p14:sldIdLst>
        </p14:section>
        <p14:section name="Part 2: Hybrid A* in our project" id="{A2E7E02E-C7F8-24CC-90EA-A9E1B0B0E7AE}">
          <p14:sldIdLst>
            <p14:sldId id="265"/>
            <p14:sldId id="266"/>
            <p14:sldId id="267"/>
            <p14:sldId id="268"/>
            <p14:sldId id="269"/>
            <p14:sldId id="270"/>
            <p14:sldId id="271"/>
            <p14:sldId id="272"/>
            <p14:sldId id="273"/>
          </p14:sldIdLst>
        </p14:section>
        <p14:section name="Summary" id="{7ADFA353-AC31-6CBE-1065-C6C121B40CB6}">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10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6460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focus on one part of our project: the path planner, Hybrid A*.
First the general idea: what A* is, why it is not enough for a vehicle, and how Hybrid A* fixes that.
Then how we adapted it for a tractor-trailer, whose reversing is unstable.
The picture on the right is a real path from our planner: the truck drives in from the gate, stops, and reverses into the highlighted bay.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has three layers. Given the yard and the bay the driver clicked, the planner computes a complete route from the gate to the bay.
The NMPC controller then tracks that route in closed loop and enforces the hard hitch-angle limit, and the guidance layer turns it into instructions for the driver.
The split matters: the planner thinks globally, about walls, parked trucks and where to turn around. The controller thinks locally, a few seconds ahead.
Without a good plan the controller has nothing sensible to follow, so the planner is where the route is decided.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general algorithm, independent of our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is the classic shortest-path search. The map is a grid; each cell is a node.
For each cell we track g, the cost to reach it, and h, an estimate of the cost from there to the goal, here the Manhattan distance.
The search always expands the cell with the lowest f = g + h. Because h pulls it toward the goal, it explores only part of the map: the shaded cells, 55 of 126.
If h never overestimates the real cost, A* is guaranteed to return the shortest grid path.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 path is fine for a robot that can turn on the spot. A truck cannot.
It has a minimum turning radius, it cannot slide sideways, and its heading is part of its state.
Smoothing the grid path afterwards is not enough: a smoothed corner may still be too tight, or may clip an obstacle.
We need a search that only ever produces motions the vehicle can actually make.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A* is still A*: an open list, g plus h, always expand the best node. Three things change.
One: a node is a continuous pose, x, y and heading, wherever the vehicle really is, not the centre of a cell.
Two: to make children we simulate driving a short arc with a few steering angles, in both gears. Every edge in the tree is therefore a motion the vehicle can make.
Three: the grid is used only to detect revisits. If two poses fall in the same x, y, heading cell, we keep the cheaper one. That keeps the search finite.
The name comes from this mix: continuous states, discrete bookkeeping.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summary of the differences.
The price we pay: because nodes are merged per cell and arcs come from a finite set, Hybrid A* is not guaranteed optimal and can, in principle, miss a very narrow passage.
In return every path it produces is drivable, and it is fast enough to plan live. That is the trade-off every practical vehicle planner makes; Hybrid A* is the method used in the DARPA Urban Challenge (Stanford's Junior) and in many parking systems.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heuristic decides how quickly the search finds the goal. Hybrid A* uses two.
The first ignores obstacles but respects the turning radius: in empty space, how long is the shortest drivable curve to the goal pose? That catches cases where the truck has to turn around.
The second ignores turning but respects obstacles: a plain 2-D shortest path around the walls. That catches dead ends.
Each is an underestimate on its own, so taking the maximum still is, but it is much closer to the real cost.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loop. Pop the best node. Try to connect it straight to the goal. If that fails, expand its motion primitives, throw away children that collide, break a limit, or land in a cell we already reached more cheaply, and push the rest.
The shot, also called analytic expansion, is what makes Hybrid A* practical. Arcs on a lattice almost never end exactly at the goal pose, so instead, from nodes that are close enough, we compute an exact curve to the goal and check it for collisions. The first successful shot completes the path.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we applied this to a tractor pulling a trailer, and what we had to change.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car the state is x, y and heading. A tractor-trailer adds the hitch angle psi, the angle between tractor and trailer.
Driving forward, the trailer straightens out by itself. In reverse it is the opposite: any small hitch angle grows. The red curve is our own model reversing with the wheel straight: 3 degrees becomes 60, a jackknife, in about 25 metres.
Standard Hybrid A* generates arcs with a fixed steering angle. In reverse those arcs fold the trailer, so the search cannot even produce a straight reverse. That is the problem we had to solve.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key change: instead of choosing a steering angle, each primitive chooses a target hitch angle, one of five values.
While the primitive is driven, a regulator, obtained by inverting the hitch-angle equation, computes the steering that makes the hitch angle settle on that target. It is stable forward and in reverse.
So from any node we get 10 children: 2 gears times 5 targets, each 2 m long, simulated on the real kinematics.
From the search's point of view the trailer now behaves like a car, and the rest of Hybrid A* applies unchanged.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settings in our planner, in sim/planner.py.
Any child that breaks a limit is simply discarded, so every path the planner returns already respects them.
We deliberately plan inside tighter limits than the controller: hitch at most 52 degrees against the true 60, and only 85 percent of the steering lock. The margin is room for the NMPC to correct disturbances without hitting a limit.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 the cost so far, is not just distance. Reverse driving costs 40 percent more, each gear change costs as much as 6 metres of driving, and there are small penalties for steering hard, changing the steering, and for a bent trailer.
Together they make the planner prefer paths a human driver would also prefer: drive forward past the bay, one gear change, then a smooth reverse 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the heuristic and the shot use one fact about the trailer: the curvature of the trailer axle's path fixes the hitch angle. So the trailer axle moves like a car whose steering is the hitch angle.
Heuristic: a Dubins path for the trailer axle, with a 10 m turning radius, gives a turning-aware estimate; a Dijkstra distance field gives the obstacle-aware estimate; we take the larger and add a hitch-angle term. We weight it by 3, which makes the search greedy and fast at the cost of strict optimality.
Shot: we plan a Dubins path for the trailer axle into the bay and actually drive the full rig model along it with a controller. It only counts if the simulated rig ends parked, aligned and clear. So the final path is consistent with the real kinematics end to end, not just geometrically.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planner's real search on one of our yards, recorded from the code.
The truck starts on the left. The pale fan near the right is every primitive the search tried: 1,840 arcs from 185 expanded nodes. The search drives forward past the bays and explores pulling up and turning.
At every promising node it tries a shot. After 137 attempts one shot, the dashed amber curve, reverses the trailer cleanly into bay 6, and the search stops.
The whole plan took 0.14 seconds.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search, two finishing steps. First, shortening: the greedy search can take detours, so we try a shot from later and later points of the path and keep the earliest one that connects.
Second, the last leg into the bay is a straight line along the bay axis.
The result for this bay: 82 m, forward past the bay, one gear change, a smooth reverse in. The peak hitch angle on the plan is 47 degrees, under the 52-degree planning cap.
Each waypoint carries the full state and the gear, so the NMPC receives a reference it can actually follow.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planner is the first link in a chain. The NMPC tracks its path, using the margins the planner deliberately left free.
Every bay is then certified: a full closed-loop simulated run must park within tolerance, never jackknife, and never touch anything.
If it fails, the planner is called again, the way a driver would retry: from where the rig stopped, or from the gate with different planner settings.
Across the 110-bay library, 98 bays certify, the worst hitch angle in any certified run is 53.3 degrees, and on all 60 reversing bays a driver without guidance jackknifes. That is the value of the plan plus the controller.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Hybrid A* combines A*'s efficient search with motion that a vehicle can actually perform, so every path it returns is drivable, and our safety limits are enforced during the search itself.
Our main contribution on the planning side is the stabilised primitive: steering to a target hitch angle, which makes reversing a trailer searchable at all.
The limitations are the usual ones for this family: no strict optimality, finite resolution, and a static map.
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A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480560" cy="100584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a:spLocks noGrp="1"/>
          </p:cNvSpPr>
          <p:nvPr>
            <p:ph type="body" idx="101" hasCustomPrompt="1"/>
          </p:nvPr>
        </p:nvSpPr>
        <p:spPr>
          <a:xfrm>
            <a:off x="548640" y="2377440"/>
            <a:ext cx="4297680" cy="914400"/>
          </a:xfrm>
          <a:prstGeom prst="rect">
            <a:avLst/>
          </a:prstGeom>
          <a:noFill/>
          <a:ln/>
        </p:spPr>
        <p:txBody>
          <a:bodyPr wrap="square" rtlCol="0"/>
          <a:lstStyle>
            <a:lvl1pPr marL="0" indent="0">
              <a:buNone/>
              <a:defRPr lang="en-US" sz="2000" dirty="0">
                <a:solidFill>
                  <a:schemeClr val="accent6"/>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E2A33"/>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600200"/>
            <a:ext cx="7680960" cy="457200"/>
          </a:xfrm>
          <a:prstGeom prst="rect">
            <a:avLst/>
          </a:prstGeom>
          <a:noFill/>
          <a:ln/>
        </p:spPr>
        <p:txBody>
          <a:bodyPr wrap="square" rtlCol="0"/>
          <a:lstStyle>
            <a:lvl1pPr marL="0" indent="0">
              <a:buNone/>
              <a:defRPr lang="en-US" sz="1800" b="1" dirty="0">
                <a:solidFill>
                  <a:schemeClr val="accent2"/>
                </a:solidFill>
              </a:defRPr>
            </a:lvl1pPr>
          </a:lstStyle>
          <a:p>
            <a:pPr marL="0" indent="0">
              <a:buNone/>
            </a:pPr>
            <a:endParaRPr lang="en-US" sz="1800" dirty="0"/>
          </a:p>
        </p:txBody>
      </p:sp>
      <p:sp>
        <p:nvSpPr>
          <p:cNvPr id="3" name="Text 0"/>
          <p:cNvSpPr>
            <a:spLocks noGrp="1"/>
          </p:cNvSpPr>
          <p:nvPr>
            <p:ph type="title" idx="101" hasCustomPrompt="1"/>
          </p:nvPr>
        </p:nvSpPr>
        <p:spPr>
          <a:xfrm>
            <a:off x="731520" y="2057400"/>
            <a:ext cx="7680960" cy="9144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731520" y="2971800"/>
            <a:ext cx="7680960" cy="548640"/>
          </a:xfrm>
          <a:prstGeom prst="rect">
            <a:avLst/>
          </a:prstGeom>
          <a:noFill/>
          <a:ln/>
        </p:spPr>
        <p:txBody>
          <a:bodyPr wrap="square" rtlCol="0"/>
          <a:lstStyle>
            <a:lvl1pPr marL="0" indent="0">
              <a:buNone/>
              <a:defRPr lang="en-US" sz="1800" dirty="0">
                <a:solidFill>
                  <a:schemeClr val="accent5"/>
                </a:solidFill>
              </a:defRPr>
            </a:lvl1pPr>
          </a:lstStyle>
          <a:p>
            <a:pPr marL="0" indent="0">
              <a:buNone/>
            </a:pPr>
            <a:endParaRPr lang="en-US" sz="1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chemeClr val="accent4"/>
                </a:solidFill>
              </a:rPr>
              <a:t>Hybrid A*  ·  Group B9</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480560" cy="1005840"/>
          </a:xfrm>
          <a:prstGeom prst="rect">
            <a:avLst/>
          </a:prstGeom>
          <a:noFill/>
          <a:ln/>
        </p:spPr>
        <p:txBody>
          <a:bodyPr wrap="square" lIns="0" tIns="0" rIns="0" bIns="0" rtlCol="0" anchor="b"/>
          <a:lstStyle/>
          <a:p>
            <a:pPr marL="0" indent="0" algn="l">
              <a:buNone/>
            </a:pPr>
            <a:r>
              <a:rPr lang="en-US" sz="5400" b="1" dirty="0">
                <a:solidFill>
                  <a:schemeClr val="bg1"/>
                </a:solidFill>
              </a:rPr>
              <a:t>Hybrid A*</a:t>
            </a:r>
            <a:endParaRPr lang="en-US" sz="5400" dirty="0"/>
          </a:p>
        </p:txBody>
      </p:sp>
      <p:sp>
        <p:nvSpPr>
          <p:cNvPr id="3" name="Text 0"/>
          <p:cNvSpPr>
            <a:spLocks noGrp="1"/>
          </p:cNvSpPr>
          <p:nvPr>
            <p:ph type="body" idx="101" hasCustomPrompt="1"/>
          </p:nvPr>
        </p:nvSpPr>
        <p:spPr>
          <a:xfrm>
            <a:off x="548640" y="2377440"/>
            <a:ext cx="4297680" cy="914400"/>
          </a:xfrm>
          <a:prstGeom prst="rect">
            <a:avLst/>
          </a:prstGeom>
          <a:noFill/>
          <a:ln/>
        </p:spPr>
        <p:txBody>
          <a:bodyPr wrap="square" lIns="0" tIns="0" rIns="0" bIns="0" rtlCol="0" anchor="t"/>
          <a:lstStyle/>
          <a:p>
            <a:pPr marL="0" indent="0">
              <a:buNone/>
            </a:pPr>
            <a:r>
              <a:rPr lang="en-US" sz="2000" dirty="0">
                <a:solidFill>
                  <a:schemeClr val="accent6"/>
                </a:solidFill>
              </a:rPr>
              <a:t>How our tractor-trailer finds a drivable path into the bay</a:t>
            </a:r>
            <a:endParaRPr lang="en-US" sz="2000" dirty="0"/>
          </a:p>
        </p:txBody>
      </p:sp>
      <p:sp>
        <p:nvSpPr>
          <p:cNvPr id="4" name="t0"/>
          <p:cNvSpPr txBox="1"/>
          <p:nvPr/>
        </p:nvSpPr>
        <p:spPr>
          <a:xfrm>
            <a:off x="548640" y="3703320"/>
            <a:ext cx="4297680" cy="274320"/>
          </a:xfrm>
          <a:prstGeom prst="rect">
            <a:avLst/>
          </a:prstGeom>
          <a:noFill/>
          <a:ln/>
        </p:spPr>
        <p:txBody>
          <a:bodyPr wrap="square" lIns="0" tIns="0" rIns="0" bIns="0" rtlCol="0" anchor="t"/>
          <a:lstStyle/>
          <a:p>
            <a:pPr marL="0" indent="0">
              <a:buNone/>
            </a:pPr>
            <a:r>
              <a:rPr lang="en-US" sz="1300" b="1" dirty="0">
                <a:solidFill>
                  <a:schemeClr val="bg1"/>
                </a:solidFill>
              </a:rPr>
              <a:t>Trailer Parking Guidance: NMPC + Hybrid A*</a:t>
            </a:r>
            <a:endParaRPr lang="en-US" sz="1300" dirty="0"/>
          </a:p>
        </p:txBody>
      </p:sp>
      <p:sp>
        <p:nvSpPr>
          <p:cNvPr id="5" name="t1"/>
          <p:cNvSpPr txBox="1"/>
          <p:nvPr/>
        </p:nvSpPr>
        <p:spPr>
          <a:xfrm>
            <a:off x="548640" y="3977640"/>
            <a:ext cx="4297680" cy="502920"/>
          </a:xfrm>
          <a:prstGeom prst="rect">
            <a:avLst/>
          </a:prstGeom>
          <a:noFill/>
          <a:ln/>
        </p:spPr>
        <p:txBody>
          <a:bodyPr wrap="square" lIns="0" tIns="0" rIns="0" bIns="0" rtlCol="0" anchor="t"/>
          <a:lstStyle/>
          <a:p>
            <a:pPr marL="0" indent="0">
              <a:buNone/>
            </a:pPr>
            <a:r>
              <a:rPr lang="en-US" sz="1200" dirty="0">
                <a:solidFill>
                  <a:schemeClr val="accent5"/>
                </a:solidFill>
              </a:rPr>
              <a:t>Group B9 · Harshith KV, G Venugopalan, Rithvik Arulprakash, Vipin Sudhakar</a:t>
            </a:r>
            <a:endParaRPr lang="en-US" sz="1200" dirty="0"/>
          </a:p>
        </p:txBody>
      </p:sp>
      <p:sp>
        <p:nvSpPr>
          <p:cNvPr id="6" name="b2"/>
          <p:cNvSpPr/>
          <p:nvPr/>
        </p:nvSpPr>
        <p:spPr>
          <a:xfrm>
            <a:off x="5257800" y="411480"/>
            <a:ext cx="3520440" cy="4297680"/>
          </a:xfrm>
          <a:prstGeom prst="roundRect">
            <a:avLst>
              <a:gd name="adj" fmla="val 3117"/>
            </a:avLst>
          </a:prstGeom>
          <a:solidFill>
            <a:srgbClr val="F4F6F8"/>
          </a:solidFill>
          <a:ln/>
        </p:spPr>
      </p:sp>
      <p:pic>
        <p:nvPicPr>
          <p:cNvPr id="7" name="img3" descr="path.png"/>
          <p:cNvPicPr>
            <a:picLocks noChangeAspect="1"/>
          </p:cNvPicPr>
          <p:nvPr/>
        </p:nvPicPr>
        <p:blipFill>
          <a:blip r:embed="rId3"/>
          <a:stretch>
            <a:fillRect/>
          </a:stretch>
        </p:blipFill>
        <p:spPr>
          <a:xfrm>
            <a:off x="5349240" y="548640"/>
            <a:ext cx="333756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7975B8B-5A43-0FBD-8DC1-D3747C8F067B}"/>
              </a:ext>
            </a:extLst>
          </p:cNvPr>
          <p:cNvSpPr/>
          <p:nvPr/>
        </p:nvSpPr>
        <p:spPr>
          <a:xfrm>
            <a:off x="4754880" y="2897579"/>
            <a:ext cx="3355967" cy="15122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6" name="Rectangle 25">
            <a:extLst>
              <a:ext uri="{FF2B5EF4-FFF2-40B4-BE49-F238E27FC236}">
                <a16:creationId xmlns:a16="http://schemas.microsoft.com/office/drawing/2014/main" id="{593099E4-DBB8-E2DA-1C15-C36C8CF0B5E9}"/>
              </a:ext>
            </a:extLst>
          </p:cNvPr>
          <p:cNvSpPr/>
          <p:nvPr/>
        </p:nvSpPr>
        <p:spPr>
          <a:xfrm>
            <a:off x="510639" y="2951018"/>
            <a:ext cx="3566160" cy="14597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The Planner decides the route; the Controller follows it</a:t>
            </a:r>
            <a:endParaRPr lang="en-US" sz="2800" dirty="0"/>
          </a:p>
        </p:txBody>
      </p:sp>
      <p:sp>
        <p:nvSpPr>
          <p:cNvPr id="3" name="b4"/>
          <p:cNvSpPr/>
          <p:nvPr/>
        </p:nvSpPr>
        <p:spPr>
          <a:xfrm>
            <a:off x="457200" y="1234440"/>
            <a:ext cx="1783080" cy="1325880"/>
          </a:xfrm>
          <a:prstGeom prst="roundRect">
            <a:avLst>
              <a:gd name="adj" fmla="val 6897"/>
            </a:avLst>
          </a:prstGeom>
          <a:solidFill>
            <a:srgbClr val="F4F6F8"/>
          </a:solidFill>
          <a:ln/>
        </p:spPr>
      </p:sp>
      <p:sp>
        <p:nvSpPr>
          <p:cNvPr id="4" name="t5"/>
          <p:cNvSpPr txBox="1"/>
          <p:nvPr/>
        </p:nvSpPr>
        <p:spPr>
          <a:xfrm>
            <a:off x="594360" y="1417320"/>
            <a:ext cx="1508760" cy="365760"/>
          </a:xfrm>
          <a:prstGeom prst="rect">
            <a:avLst/>
          </a:prstGeom>
          <a:noFill/>
          <a:ln/>
        </p:spPr>
        <p:txBody>
          <a:bodyPr wrap="square" lIns="0" tIns="0" rIns="0" bIns="0" rtlCol="0" anchor="t"/>
          <a:lstStyle/>
          <a:p>
            <a:pPr marL="0" indent="0">
              <a:buNone/>
            </a:pPr>
            <a:r>
              <a:rPr lang="en-US" sz="1700" b="1" dirty="0">
                <a:solidFill>
                  <a:schemeClr val="tx1"/>
                </a:solidFill>
              </a:rPr>
              <a:t>Yard + bay</a:t>
            </a:r>
            <a:endParaRPr lang="en-US" sz="1700" dirty="0"/>
          </a:p>
        </p:txBody>
      </p:sp>
      <p:sp>
        <p:nvSpPr>
          <p:cNvPr id="5" name="t6"/>
          <p:cNvSpPr txBox="1"/>
          <p:nvPr/>
        </p:nvSpPr>
        <p:spPr>
          <a:xfrm>
            <a:off x="594360" y="1828800"/>
            <a:ext cx="1508760" cy="640080"/>
          </a:xfrm>
          <a:prstGeom prst="rect">
            <a:avLst/>
          </a:prstGeom>
          <a:noFill/>
          <a:ln/>
        </p:spPr>
        <p:txBody>
          <a:bodyPr wrap="square" lIns="0" tIns="0" rIns="0" bIns="0" rtlCol="0" anchor="t"/>
          <a:lstStyle/>
          <a:p>
            <a:pPr marL="0" indent="0">
              <a:buNone/>
            </a:pPr>
            <a:r>
              <a:rPr lang="en-US" sz="1300" dirty="0">
                <a:solidFill>
                  <a:schemeClr val="tx2"/>
                </a:solidFill>
              </a:rPr>
              <a:t>obstacles, parked trucks, start pose, chosen bay</a:t>
            </a:r>
            <a:endParaRPr lang="en-US" sz="1300" dirty="0"/>
          </a:p>
        </p:txBody>
      </p:sp>
      <p:sp>
        <p:nvSpPr>
          <p:cNvPr id="6" name="a7"/>
          <p:cNvSpPr/>
          <p:nvPr/>
        </p:nvSpPr>
        <p:spPr>
          <a:xfrm>
            <a:off x="2286000" y="1897380"/>
            <a:ext cx="274320" cy="914"/>
          </a:xfrm>
          <a:prstGeom prst="line">
            <a:avLst/>
          </a:prstGeom>
          <a:noFill/>
          <a:ln w="25400">
            <a:solidFill>
              <a:schemeClr val="accent4"/>
            </a:solidFill>
            <a:prstDash val="solid"/>
            <a:tailEnd type="triangle"/>
          </a:ln>
        </p:spPr>
      </p:sp>
      <p:sp>
        <p:nvSpPr>
          <p:cNvPr id="7" name="b8"/>
          <p:cNvSpPr/>
          <p:nvPr/>
        </p:nvSpPr>
        <p:spPr>
          <a:xfrm>
            <a:off x="2606040" y="1234440"/>
            <a:ext cx="1783080" cy="1325880"/>
          </a:xfrm>
          <a:prstGeom prst="roundRect">
            <a:avLst>
              <a:gd name="adj" fmla="val 6897"/>
            </a:avLst>
          </a:prstGeom>
          <a:solidFill>
            <a:srgbClr val="1F7A8C"/>
          </a:solidFill>
          <a:ln/>
        </p:spPr>
      </p:sp>
      <p:sp>
        <p:nvSpPr>
          <p:cNvPr id="8" name="t9"/>
          <p:cNvSpPr txBox="1"/>
          <p:nvPr/>
        </p:nvSpPr>
        <p:spPr>
          <a:xfrm>
            <a:off x="2743200" y="1417320"/>
            <a:ext cx="1508760" cy="365760"/>
          </a:xfrm>
          <a:prstGeom prst="rect">
            <a:avLst/>
          </a:prstGeom>
          <a:noFill/>
          <a:ln/>
        </p:spPr>
        <p:txBody>
          <a:bodyPr wrap="square" lIns="0" tIns="0" rIns="0" bIns="0" rtlCol="0" anchor="t"/>
          <a:lstStyle/>
          <a:p>
            <a:pPr marL="0" indent="0">
              <a:buNone/>
            </a:pPr>
            <a:r>
              <a:rPr lang="en-US" sz="1700" b="1" dirty="0">
                <a:solidFill>
                  <a:schemeClr val="bg1"/>
                </a:solidFill>
              </a:rPr>
              <a:t>Hybrid A*</a:t>
            </a:r>
            <a:endParaRPr lang="en-US" sz="1700" dirty="0"/>
          </a:p>
        </p:txBody>
      </p:sp>
      <p:sp>
        <p:nvSpPr>
          <p:cNvPr id="9" name="t10"/>
          <p:cNvSpPr txBox="1"/>
          <p:nvPr/>
        </p:nvSpPr>
        <p:spPr>
          <a:xfrm>
            <a:off x="2743200" y="1828800"/>
            <a:ext cx="1508760" cy="640080"/>
          </a:xfrm>
          <a:prstGeom prst="rect">
            <a:avLst/>
          </a:prstGeom>
          <a:noFill/>
          <a:ln/>
        </p:spPr>
        <p:txBody>
          <a:bodyPr wrap="square" lIns="0" tIns="0" rIns="0" bIns="0" rtlCol="0" anchor="t"/>
          <a:lstStyle/>
          <a:p>
            <a:pPr marL="0" indent="0">
              <a:buNone/>
            </a:pPr>
            <a:r>
              <a:rPr lang="en-US" sz="1300" dirty="0">
                <a:solidFill>
                  <a:schemeClr val="bg1"/>
                </a:solidFill>
              </a:rPr>
              <a:t>plans the whole route, gate to bay</a:t>
            </a:r>
            <a:endParaRPr lang="en-US" sz="1300" dirty="0"/>
          </a:p>
        </p:txBody>
      </p:sp>
      <p:sp>
        <p:nvSpPr>
          <p:cNvPr id="10" name="a11"/>
          <p:cNvSpPr/>
          <p:nvPr/>
        </p:nvSpPr>
        <p:spPr>
          <a:xfrm>
            <a:off x="4434840" y="1897380"/>
            <a:ext cx="274320" cy="914"/>
          </a:xfrm>
          <a:prstGeom prst="line">
            <a:avLst/>
          </a:prstGeom>
          <a:noFill/>
          <a:ln w="25400">
            <a:solidFill>
              <a:schemeClr val="accent4"/>
            </a:solidFill>
            <a:prstDash val="solid"/>
            <a:tailEnd type="triangle"/>
          </a:ln>
        </p:spPr>
      </p:sp>
      <p:sp>
        <p:nvSpPr>
          <p:cNvPr id="11" name="b12"/>
          <p:cNvSpPr/>
          <p:nvPr/>
        </p:nvSpPr>
        <p:spPr>
          <a:xfrm>
            <a:off x="4754880" y="1234440"/>
            <a:ext cx="1783080" cy="1325880"/>
          </a:xfrm>
          <a:prstGeom prst="roundRect">
            <a:avLst>
              <a:gd name="adj" fmla="val 6897"/>
            </a:avLst>
          </a:prstGeom>
          <a:solidFill>
            <a:srgbClr val="F4F6F8"/>
          </a:solidFill>
          <a:ln/>
        </p:spPr>
      </p:sp>
      <p:sp>
        <p:nvSpPr>
          <p:cNvPr id="12" name="t13"/>
          <p:cNvSpPr txBox="1"/>
          <p:nvPr/>
        </p:nvSpPr>
        <p:spPr>
          <a:xfrm>
            <a:off x="4892040" y="1417320"/>
            <a:ext cx="1508760" cy="365760"/>
          </a:xfrm>
          <a:prstGeom prst="rect">
            <a:avLst/>
          </a:prstGeom>
          <a:noFill/>
          <a:ln/>
        </p:spPr>
        <p:txBody>
          <a:bodyPr wrap="square" lIns="0" tIns="0" rIns="0" bIns="0" rtlCol="0" anchor="t"/>
          <a:lstStyle/>
          <a:p>
            <a:pPr marL="0" indent="0">
              <a:buNone/>
            </a:pPr>
            <a:r>
              <a:rPr lang="en-US" sz="1700" b="1" dirty="0">
                <a:solidFill>
                  <a:schemeClr val="tx1"/>
                </a:solidFill>
              </a:rPr>
              <a:t>NMPC</a:t>
            </a:r>
            <a:endParaRPr lang="en-US" sz="1700" dirty="0"/>
          </a:p>
        </p:txBody>
      </p:sp>
      <p:sp>
        <p:nvSpPr>
          <p:cNvPr id="13" name="t14"/>
          <p:cNvSpPr txBox="1"/>
          <p:nvPr/>
        </p:nvSpPr>
        <p:spPr>
          <a:xfrm>
            <a:off x="4892040" y="1828800"/>
            <a:ext cx="1508760" cy="640080"/>
          </a:xfrm>
          <a:prstGeom prst="rect">
            <a:avLst/>
          </a:prstGeom>
          <a:noFill/>
          <a:ln/>
        </p:spPr>
        <p:txBody>
          <a:bodyPr wrap="square" lIns="0" tIns="0" rIns="0" bIns="0" rtlCol="0" anchor="t"/>
          <a:lstStyle/>
          <a:p>
            <a:pPr marL="0" indent="0">
              <a:buNone/>
            </a:pPr>
            <a:r>
              <a:rPr lang="en-US" sz="1300" dirty="0">
                <a:solidFill>
                  <a:schemeClr val="tx2"/>
                </a:solidFill>
              </a:rPr>
              <a:t>Tracks the route, keeps hitch below 60°</a:t>
            </a:r>
            <a:endParaRPr lang="en-US" sz="1300" dirty="0"/>
          </a:p>
        </p:txBody>
      </p:sp>
      <p:sp>
        <p:nvSpPr>
          <p:cNvPr id="14" name="a15"/>
          <p:cNvSpPr/>
          <p:nvPr/>
        </p:nvSpPr>
        <p:spPr>
          <a:xfrm>
            <a:off x="6583680" y="1897380"/>
            <a:ext cx="274320" cy="914"/>
          </a:xfrm>
          <a:prstGeom prst="line">
            <a:avLst/>
          </a:prstGeom>
          <a:noFill/>
          <a:ln w="25400">
            <a:solidFill>
              <a:schemeClr val="accent4"/>
            </a:solidFill>
            <a:prstDash val="solid"/>
            <a:tailEnd type="triangle"/>
          </a:ln>
        </p:spPr>
      </p:sp>
      <p:sp>
        <p:nvSpPr>
          <p:cNvPr id="15" name="b16"/>
          <p:cNvSpPr/>
          <p:nvPr/>
        </p:nvSpPr>
        <p:spPr>
          <a:xfrm>
            <a:off x="6903720" y="1234440"/>
            <a:ext cx="1783080" cy="1325880"/>
          </a:xfrm>
          <a:prstGeom prst="roundRect">
            <a:avLst>
              <a:gd name="adj" fmla="val 6897"/>
            </a:avLst>
          </a:prstGeom>
          <a:solidFill>
            <a:srgbClr val="F4F6F8"/>
          </a:solidFill>
          <a:ln/>
        </p:spPr>
      </p:sp>
      <p:sp>
        <p:nvSpPr>
          <p:cNvPr id="16" name="t17"/>
          <p:cNvSpPr txBox="1"/>
          <p:nvPr/>
        </p:nvSpPr>
        <p:spPr>
          <a:xfrm>
            <a:off x="7040880" y="1417320"/>
            <a:ext cx="1508760" cy="365760"/>
          </a:xfrm>
          <a:prstGeom prst="rect">
            <a:avLst/>
          </a:prstGeom>
          <a:noFill/>
          <a:ln/>
        </p:spPr>
        <p:txBody>
          <a:bodyPr wrap="square" lIns="0" tIns="0" rIns="0" bIns="0" rtlCol="0" anchor="t"/>
          <a:lstStyle/>
          <a:p>
            <a:pPr marL="0" indent="0">
              <a:buNone/>
            </a:pPr>
            <a:r>
              <a:rPr lang="en-US" sz="1700" b="1" dirty="0">
                <a:solidFill>
                  <a:schemeClr val="tx1"/>
                </a:solidFill>
              </a:rPr>
              <a:t>Driver guidance</a:t>
            </a:r>
            <a:endParaRPr lang="en-US" sz="1700" dirty="0"/>
          </a:p>
        </p:txBody>
      </p:sp>
      <p:sp>
        <p:nvSpPr>
          <p:cNvPr id="17" name="t18"/>
          <p:cNvSpPr txBox="1"/>
          <p:nvPr/>
        </p:nvSpPr>
        <p:spPr>
          <a:xfrm>
            <a:off x="7040880" y="1828800"/>
            <a:ext cx="1508760" cy="640080"/>
          </a:xfrm>
          <a:prstGeom prst="rect">
            <a:avLst/>
          </a:prstGeom>
          <a:noFill/>
          <a:ln/>
        </p:spPr>
        <p:txBody>
          <a:bodyPr wrap="square" lIns="0" tIns="0" rIns="0" bIns="0" rtlCol="0" anchor="t"/>
          <a:lstStyle/>
          <a:p>
            <a:pPr marL="0" indent="0">
              <a:buNone/>
            </a:pPr>
            <a:r>
              <a:rPr lang="en-US" sz="1300" dirty="0">
                <a:solidFill>
                  <a:schemeClr val="tx2"/>
                </a:solidFill>
              </a:rPr>
              <a:t>gear, steering turns, speed, distance</a:t>
            </a:r>
            <a:endParaRPr lang="en-US" sz="1300" dirty="0"/>
          </a:p>
        </p:txBody>
      </p:sp>
      <p:sp>
        <p:nvSpPr>
          <p:cNvPr id="18" name="t19"/>
          <p:cNvSpPr txBox="1"/>
          <p:nvPr/>
        </p:nvSpPr>
        <p:spPr>
          <a:xfrm>
            <a:off x="2606040" y="941832"/>
            <a:ext cx="1783080" cy="228600"/>
          </a:xfrm>
          <a:prstGeom prst="rect">
            <a:avLst/>
          </a:prstGeom>
          <a:noFill/>
          <a:ln/>
        </p:spPr>
        <p:txBody>
          <a:bodyPr wrap="square" lIns="0" tIns="0" rIns="0" bIns="0" rtlCol="0" anchor="t"/>
          <a:lstStyle/>
          <a:p>
            <a:pPr marL="0" indent="0" algn="ctr">
              <a:buNone/>
            </a:pPr>
            <a:r>
              <a:rPr lang="en-US" sz="1100" b="1" kern="0" spc="200" dirty="0">
                <a:solidFill>
                  <a:schemeClr val="accent1"/>
                </a:solidFill>
              </a:rPr>
              <a:t>TODAY</a:t>
            </a:r>
            <a:endParaRPr lang="en-US" sz="1100" dirty="0"/>
          </a:p>
        </p:txBody>
      </p:sp>
      <p:sp>
        <p:nvSpPr>
          <p:cNvPr id="20" name="t21"/>
          <p:cNvSpPr txBox="1"/>
          <p:nvPr/>
        </p:nvSpPr>
        <p:spPr>
          <a:xfrm>
            <a:off x="868680" y="3017520"/>
            <a:ext cx="3566160" cy="320040"/>
          </a:xfrm>
          <a:prstGeom prst="rect">
            <a:avLst/>
          </a:prstGeom>
          <a:noFill/>
          <a:ln/>
        </p:spPr>
        <p:txBody>
          <a:bodyPr wrap="square" lIns="0" tIns="0" rIns="0" bIns="0" rtlCol="0" anchor="ctr"/>
          <a:lstStyle/>
          <a:p>
            <a:pPr marL="0" indent="0">
              <a:buNone/>
            </a:pPr>
            <a:r>
              <a:rPr lang="en-US" sz="1600" b="1" dirty="0">
                <a:solidFill>
                  <a:schemeClr val="tx1"/>
                </a:solidFill>
              </a:rPr>
              <a:t>Planner (Hybrid A*)</a:t>
            </a:r>
            <a:endParaRPr lang="en-US" sz="1600" dirty="0"/>
          </a:p>
        </p:txBody>
      </p:sp>
      <p:sp>
        <p:nvSpPr>
          <p:cNvPr id="21" name="t22"/>
          <p:cNvSpPr txBox="1"/>
          <p:nvPr/>
        </p:nvSpPr>
        <p:spPr>
          <a:xfrm>
            <a:off x="868680" y="3429000"/>
            <a:ext cx="356616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Looks at the whole yard, once</a:t>
            </a:r>
            <a:endParaRPr lang="en-US" sz="1400" dirty="0"/>
          </a:p>
          <a:p>
            <a:pPr marL="342900" indent="-342900">
              <a:spcAft>
                <a:spcPts val="400"/>
              </a:spcAft>
              <a:buSzPct val="100000"/>
              <a:buChar char="•"/>
            </a:pPr>
            <a:r>
              <a:rPr lang="en-US" sz="1400" dirty="0">
                <a:solidFill>
                  <a:schemeClr val="tx2"/>
                </a:solidFill>
              </a:rPr>
              <a:t>Finds a route around every obstacle</a:t>
            </a:r>
            <a:endParaRPr lang="en-US" sz="1400" dirty="0"/>
          </a:p>
          <a:p>
            <a:pPr marL="342900" indent="-342900">
              <a:spcAft>
                <a:spcPts val="400"/>
              </a:spcAft>
              <a:buSzPct val="100000"/>
              <a:buChar char="•"/>
            </a:pPr>
            <a:r>
              <a:rPr lang="en-US" sz="1400" dirty="0">
                <a:solidFill>
                  <a:schemeClr val="tx2"/>
                </a:solidFill>
              </a:rPr>
              <a:t>Answers: which way to go?</a:t>
            </a:r>
            <a:endParaRPr lang="en-US" sz="1400" dirty="0"/>
          </a:p>
        </p:txBody>
      </p:sp>
      <p:sp>
        <p:nvSpPr>
          <p:cNvPr id="23" name="t24"/>
          <p:cNvSpPr txBox="1"/>
          <p:nvPr/>
        </p:nvSpPr>
        <p:spPr>
          <a:xfrm>
            <a:off x="5074920" y="3017520"/>
            <a:ext cx="3566160" cy="320040"/>
          </a:xfrm>
          <a:prstGeom prst="rect">
            <a:avLst/>
          </a:prstGeom>
          <a:noFill/>
          <a:ln/>
        </p:spPr>
        <p:txBody>
          <a:bodyPr wrap="square" lIns="0" tIns="0" rIns="0" bIns="0" rtlCol="0" anchor="ctr"/>
          <a:lstStyle/>
          <a:p>
            <a:pPr marL="0" indent="0">
              <a:buNone/>
            </a:pPr>
            <a:r>
              <a:rPr lang="en-US" sz="1600" b="1" dirty="0">
                <a:solidFill>
                  <a:schemeClr val="tx1"/>
                </a:solidFill>
              </a:rPr>
              <a:t>Controller (NMPC)</a:t>
            </a:r>
            <a:endParaRPr lang="en-US" sz="1600" dirty="0"/>
          </a:p>
        </p:txBody>
      </p:sp>
      <p:sp>
        <p:nvSpPr>
          <p:cNvPr id="24" name="t25"/>
          <p:cNvSpPr txBox="1"/>
          <p:nvPr/>
        </p:nvSpPr>
        <p:spPr>
          <a:xfrm>
            <a:off x="5074920" y="3429000"/>
            <a:ext cx="356616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Looks 9s ahead, every 0.25 s</a:t>
            </a:r>
            <a:endParaRPr lang="en-US" sz="1400" dirty="0"/>
          </a:p>
          <a:p>
            <a:pPr marL="342900" indent="-342900">
              <a:spcAft>
                <a:spcPts val="400"/>
              </a:spcAft>
              <a:buSzPct val="100000"/>
              <a:buChar char="•"/>
            </a:pPr>
            <a:r>
              <a:rPr lang="en-US" sz="1400" dirty="0">
                <a:solidFill>
                  <a:schemeClr val="tx2"/>
                </a:solidFill>
              </a:rPr>
              <a:t>Corrects drift, enforces limits</a:t>
            </a:r>
            <a:endParaRPr lang="en-US" sz="1400" dirty="0"/>
          </a:p>
          <a:p>
            <a:pPr marL="342900" indent="-342900">
              <a:spcAft>
                <a:spcPts val="400"/>
              </a:spcAft>
              <a:buSzPct val="100000"/>
              <a:buChar char="•"/>
            </a:pPr>
            <a:r>
              <a:rPr lang="en-US" sz="1400" dirty="0">
                <a:solidFill>
                  <a:schemeClr val="tx2"/>
                </a:solidFill>
              </a:rPr>
              <a:t>Answers: how to steer right now?</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600200"/>
            <a:ext cx="7680960" cy="457200"/>
          </a:xfrm>
          <a:prstGeom prst="rect">
            <a:avLst/>
          </a:prstGeom>
          <a:noFill/>
          <a:ln/>
        </p:spPr>
        <p:txBody>
          <a:bodyPr wrap="square" lIns="0" tIns="0" rIns="0" bIns="0" rtlCol="0"/>
          <a:lstStyle/>
          <a:p>
            <a:pPr marL="0" indent="0">
              <a:buNone/>
            </a:pPr>
            <a:r>
              <a:rPr lang="en-US" sz="1800" b="1" dirty="0">
                <a:solidFill>
                  <a:schemeClr val="accent2"/>
                </a:solidFill>
              </a:rPr>
              <a:t>PART 1</a:t>
            </a:r>
            <a:endParaRPr lang="en-US" sz="1800" dirty="0"/>
          </a:p>
        </p:txBody>
      </p:sp>
      <p:sp>
        <p:nvSpPr>
          <p:cNvPr id="3" name="Text 0"/>
          <p:cNvSpPr>
            <a:spLocks noGrp="1"/>
          </p:cNvSpPr>
          <p:nvPr>
            <p:ph type="title" idx="101" hasCustomPrompt="1"/>
          </p:nvPr>
        </p:nvSpPr>
        <p:spPr>
          <a:xfrm>
            <a:off x="731520" y="2057400"/>
            <a:ext cx="7680960" cy="914400"/>
          </a:xfrm>
          <a:prstGeom prst="rect">
            <a:avLst/>
          </a:prstGeom>
          <a:noFill/>
          <a:ln/>
        </p:spPr>
        <p:txBody>
          <a:bodyPr wrap="square" lIns="0" tIns="0" rIns="0" bIns="0" rtlCol="0" anchor="t"/>
          <a:lstStyle/>
          <a:p>
            <a:pPr marL="0" indent="0" algn="l">
              <a:buNone/>
            </a:pPr>
            <a:r>
              <a:rPr lang="en-US" sz="4400" b="1" dirty="0">
                <a:solidFill>
                  <a:schemeClr val="bg1"/>
                </a:solidFill>
              </a:rPr>
              <a:t>Hybrid A*</a:t>
            </a:r>
            <a:endParaRPr lang="en-US" sz="4400" dirty="0"/>
          </a:p>
        </p:txBody>
      </p:sp>
      <p:sp>
        <p:nvSpPr>
          <p:cNvPr id="4" name="Text 0"/>
          <p:cNvSpPr>
            <a:spLocks noGrp="1"/>
          </p:cNvSpPr>
          <p:nvPr>
            <p:ph type="body" idx="102" hasCustomPrompt="1"/>
          </p:nvPr>
        </p:nvSpPr>
        <p:spPr>
          <a:xfrm>
            <a:off x="731520" y="2971800"/>
            <a:ext cx="7680960" cy="548640"/>
          </a:xfrm>
          <a:prstGeom prst="rect">
            <a:avLst/>
          </a:prstGeom>
          <a:noFill/>
          <a:ln/>
        </p:spPr>
        <p:txBody>
          <a:bodyPr wrap="square" lIns="0" tIns="0" rIns="0" bIns="0" rtlCol="0" anchor="t"/>
          <a:lstStyle/>
          <a:p>
            <a:pPr marL="0" indent="0">
              <a:buNone/>
            </a:pPr>
            <a:r>
              <a:rPr lang="en-US" sz="1800" dirty="0">
                <a:solidFill>
                  <a:schemeClr val="accent5"/>
                </a:solidFill>
                <a:latin typeface="Aptos Display" panose="020B0004020202020204" pitchFamily="34" charset="0"/>
              </a:rPr>
              <a:t>From grid search to paths a vehicle can drive</a:t>
            </a:r>
            <a:endParaRPr lang="en-US" sz="1800" dirty="0">
              <a:latin typeface="Aptos Display" panose="020B0004020202020204" pitchFamily="34" charset="0"/>
            </a:endParaRPr>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A* expands the most promising grid cell first</a:t>
            </a:r>
            <a:endParaRPr lang="en-US" sz="2800" dirty="0"/>
          </a:p>
        </p:txBody>
      </p:sp>
      <p:pic>
        <p:nvPicPr>
          <p:cNvPr id="3" name="img26" descr="astar.png"/>
          <p:cNvPicPr>
            <a:picLocks noChangeAspect="1"/>
          </p:cNvPicPr>
          <p:nvPr/>
        </p:nvPicPr>
        <p:blipFill>
          <a:blip r:embed="rId3"/>
          <a:stretch>
            <a:fillRect/>
          </a:stretch>
        </p:blipFill>
        <p:spPr>
          <a:xfrm>
            <a:off x="457200" y="1188720"/>
            <a:ext cx="4754880" cy="3063240"/>
          </a:xfrm>
          <a:prstGeom prst="rect">
            <a:avLst/>
          </a:prstGeom>
        </p:spPr>
      </p:pic>
      <p:sp>
        <p:nvSpPr>
          <p:cNvPr id="4" name="t27"/>
          <p:cNvSpPr txBox="1"/>
          <p:nvPr/>
        </p:nvSpPr>
        <p:spPr>
          <a:xfrm>
            <a:off x="457200" y="4343400"/>
            <a:ext cx="4754880" cy="274320"/>
          </a:xfrm>
          <a:prstGeom prst="rect">
            <a:avLst/>
          </a:prstGeom>
          <a:noFill/>
          <a:ln/>
        </p:spPr>
        <p:txBody>
          <a:bodyPr wrap="square" lIns="0" tIns="0" rIns="0" bIns="0" rtlCol="0" anchor="t"/>
          <a:lstStyle/>
          <a:p>
            <a:pPr marL="0" indent="0">
              <a:buNone/>
            </a:pPr>
            <a:r>
              <a:rPr lang="en-US" sz="1100" i="1" dirty="0">
                <a:solidFill>
                  <a:schemeClr val="accent4"/>
                </a:solidFill>
              </a:rPr>
              <a:t>Shaded: the 55 cells A* explored.  Line: the shortest path from S to G.</a:t>
            </a:r>
            <a:endParaRPr lang="en-US" sz="1100" dirty="0"/>
          </a:p>
        </p:txBody>
      </p:sp>
      <p:sp>
        <p:nvSpPr>
          <p:cNvPr id="5" name="t28"/>
          <p:cNvSpPr txBox="1"/>
          <p:nvPr/>
        </p:nvSpPr>
        <p:spPr>
          <a:xfrm>
            <a:off x="5577840" y="1188720"/>
            <a:ext cx="3108960" cy="548640"/>
          </a:xfrm>
          <a:prstGeom prst="rect">
            <a:avLst/>
          </a:prstGeom>
          <a:noFill/>
          <a:ln/>
        </p:spPr>
        <p:txBody>
          <a:bodyPr wrap="square" lIns="0" tIns="0" rIns="0" bIns="0" rtlCol="0" anchor="t"/>
          <a:lstStyle/>
          <a:p>
            <a:pPr marL="0" indent="0">
              <a:buNone/>
            </a:pPr>
            <a:r>
              <a:rPr lang="en-US" sz="3200" b="1" dirty="0">
                <a:solidFill>
                  <a:schemeClr val="accent2"/>
                </a:solidFill>
              </a:rPr>
              <a:t>f = g + h</a:t>
            </a:r>
            <a:endParaRPr lang="en-US" sz="3200" dirty="0"/>
          </a:p>
        </p:txBody>
      </p:sp>
      <p:sp>
        <p:nvSpPr>
          <p:cNvPr id="6" name="d29"/>
          <p:cNvSpPr/>
          <p:nvPr/>
        </p:nvSpPr>
        <p:spPr>
          <a:xfrm>
            <a:off x="5577840" y="1965960"/>
            <a:ext cx="411480" cy="411480"/>
          </a:xfrm>
          <a:prstGeom prst="ellipse">
            <a:avLst/>
          </a:prstGeom>
          <a:solidFill>
            <a:srgbClr val="1F7A8C"/>
          </a:solidFill>
          <a:ln/>
        </p:spPr>
      </p:sp>
      <p:sp>
        <p:nvSpPr>
          <p:cNvPr id="7" name="t30"/>
          <p:cNvSpPr txBox="1"/>
          <p:nvPr/>
        </p:nvSpPr>
        <p:spPr>
          <a:xfrm>
            <a:off x="5577840" y="196596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g</a:t>
            </a:r>
            <a:endParaRPr lang="en-US" sz="1600" dirty="0"/>
          </a:p>
        </p:txBody>
      </p:sp>
      <p:sp>
        <p:nvSpPr>
          <p:cNvPr id="8" name="t31"/>
          <p:cNvSpPr txBox="1"/>
          <p:nvPr/>
        </p:nvSpPr>
        <p:spPr>
          <a:xfrm>
            <a:off x="6126480" y="1947672"/>
            <a:ext cx="2560320" cy="640080"/>
          </a:xfrm>
          <a:prstGeom prst="rect">
            <a:avLst/>
          </a:prstGeom>
          <a:noFill/>
          <a:ln/>
        </p:spPr>
        <p:txBody>
          <a:bodyPr wrap="square" lIns="0" tIns="0" rIns="0" bIns="0" rtlCol="0" anchor="t"/>
          <a:lstStyle/>
          <a:p>
            <a:pPr marL="0" indent="0">
              <a:buNone/>
            </a:pPr>
            <a:r>
              <a:rPr lang="en-US" sz="1400" dirty="0">
                <a:solidFill>
                  <a:schemeClr val="tx2"/>
                </a:solidFill>
              </a:rPr>
              <a:t>cost so far: the path length from the start</a:t>
            </a:r>
            <a:endParaRPr lang="en-US" sz="1400" dirty="0"/>
          </a:p>
        </p:txBody>
      </p:sp>
      <p:sp>
        <p:nvSpPr>
          <p:cNvPr id="9" name="d32"/>
          <p:cNvSpPr/>
          <p:nvPr/>
        </p:nvSpPr>
        <p:spPr>
          <a:xfrm>
            <a:off x="5577840" y="2743200"/>
            <a:ext cx="411480" cy="411480"/>
          </a:xfrm>
          <a:prstGeom prst="ellipse">
            <a:avLst/>
          </a:prstGeom>
          <a:solidFill>
            <a:srgbClr val="1F7A8C"/>
          </a:solidFill>
          <a:ln/>
        </p:spPr>
      </p:sp>
      <p:sp>
        <p:nvSpPr>
          <p:cNvPr id="10" name="t33"/>
          <p:cNvSpPr txBox="1"/>
          <p:nvPr/>
        </p:nvSpPr>
        <p:spPr>
          <a:xfrm>
            <a:off x="5577840" y="274320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h</a:t>
            </a:r>
            <a:endParaRPr lang="en-US" sz="1600" dirty="0"/>
          </a:p>
        </p:txBody>
      </p:sp>
      <p:sp>
        <p:nvSpPr>
          <p:cNvPr id="11" name="t34"/>
          <p:cNvSpPr txBox="1"/>
          <p:nvPr/>
        </p:nvSpPr>
        <p:spPr>
          <a:xfrm>
            <a:off x="6126480" y="2724912"/>
            <a:ext cx="2560320" cy="640080"/>
          </a:xfrm>
          <a:prstGeom prst="rect">
            <a:avLst/>
          </a:prstGeom>
          <a:noFill/>
          <a:ln/>
        </p:spPr>
        <p:txBody>
          <a:bodyPr wrap="square" lIns="0" tIns="0" rIns="0" bIns="0" rtlCol="0" anchor="t"/>
          <a:lstStyle/>
          <a:p>
            <a:pPr marL="0" indent="0">
              <a:buNone/>
            </a:pPr>
            <a:r>
              <a:rPr lang="en-US" sz="1400" dirty="0">
                <a:solidFill>
                  <a:schemeClr val="tx2"/>
                </a:solidFill>
              </a:rPr>
              <a:t>heuristic: an estimate of the cost still to go</a:t>
            </a:r>
            <a:endParaRPr lang="en-US" sz="1400" dirty="0"/>
          </a:p>
        </p:txBody>
      </p:sp>
      <p:sp>
        <p:nvSpPr>
          <p:cNvPr id="12" name="d35"/>
          <p:cNvSpPr/>
          <p:nvPr/>
        </p:nvSpPr>
        <p:spPr>
          <a:xfrm>
            <a:off x="5577840" y="3520440"/>
            <a:ext cx="411480" cy="411480"/>
          </a:xfrm>
          <a:prstGeom prst="ellipse">
            <a:avLst/>
          </a:prstGeom>
          <a:solidFill>
            <a:srgbClr val="E8A33D"/>
          </a:solidFill>
          <a:ln/>
        </p:spPr>
      </p:sp>
      <p:sp>
        <p:nvSpPr>
          <p:cNvPr id="13" name="t36"/>
          <p:cNvSpPr txBox="1"/>
          <p:nvPr/>
        </p:nvSpPr>
        <p:spPr>
          <a:xfrm>
            <a:off x="5577840" y="352044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f</a:t>
            </a:r>
            <a:endParaRPr lang="en-US" sz="1600" dirty="0"/>
          </a:p>
        </p:txBody>
      </p:sp>
      <p:sp>
        <p:nvSpPr>
          <p:cNvPr id="14" name="t37"/>
          <p:cNvSpPr txBox="1"/>
          <p:nvPr/>
        </p:nvSpPr>
        <p:spPr>
          <a:xfrm>
            <a:off x="6126480" y="3502152"/>
            <a:ext cx="2560320" cy="640080"/>
          </a:xfrm>
          <a:prstGeom prst="rect">
            <a:avLst/>
          </a:prstGeom>
          <a:noFill/>
          <a:ln/>
        </p:spPr>
        <p:txBody>
          <a:bodyPr wrap="square" lIns="0" tIns="0" rIns="0" bIns="0" rtlCol="0" anchor="t"/>
          <a:lstStyle/>
          <a:p>
            <a:pPr marL="0" indent="0">
              <a:buNone/>
            </a:pPr>
            <a:r>
              <a:rPr lang="en-US" sz="1400" dirty="0">
                <a:solidFill>
                  <a:schemeClr val="tx2"/>
                </a:solidFill>
              </a:rPr>
              <a:t>the open list always pops the lowest f next</a:t>
            </a:r>
            <a:endParaRPr lang="en-US" sz="1400" dirty="0"/>
          </a:p>
        </p:txBody>
      </p:sp>
      <p:sp>
        <p:nvSpPr>
          <p:cNvPr id="15" name="t38"/>
          <p:cNvSpPr txBox="1"/>
          <p:nvPr/>
        </p:nvSpPr>
        <p:spPr>
          <a:xfrm>
            <a:off x="5577840" y="4251960"/>
            <a:ext cx="3108960" cy="457200"/>
          </a:xfrm>
          <a:prstGeom prst="rect">
            <a:avLst/>
          </a:prstGeom>
          <a:noFill/>
          <a:ln/>
        </p:spPr>
        <p:txBody>
          <a:bodyPr wrap="square" lIns="0" tIns="0" rIns="0" bIns="0" rtlCol="0" anchor="t"/>
          <a:lstStyle/>
          <a:p>
            <a:pPr marL="0" indent="0">
              <a:buNone/>
            </a:pPr>
            <a:r>
              <a:rPr lang="en-US" sz="1200" i="1" dirty="0">
                <a:solidFill>
                  <a:schemeClr val="accent4"/>
                </a:solidFill>
              </a:rPr>
              <a:t>If h never overestimates, the path found is the shortest on the grid.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A grid path is not a path a truck can drive</a:t>
            </a:r>
            <a:endParaRPr lang="en-US" sz="2800" dirty="0"/>
          </a:p>
        </p:txBody>
      </p:sp>
      <p:pic>
        <p:nvPicPr>
          <p:cNvPr id="3" name="img39" descr="grid_vs_drive.png"/>
          <p:cNvPicPr>
            <a:picLocks noChangeAspect="1"/>
          </p:cNvPicPr>
          <p:nvPr/>
        </p:nvPicPr>
        <p:blipFill>
          <a:blip r:embed="rId3"/>
          <a:stretch>
            <a:fillRect/>
          </a:stretch>
        </p:blipFill>
        <p:spPr>
          <a:xfrm>
            <a:off x="457200" y="1188720"/>
            <a:ext cx="4754880" cy="3063240"/>
          </a:xfrm>
          <a:prstGeom prst="rect">
            <a:avLst/>
          </a:prstGeom>
        </p:spPr>
      </p:pic>
      <p:sp>
        <p:nvSpPr>
          <p:cNvPr id="4" name="t40"/>
          <p:cNvSpPr txBox="1"/>
          <p:nvPr/>
        </p:nvSpPr>
        <p:spPr>
          <a:xfrm>
            <a:off x="457200" y="4343400"/>
            <a:ext cx="4754880" cy="274320"/>
          </a:xfrm>
          <a:prstGeom prst="rect">
            <a:avLst/>
          </a:prstGeom>
          <a:noFill/>
          <a:ln/>
        </p:spPr>
        <p:txBody>
          <a:bodyPr wrap="square" lIns="0" tIns="0" rIns="0" bIns="0" rtlCol="0" anchor="t"/>
          <a:lstStyle/>
          <a:p>
            <a:pPr marL="0" indent="0">
              <a:buNone/>
            </a:pPr>
            <a:r>
              <a:rPr lang="en-US" sz="1100" i="1" dirty="0">
                <a:solidFill>
                  <a:schemeClr val="accent4"/>
                </a:solidFill>
              </a:rPr>
              <a:t>Dashed: the A* grid path.  Solid: a path a vehicle can actually follow.</a:t>
            </a:r>
            <a:endParaRPr lang="en-US" sz="1100" dirty="0"/>
          </a:p>
        </p:txBody>
      </p:sp>
      <p:sp>
        <p:nvSpPr>
          <p:cNvPr id="5" name="d41"/>
          <p:cNvSpPr/>
          <p:nvPr/>
        </p:nvSpPr>
        <p:spPr>
          <a:xfrm>
            <a:off x="5577840" y="1252728"/>
            <a:ext cx="292608" cy="292608"/>
          </a:xfrm>
          <a:prstGeom prst="ellipse">
            <a:avLst/>
          </a:prstGeom>
          <a:solidFill>
            <a:srgbClr val="C0392B"/>
          </a:solidFill>
          <a:ln/>
        </p:spPr>
      </p:sp>
      <p:sp>
        <p:nvSpPr>
          <p:cNvPr id="6" name="t42"/>
          <p:cNvSpPr txBox="1"/>
          <p:nvPr/>
        </p:nvSpPr>
        <p:spPr>
          <a:xfrm>
            <a:off x="5989320" y="1234440"/>
            <a:ext cx="2697480" cy="320040"/>
          </a:xfrm>
          <a:prstGeom prst="rect">
            <a:avLst/>
          </a:prstGeom>
          <a:noFill/>
          <a:ln/>
        </p:spPr>
        <p:txBody>
          <a:bodyPr wrap="square" lIns="0" tIns="0" rIns="0" bIns="0" rtlCol="0" anchor="t"/>
          <a:lstStyle/>
          <a:p>
            <a:pPr marL="0" indent="0">
              <a:buNone/>
            </a:pPr>
            <a:r>
              <a:rPr lang="en-US" sz="1600" b="1" dirty="0">
                <a:solidFill>
                  <a:schemeClr val="tx1"/>
                </a:solidFill>
              </a:rPr>
              <a:t>Sharp corners</a:t>
            </a:r>
            <a:endParaRPr lang="en-US" sz="1600" dirty="0"/>
          </a:p>
        </p:txBody>
      </p:sp>
      <p:sp>
        <p:nvSpPr>
          <p:cNvPr id="7" name="t43"/>
          <p:cNvSpPr txBox="1"/>
          <p:nvPr/>
        </p:nvSpPr>
        <p:spPr>
          <a:xfrm>
            <a:off x="5989320" y="1563624"/>
            <a:ext cx="2697480" cy="594360"/>
          </a:xfrm>
          <a:prstGeom prst="rect">
            <a:avLst/>
          </a:prstGeom>
          <a:noFill/>
          <a:ln/>
        </p:spPr>
        <p:txBody>
          <a:bodyPr wrap="square" lIns="0" tIns="0" rIns="0" bIns="0" rtlCol="0" anchor="t"/>
          <a:lstStyle/>
          <a:p>
            <a:pPr marL="0" indent="0">
              <a:buNone/>
            </a:pPr>
            <a:r>
              <a:rPr lang="en-US" sz="1300" dirty="0">
                <a:solidFill>
                  <a:schemeClr val="tx2"/>
                </a:solidFill>
              </a:rPr>
              <a:t>A* turns 90° in place; a truck has a minimum turning radius.</a:t>
            </a:r>
            <a:endParaRPr lang="en-US" sz="1300" dirty="0"/>
          </a:p>
        </p:txBody>
      </p:sp>
      <p:sp>
        <p:nvSpPr>
          <p:cNvPr id="8" name="d44"/>
          <p:cNvSpPr/>
          <p:nvPr/>
        </p:nvSpPr>
        <p:spPr>
          <a:xfrm>
            <a:off x="5577840" y="2276856"/>
            <a:ext cx="292608" cy="292608"/>
          </a:xfrm>
          <a:prstGeom prst="ellipse">
            <a:avLst/>
          </a:prstGeom>
          <a:solidFill>
            <a:srgbClr val="C0392B"/>
          </a:solidFill>
          <a:ln/>
        </p:spPr>
      </p:sp>
      <p:sp>
        <p:nvSpPr>
          <p:cNvPr id="9" name="t45"/>
          <p:cNvSpPr txBox="1"/>
          <p:nvPr/>
        </p:nvSpPr>
        <p:spPr>
          <a:xfrm>
            <a:off x="5989320" y="2258568"/>
            <a:ext cx="2697480" cy="320040"/>
          </a:xfrm>
          <a:prstGeom prst="rect">
            <a:avLst/>
          </a:prstGeom>
          <a:noFill/>
          <a:ln/>
        </p:spPr>
        <p:txBody>
          <a:bodyPr wrap="square" lIns="0" tIns="0" rIns="0" bIns="0" rtlCol="0" anchor="t"/>
          <a:lstStyle/>
          <a:p>
            <a:pPr marL="0" indent="0">
              <a:buNone/>
            </a:pPr>
            <a:r>
              <a:rPr lang="en-US" sz="1600" b="1" dirty="0">
                <a:solidFill>
                  <a:schemeClr val="tx1"/>
                </a:solidFill>
              </a:rPr>
              <a:t>No sideways motion</a:t>
            </a:r>
            <a:endParaRPr lang="en-US" sz="1600" dirty="0"/>
          </a:p>
        </p:txBody>
      </p:sp>
      <p:sp>
        <p:nvSpPr>
          <p:cNvPr id="10" name="t46"/>
          <p:cNvSpPr txBox="1"/>
          <p:nvPr/>
        </p:nvSpPr>
        <p:spPr>
          <a:xfrm>
            <a:off x="5989320" y="2587752"/>
            <a:ext cx="2697480" cy="594360"/>
          </a:xfrm>
          <a:prstGeom prst="rect">
            <a:avLst/>
          </a:prstGeom>
          <a:noFill/>
          <a:ln/>
        </p:spPr>
        <p:txBody>
          <a:bodyPr wrap="square" lIns="0" tIns="0" rIns="0" bIns="0" rtlCol="0" anchor="t"/>
          <a:lstStyle/>
          <a:p>
            <a:pPr marL="0" indent="0">
              <a:buNone/>
            </a:pPr>
            <a:r>
              <a:rPr lang="en-US" sz="1300" dirty="0">
                <a:solidFill>
                  <a:schemeClr val="tx2"/>
                </a:solidFill>
              </a:rPr>
              <a:t>Wheels roll forward or back, never sideways (non-holonomic).</a:t>
            </a:r>
            <a:endParaRPr lang="en-US" sz="1300" dirty="0"/>
          </a:p>
        </p:txBody>
      </p:sp>
      <p:sp>
        <p:nvSpPr>
          <p:cNvPr id="11" name="d47"/>
          <p:cNvSpPr/>
          <p:nvPr/>
        </p:nvSpPr>
        <p:spPr>
          <a:xfrm>
            <a:off x="5577840" y="3300984"/>
            <a:ext cx="292608" cy="292608"/>
          </a:xfrm>
          <a:prstGeom prst="ellipse">
            <a:avLst/>
          </a:prstGeom>
          <a:solidFill>
            <a:srgbClr val="C0392B"/>
          </a:solidFill>
          <a:ln/>
        </p:spPr>
      </p:sp>
      <p:sp>
        <p:nvSpPr>
          <p:cNvPr id="12" name="t48"/>
          <p:cNvSpPr txBox="1"/>
          <p:nvPr/>
        </p:nvSpPr>
        <p:spPr>
          <a:xfrm>
            <a:off x="5989320" y="3282696"/>
            <a:ext cx="2697480" cy="320040"/>
          </a:xfrm>
          <a:prstGeom prst="rect">
            <a:avLst/>
          </a:prstGeom>
          <a:noFill/>
          <a:ln/>
        </p:spPr>
        <p:txBody>
          <a:bodyPr wrap="square" lIns="0" tIns="0" rIns="0" bIns="0" rtlCol="0" anchor="t"/>
          <a:lstStyle/>
          <a:p>
            <a:pPr marL="0" indent="0">
              <a:buNone/>
            </a:pPr>
            <a:r>
              <a:rPr lang="en-US" sz="1600" b="1" dirty="0">
                <a:solidFill>
                  <a:schemeClr val="tx1"/>
                </a:solidFill>
              </a:rPr>
              <a:t>Heading matters</a:t>
            </a:r>
            <a:endParaRPr lang="en-US" sz="1600" dirty="0"/>
          </a:p>
        </p:txBody>
      </p:sp>
      <p:sp>
        <p:nvSpPr>
          <p:cNvPr id="13" name="t49"/>
          <p:cNvSpPr txBox="1"/>
          <p:nvPr/>
        </p:nvSpPr>
        <p:spPr>
          <a:xfrm>
            <a:off x="5989320" y="3611880"/>
            <a:ext cx="2697480" cy="594360"/>
          </a:xfrm>
          <a:prstGeom prst="rect">
            <a:avLst/>
          </a:prstGeom>
          <a:noFill/>
          <a:ln/>
        </p:spPr>
        <p:txBody>
          <a:bodyPr wrap="square" lIns="0" tIns="0" rIns="0" bIns="0" rtlCol="0" anchor="t"/>
          <a:lstStyle/>
          <a:p>
            <a:pPr marL="0" indent="0">
              <a:buNone/>
            </a:pPr>
            <a:r>
              <a:rPr lang="en-US" sz="1300" dirty="0">
                <a:solidFill>
                  <a:schemeClr val="tx2"/>
                </a:solidFill>
              </a:rPr>
              <a:t>Where the truck points is part of the state, not just where it is.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Hybrid A* keeps the search but moves like a vehicle</a:t>
            </a:r>
            <a:endParaRPr lang="en-US" sz="2800" dirty="0"/>
          </a:p>
        </p:txBody>
      </p:sp>
      <p:sp>
        <p:nvSpPr>
          <p:cNvPr id="3" name="d50"/>
          <p:cNvSpPr/>
          <p:nvPr/>
        </p:nvSpPr>
        <p:spPr>
          <a:xfrm>
            <a:off x="457200" y="1188720"/>
            <a:ext cx="411480" cy="411480"/>
          </a:xfrm>
          <a:prstGeom prst="ellipse">
            <a:avLst/>
          </a:prstGeom>
          <a:solidFill>
            <a:srgbClr val="1F7A8C"/>
          </a:solidFill>
          <a:ln/>
        </p:spPr>
      </p:sp>
      <p:sp>
        <p:nvSpPr>
          <p:cNvPr id="4" name="t51"/>
          <p:cNvSpPr txBox="1"/>
          <p:nvPr/>
        </p:nvSpPr>
        <p:spPr>
          <a:xfrm>
            <a:off x="457200" y="118872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52"/>
          <p:cNvSpPr txBox="1"/>
          <p:nvPr/>
        </p:nvSpPr>
        <p:spPr>
          <a:xfrm>
            <a:off x="1005840" y="1170432"/>
            <a:ext cx="3200400" cy="347472"/>
          </a:xfrm>
          <a:prstGeom prst="rect">
            <a:avLst/>
          </a:prstGeom>
          <a:noFill/>
          <a:ln/>
        </p:spPr>
        <p:txBody>
          <a:bodyPr wrap="square" lIns="0" tIns="0" rIns="0" bIns="0" rtlCol="0" anchor="t"/>
          <a:lstStyle/>
          <a:p>
            <a:pPr marL="0" indent="0">
              <a:buNone/>
            </a:pPr>
            <a:r>
              <a:rPr lang="en-US" sz="1700" b="1" dirty="0">
                <a:solidFill>
                  <a:schemeClr val="tx1"/>
                </a:solidFill>
              </a:rPr>
              <a:t>Nodes are real poses</a:t>
            </a:r>
            <a:endParaRPr lang="en-US" sz="1700" dirty="0"/>
          </a:p>
        </p:txBody>
      </p:sp>
      <p:sp>
        <p:nvSpPr>
          <p:cNvPr id="6" name="t53"/>
          <p:cNvSpPr txBox="1"/>
          <p:nvPr/>
        </p:nvSpPr>
        <p:spPr>
          <a:xfrm>
            <a:off x="1005840" y="1536192"/>
            <a:ext cx="3200400" cy="640080"/>
          </a:xfrm>
          <a:prstGeom prst="rect">
            <a:avLst/>
          </a:prstGeom>
          <a:noFill/>
          <a:ln/>
        </p:spPr>
        <p:txBody>
          <a:bodyPr wrap="square" lIns="0" tIns="0" rIns="0" bIns="0" rtlCol="0" anchor="t"/>
          <a:lstStyle/>
          <a:p>
            <a:pPr marL="0" indent="0">
              <a:buNone/>
            </a:pPr>
            <a:r>
              <a:rPr lang="en-US" sz="1400" dirty="0">
                <a:solidFill>
                  <a:schemeClr val="tx2"/>
                </a:solidFill>
              </a:rPr>
              <a:t>(x, y, heading), anywhere in a cell, not snapped to its centre.</a:t>
            </a:r>
            <a:endParaRPr lang="en-US" sz="1400" dirty="0"/>
          </a:p>
        </p:txBody>
      </p:sp>
      <p:sp>
        <p:nvSpPr>
          <p:cNvPr id="7" name="d54"/>
          <p:cNvSpPr/>
          <p:nvPr/>
        </p:nvSpPr>
        <p:spPr>
          <a:xfrm>
            <a:off x="457200" y="2267712"/>
            <a:ext cx="411480" cy="411480"/>
          </a:xfrm>
          <a:prstGeom prst="ellipse">
            <a:avLst/>
          </a:prstGeom>
          <a:solidFill>
            <a:srgbClr val="1F7A8C"/>
          </a:solidFill>
          <a:ln/>
        </p:spPr>
      </p:sp>
      <p:sp>
        <p:nvSpPr>
          <p:cNvPr id="8" name="t55"/>
          <p:cNvSpPr txBox="1"/>
          <p:nvPr/>
        </p:nvSpPr>
        <p:spPr>
          <a:xfrm>
            <a:off x="457200" y="2267712"/>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t56"/>
          <p:cNvSpPr txBox="1"/>
          <p:nvPr/>
        </p:nvSpPr>
        <p:spPr>
          <a:xfrm>
            <a:off x="1005840" y="2249424"/>
            <a:ext cx="3200400" cy="347472"/>
          </a:xfrm>
          <a:prstGeom prst="rect">
            <a:avLst/>
          </a:prstGeom>
          <a:noFill/>
          <a:ln/>
        </p:spPr>
        <p:txBody>
          <a:bodyPr wrap="square" lIns="0" tIns="0" rIns="0" bIns="0" rtlCol="0" anchor="t"/>
          <a:lstStyle/>
          <a:p>
            <a:pPr marL="0" indent="0">
              <a:buNone/>
            </a:pPr>
            <a:r>
              <a:rPr lang="en-US" sz="1700" b="1" dirty="0">
                <a:solidFill>
                  <a:schemeClr val="tx1"/>
                </a:solidFill>
              </a:rPr>
              <a:t>Children come from driving</a:t>
            </a:r>
            <a:endParaRPr lang="en-US" sz="1700" dirty="0"/>
          </a:p>
        </p:txBody>
      </p:sp>
      <p:sp>
        <p:nvSpPr>
          <p:cNvPr id="10" name="t57"/>
          <p:cNvSpPr txBox="1"/>
          <p:nvPr/>
        </p:nvSpPr>
        <p:spPr>
          <a:xfrm>
            <a:off x="1005840" y="2615184"/>
            <a:ext cx="3200400" cy="640080"/>
          </a:xfrm>
          <a:prstGeom prst="rect">
            <a:avLst/>
          </a:prstGeom>
          <a:noFill/>
          <a:ln/>
        </p:spPr>
        <p:txBody>
          <a:bodyPr wrap="square" lIns="0" tIns="0" rIns="0" bIns="0" rtlCol="0" anchor="t"/>
          <a:lstStyle/>
          <a:p>
            <a:pPr marL="0" indent="0">
              <a:buNone/>
            </a:pPr>
            <a:r>
              <a:rPr lang="en-US" sz="1400" dirty="0">
                <a:solidFill>
                  <a:schemeClr val="tx2"/>
                </a:solidFill>
              </a:rPr>
              <a:t>Short arcs at a few steering values, forward (teal) and reverse (red).</a:t>
            </a:r>
            <a:endParaRPr lang="en-US" sz="1400" dirty="0"/>
          </a:p>
        </p:txBody>
      </p:sp>
      <p:sp>
        <p:nvSpPr>
          <p:cNvPr id="11" name="d58"/>
          <p:cNvSpPr/>
          <p:nvPr/>
        </p:nvSpPr>
        <p:spPr>
          <a:xfrm>
            <a:off x="457200" y="3346704"/>
            <a:ext cx="411480" cy="411480"/>
          </a:xfrm>
          <a:prstGeom prst="ellipse">
            <a:avLst/>
          </a:prstGeom>
          <a:solidFill>
            <a:srgbClr val="1F7A8C"/>
          </a:solidFill>
          <a:ln/>
        </p:spPr>
      </p:sp>
      <p:sp>
        <p:nvSpPr>
          <p:cNvPr id="12" name="t59"/>
          <p:cNvSpPr txBox="1"/>
          <p:nvPr/>
        </p:nvSpPr>
        <p:spPr>
          <a:xfrm>
            <a:off x="457200" y="3346704"/>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t60"/>
          <p:cNvSpPr txBox="1"/>
          <p:nvPr/>
        </p:nvSpPr>
        <p:spPr>
          <a:xfrm>
            <a:off x="1005840" y="3328416"/>
            <a:ext cx="3200400" cy="347472"/>
          </a:xfrm>
          <a:prstGeom prst="rect">
            <a:avLst/>
          </a:prstGeom>
          <a:noFill/>
          <a:ln/>
        </p:spPr>
        <p:txBody>
          <a:bodyPr wrap="square" lIns="0" tIns="0" rIns="0" bIns="0" rtlCol="0" anchor="t"/>
          <a:lstStyle/>
          <a:p>
            <a:pPr marL="0" indent="0">
              <a:buNone/>
            </a:pPr>
            <a:r>
              <a:rPr lang="en-US" sz="1700" b="1" dirty="0">
                <a:solidFill>
                  <a:schemeClr val="tx1"/>
                </a:solidFill>
              </a:rPr>
              <a:t>The grid only remembers</a:t>
            </a:r>
            <a:endParaRPr lang="en-US" sz="1700" dirty="0"/>
          </a:p>
        </p:txBody>
      </p:sp>
      <p:sp>
        <p:nvSpPr>
          <p:cNvPr id="14" name="t61"/>
          <p:cNvSpPr txBox="1"/>
          <p:nvPr/>
        </p:nvSpPr>
        <p:spPr>
          <a:xfrm>
            <a:off x="1005840" y="3694176"/>
            <a:ext cx="3200400" cy="640080"/>
          </a:xfrm>
          <a:prstGeom prst="rect">
            <a:avLst/>
          </a:prstGeom>
          <a:noFill/>
          <a:ln/>
        </p:spPr>
        <p:txBody>
          <a:bodyPr wrap="square" lIns="0" tIns="0" rIns="0" bIns="0" rtlCol="0" anchor="t"/>
          <a:lstStyle/>
          <a:p>
            <a:pPr marL="0" indent="0">
              <a:buNone/>
            </a:pPr>
            <a:r>
              <a:rPr lang="en-US" sz="1400" dirty="0">
                <a:solidFill>
                  <a:schemeClr val="tx2"/>
                </a:solidFill>
              </a:rPr>
              <a:t>Two poses in the same cell count as one: keep the cheaper, drop the other.</a:t>
            </a:r>
            <a:endParaRPr lang="en-US" sz="1400" dirty="0"/>
          </a:p>
        </p:txBody>
      </p:sp>
      <p:pic>
        <p:nvPicPr>
          <p:cNvPr id="15" name="img62" descr="hybrid.png"/>
          <p:cNvPicPr>
            <a:picLocks noChangeAspect="1"/>
          </p:cNvPicPr>
          <p:nvPr/>
        </p:nvPicPr>
        <p:blipFill>
          <a:blip r:embed="rId3"/>
          <a:stretch>
            <a:fillRect/>
          </a:stretch>
        </p:blipFill>
        <p:spPr>
          <a:xfrm>
            <a:off x="4434840" y="1188720"/>
            <a:ext cx="4251960" cy="2907792"/>
          </a:xfrm>
          <a:prstGeom prst="rect">
            <a:avLst/>
          </a:prstGeom>
        </p:spPr>
      </p:pic>
      <p:sp>
        <p:nvSpPr>
          <p:cNvPr id="16" name="t63"/>
          <p:cNvSpPr txBox="1"/>
          <p:nvPr/>
        </p:nvSpPr>
        <p:spPr>
          <a:xfrm>
            <a:off x="4434840" y="4206240"/>
            <a:ext cx="4251960" cy="274320"/>
          </a:xfrm>
          <a:prstGeom prst="rect">
            <a:avLst/>
          </a:prstGeom>
          <a:noFill/>
          <a:ln/>
        </p:spPr>
        <p:txBody>
          <a:bodyPr wrap="square" lIns="0" tIns="0" rIns="0" bIns="0" rtlCol="0" anchor="t"/>
          <a:lstStyle/>
          <a:p>
            <a:pPr marL="0" indent="0">
              <a:buNone/>
            </a:pPr>
            <a:r>
              <a:rPr lang="en-US" sz="1100" i="1" dirty="0">
                <a:solidFill>
                  <a:schemeClr val="accent4"/>
                </a:solidFill>
              </a:rPr>
              <a:t>One node (black) and its ten children; faint arcs: the next expansion.</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A* vs Hybrid A*</a:t>
            </a:r>
            <a:endParaRPr lang="en-US" sz="2800" dirty="0"/>
          </a:p>
        </p:txBody>
      </p:sp>
      <p:graphicFrame>
        <p:nvGraphicFramePr>
          <p:cNvPr id="8" name="cmp"/>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072384"/>
        </p:xfrm>
        <a:graphic>
          <a:graphicData uri="http://schemas.openxmlformats.org/drawingml/2006/table">
            <a:tbl>
              <a:tblPr/>
              <a:tblGrid>
                <a:gridCol w="21945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38912">
                <a:tc>
                  <a:txBody>
                    <a:bodyPr/>
                    <a:lstStyle/>
                    <a:p>
                      <a:pPr marL="0" indent="0">
                        <a:buNone/>
                      </a:pPr>
                      <a:endParaRPr lang="en-US" sz="14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1E2A33"/>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1E2A33"/>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Hybrid A*</a:t>
                      </a:r>
                      <a:endParaRPr lang="en-US" sz="14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1E2A33"/>
                    </a:solidFill>
                  </a:tcPr>
                </a:tc>
                <a:extLst>
                  <a:ext uri="{0D108BD9-81ED-4DB2-BD59-A6C34878D82A}">
                    <a16:rowId xmlns:a16="http://schemas.microsoft.com/office/drawing/2014/main" val="10000"/>
                  </a:ext>
                </a:extLst>
              </a:tr>
              <a:tr h="438912">
                <a:tc>
                  <a:txBody>
                    <a:bodyPr/>
                    <a:lstStyle/>
                    <a:p>
                      <a:pPr marL="0" indent="0">
                        <a:buNone/>
                      </a:pPr>
                      <a:r>
                        <a:rPr lang="en-US" sz="1300" b="1" dirty="0">
                          <a:solidFill>
                            <a:schemeClr val="tx1"/>
                          </a:solidFill>
                          <a:latin typeface="Calibri" pitchFamily="34" charset="0"/>
                          <a:ea typeface="Calibri" pitchFamily="34" charset="-122"/>
                          <a:cs typeface="Calibri" pitchFamily="34" charset="-120"/>
                        </a:rPr>
                        <a:t>A node is</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marL="0" indent="0">
                        <a:buNone/>
                      </a:pPr>
                      <a:r>
                        <a:rPr lang="en-US" sz="1300" dirty="0">
                          <a:solidFill>
                            <a:schemeClr val="tx2"/>
                          </a:solidFill>
                          <a:latin typeface="Calibri" pitchFamily="34" charset="0"/>
                          <a:ea typeface="Calibri" pitchFamily="34" charset="-122"/>
                          <a:cs typeface="Calibri" pitchFamily="34" charset="-120"/>
                        </a:rPr>
                        <a:t>a grid cell (x, y)</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a continuous pose (x, y, heading)</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300" b="1" dirty="0">
                          <a:solidFill>
                            <a:schemeClr val="tx1"/>
                          </a:solidFill>
                          <a:latin typeface="Calibri" pitchFamily="34" charset="0"/>
                          <a:ea typeface="Calibri" pitchFamily="34" charset="-122"/>
                          <a:cs typeface="Calibri" pitchFamily="34" charset="-120"/>
                        </a:rPr>
                        <a:t>Moves</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marL="0" indent="0">
                        <a:buNone/>
                      </a:pPr>
                      <a:r>
                        <a:rPr lang="en-US" sz="1300" dirty="0">
                          <a:solidFill>
                            <a:schemeClr val="tx2"/>
                          </a:solidFill>
                          <a:latin typeface="Calibri" pitchFamily="34" charset="0"/>
                          <a:ea typeface="Calibri" pitchFamily="34" charset="-122"/>
                          <a:cs typeface="Calibri" pitchFamily="34" charset="-120"/>
                        </a:rPr>
                        <a:t>to neighbouring cells</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short drivable arcs, both gears</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300" b="1" dirty="0">
                          <a:solidFill>
                            <a:schemeClr val="tx1"/>
                          </a:solidFill>
                          <a:latin typeface="Calibri" pitchFamily="34" charset="0"/>
                          <a:ea typeface="Calibri" pitchFamily="34" charset="-122"/>
                          <a:cs typeface="Calibri" pitchFamily="34" charset="-120"/>
                        </a:rPr>
                        <a:t>The grid is used for</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marL="0" indent="0">
                        <a:buNone/>
                      </a:pPr>
                      <a:r>
                        <a:rPr lang="en-US" sz="1300" dirty="0">
                          <a:solidFill>
                            <a:schemeClr val="tx2"/>
                          </a:solidFill>
                          <a:latin typeface="Calibri" pitchFamily="34" charset="0"/>
                          <a:ea typeface="Calibri" pitchFamily="34" charset="-122"/>
                          <a:cs typeface="Calibri" pitchFamily="34" charset="-120"/>
                        </a:rPr>
                        <a:t>the state itself</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spotting revisits only</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300" b="1" dirty="0">
                          <a:solidFill>
                            <a:schemeClr val="tx1"/>
                          </a:solidFill>
                          <a:latin typeface="Calibri" pitchFamily="34" charset="0"/>
                          <a:ea typeface="Calibri" pitchFamily="34" charset="-122"/>
                          <a:cs typeface="Calibri" pitchFamily="34" charset="-120"/>
                        </a:rPr>
                        <a:t>Reaching the goal</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marL="0" indent="0">
                        <a:buNone/>
                      </a:pPr>
                      <a:r>
                        <a:rPr lang="en-US" sz="1300" dirty="0">
                          <a:solidFill>
                            <a:schemeClr val="tx2"/>
                          </a:solidFill>
                          <a:latin typeface="Calibri" pitchFamily="34" charset="0"/>
                          <a:ea typeface="Calibri" pitchFamily="34" charset="-122"/>
                          <a:cs typeface="Calibri" pitchFamily="34" charset="-120"/>
                        </a:rPr>
                        <a:t>land on the goal cell</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a direct "shot" to the exact pose</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1300" b="1" dirty="0">
                          <a:solidFill>
                            <a:schemeClr val="tx1"/>
                          </a:solidFill>
                          <a:latin typeface="Calibri" pitchFamily="34" charset="0"/>
                          <a:ea typeface="Calibri" pitchFamily="34" charset="-122"/>
                          <a:cs typeface="Calibri" pitchFamily="34" charset="-120"/>
                        </a:rPr>
                        <a:t>Output path</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marL="0" indent="0">
                        <a:buNone/>
                      </a:pPr>
                      <a:r>
                        <a:rPr lang="en-US" sz="1300" dirty="0">
                          <a:solidFill>
                            <a:schemeClr val="tx2"/>
                          </a:solidFill>
                          <a:latin typeface="Calibri" pitchFamily="34" charset="0"/>
                          <a:ea typeface="Calibri" pitchFamily="34" charset="-122"/>
                          <a:cs typeface="Calibri" pitchFamily="34" charset="-120"/>
                        </a:rPr>
                        <a:t>corners, not drivable</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drivable by construction</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buNone/>
                      </a:pPr>
                      <a:r>
                        <a:rPr lang="en-US" sz="1300" b="1" dirty="0">
                          <a:solidFill>
                            <a:schemeClr val="tx1"/>
                          </a:solidFill>
                          <a:latin typeface="Calibri" pitchFamily="34" charset="0"/>
                          <a:ea typeface="Calibri" pitchFamily="34" charset="-122"/>
                          <a:cs typeface="Calibri" pitchFamily="34" charset="-120"/>
                        </a:rPr>
                        <a:t>Guarantee</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F4F6F8"/>
                    </a:solidFill>
                  </a:tcPr>
                </a:tc>
                <a:tc>
                  <a:txBody>
                    <a:bodyPr/>
                    <a:lstStyle/>
                    <a:p>
                      <a:pPr marL="0" indent="0">
                        <a:buNone/>
                      </a:pPr>
                      <a:r>
                        <a:rPr lang="en-US" sz="1300" dirty="0">
                          <a:solidFill>
                            <a:schemeClr val="tx2"/>
                          </a:solidFill>
                          <a:latin typeface="Calibri" pitchFamily="34" charset="0"/>
                          <a:ea typeface="Calibri" pitchFamily="34" charset="-122"/>
                          <a:cs typeface="Calibri" pitchFamily="34" charset="-120"/>
                        </a:rPr>
                        <a:t>shortest on the grid</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marL="0" indent="0">
                        <a:buNone/>
                      </a:pPr>
                      <a:r>
                        <a:rPr lang="en-US" sz="1300" b="1" dirty="0">
                          <a:solidFill>
                            <a:schemeClr val="accent1"/>
                          </a:solidFill>
                          <a:latin typeface="Calibri" pitchFamily="34" charset="0"/>
                          <a:ea typeface="Calibri" pitchFamily="34" charset="-122"/>
                          <a:cs typeface="Calibri" pitchFamily="34" charset="-120"/>
                        </a:rPr>
                        <a:t>not strictly optimal; good and fast</a:t>
                      </a:r>
                      <a:endParaRPr lang="en-US" sz="1300" dirty="0">
                        <a:latin typeface="Calibri" charset="0"/>
                        <a:ea typeface="Calibri" charset="0"/>
                        <a:cs typeface="Calibri" charset="0"/>
                      </a:endParaRPr>
                    </a:p>
                  </a:txBody>
                  <a:tcPr marT="0" marB="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Two heuristics, and the search uses the larger</a:t>
            </a:r>
            <a:endParaRPr lang="en-US" sz="2800" dirty="0"/>
          </a:p>
        </p:txBody>
      </p:sp>
      <p:sp>
        <p:nvSpPr>
          <p:cNvPr id="3" name="b64"/>
          <p:cNvSpPr/>
          <p:nvPr/>
        </p:nvSpPr>
        <p:spPr>
          <a:xfrm>
            <a:off x="457200" y="1234440"/>
            <a:ext cx="3566160" cy="2514600"/>
          </a:xfrm>
          <a:prstGeom prst="roundRect">
            <a:avLst>
              <a:gd name="adj" fmla="val 3636"/>
            </a:avLst>
          </a:prstGeom>
          <a:solidFill>
            <a:srgbClr val="F4F6F8"/>
          </a:solidFill>
          <a:ln/>
        </p:spPr>
      </p:sp>
      <p:sp>
        <p:nvSpPr>
          <p:cNvPr id="4" name="d65"/>
          <p:cNvSpPr/>
          <p:nvPr/>
        </p:nvSpPr>
        <p:spPr>
          <a:xfrm>
            <a:off x="685800" y="1463040"/>
            <a:ext cx="320040" cy="320040"/>
          </a:xfrm>
          <a:prstGeom prst="ellipse">
            <a:avLst/>
          </a:prstGeom>
          <a:solidFill>
            <a:schemeClr val="accent1"/>
          </a:solidFill>
          <a:ln/>
        </p:spPr>
      </p:sp>
      <p:sp>
        <p:nvSpPr>
          <p:cNvPr id="5" name="t66"/>
          <p:cNvSpPr txBox="1"/>
          <p:nvPr/>
        </p:nvSpPr>
        <p:spPr>
          <a:xfrm>
            <a:off x="1143000" y="1417320"/>
            <a:ext cx="2743200" cy="457200"/>
          </a:xfrm>
          <a:prstGeom prst="rect">
            <a:avLst/>
          </a:prstGeom>
          <a:noFill/>
          <a:ln/>
        </p:spPr>
        <p:txBody>
          <a:bodyPr wrap="square" lIns="0" tIns="0" rIns="0" bIns="0" rtlCol="0" anchor="t"/>
          <a:lstStyle/>
          <a:p>
            <a:pPr marL="0" indent="0">
              <a:buNone/>
            </a:pPr>
            <a:r>
              <a:rPr lang="en-US" sz="1600" b="1" dirty="0">
                <a:solidFill>
                  <a:schemeClr val="tx1"/>
                </a:solidFill>
              </a:rPr>
              <a:t>Respects turning, ignores obstacles</a:t>
            </a:r>
            <a:endParaRPr lang="en-US" sz="1600" dirty="0"/>
          </a:p>
        </p:txBody>
      </p:sp>
      <p:sp>
        <p:nvSpPr>
          <p:cNvPr id="6" name="t67"/>
          <p:cNvSpPr txBox="1"/>
          <p:nvPr/>
        </p:nvSpPr>
        <p:spPr>
          <a:xfrm>
            <a:off x="685800" y="2057400"/>
            <a:ext cx="3108960" cy="822960"/>
          </a:xfrm>
          <a:prstGeom prst="rect">
            <a:avLst/>
          </a:prstGeom>
          <a:noFill/>
          <a:ln/>
        </p:spPr>
        <p:txBody>
          <a:bodyPr wrap="square" lIns="0" tIns="0" rIns="0" bIns="0" rtlCol="0" anchor="t"/>
          <a:lstStyle/>
          <a:p>
            <a:pPr marL="0" indent="0">
              <a:buNone/>
            </a:pPr>
            <a:r>
              <a:rPr lang="en-US" sz="1400" dirty="0">
                <a:solidFill>
                  <a:schemeClr val="tx2"/>
                </a:solidFill>
              </a:rPr>
              <a:t>Shortest curve with the minimum turning radius (Dubins / Reeds-Shepp) in empty space.</a:t>
            </a:r>
            <a:endParaRPr lang="en-US" sz="1400" dirty="0"/>
          </a:p>
        </p:txBody>
      </p:sp>
      <p:sp>
        <p:nvSpPr>
          <p:cNvPr id="7" name="t68"/>
          <p:cNvSpPr txBox="1"/>
          <p:nvPr/>
        </p:nvSpPr>
        <p:spPr>
          <a:xfrm>
            <a:off x="685800" y="2971800"/>
            <a:ext cx="3108960" cy="640080"/>
          </a:xfrm>
          <a:prstGeom prst="rect">
            <a:avLst/>
          </a:prstGeom>
          <a:noFill/>
          <a:ln/>
        </p:spPr>
        <p:txBody>
          <a:bodyPr wrap="square" lIns="0" tIns="0" rIns="0" bIns="0" rtlCol="0" anchor="t"/>
          <a:lstStyle/>
          <a:p>
            <a:pPr marL="0" indent="0">
              <a:buNone/>
            </a:pPr>
            <a:r>
              <a:rPr lang="en-US" sz="1300" i="1" dirty="0">
                <a:solidFill>
                  <a:schemeClr val="accent1"/>
                </a:solidFill>
              </a:rPr>
              <a:t>Knows the truck must loop around to face the bay.</a:t>
            </a:r>
            <a:endParaRPr lang="en-US" sz="1300" dirty="0"/>
          </a:p>
        </p:txBody>
      </p:sp>
      <p:sp>
        <p:nvSpPr>
          <p:cNvPr id="8" name="b69"/>
          <p:cNvSpPr/>
          <p:nvPr/>
        </p:nvSpPr>
        <p:spPr>
          <a:xfrm>
            <a:off x="5120640" y="1234440"/>
            <a:ext cx="3566160" cy="2514600"/>
          </a:xfrm>
          <a:prstGeom prst="roundRect">
            <a:avLst>
              <a:gd name="adj" fmla="val 3636"/>
            </a:avLst>
          </a:prstGeom>
          <a:solidFill>
            <a:srgbClr val="F4F6F8"/>
          </a:solidFill>
          <a:ln/>
        </p:spPr>
      </p:sp>
      <p:sp>
        <p:nvSpPr>
          <p:cNvPr id="9" name="d70"/>
          <p:cNvSpPr/>
          <p:nvPr/>
        </p:nvSpPr>
        <p:spPr>
          <a:xfrm>
            <a:off x="5349240" y="1463040"/>
            <a:ext cx="320040" cy="320040"/>
          </a:xfrm>
          <a:prstGeom prst="ellipse">
            <a:avLst/>
          </a:prstGeom>
          <a:solidFill>
            <a:schemeClr val="accent2"/>
          </a:solidFill>
          <a:ln/>
        </p:spPr>
      </p:sp>
      <p:sp>
        <p:nvSpPr>
          <p:cNvPr id="10" name="t71"/>
          <p:cNvSpPr txBox="1"/>
          <p:nvPr/>
        </p:nvSpPr>
        <p:spPr>
          <a:xfrm>
            <a:off x="5806440" y="1417320"/>
            <a:ext cx="2743200" cy="457200"/>
          </a:xfrm>
          <a:prstGeom prst="rect">
            <a:avLst/>
          </a:prstGeom>
          <a:noFill/>
          <a:ln/>
        </p:spPr>
        <p:txBody>
          <a:bodyPr wrap="square" lIns="0" tIns="0" rIns="0" bIns="0" rtlCol="0" anchor="t"/>
          <a:lstStyle/>
          <a:p>
            <a:pPr marL="0" indent="0">
              <a:buNone/>
            </a:pPr>
            <a:r>
              <a:rPr lang="en-US" sz="1600" b="1" dirty="0">
                <a:solidFill>
                  <a:schemeClr val="tx1"/>
                </a:solidFill>
              </a:rPr>
              <a:t>Respects obstacles, ignores turning</a:t>
            </a:r>
            <a:endParaRPr lang="en-US" sz="1600" dirty="0"/>
          </a:p>
        </p:txBody>
      </p:sp>
      <p:sp>
        <p:nvSpPr>
          <p:cNvPr id="11" name="t72"/>
          <p:cNvSpPr txBox="1"/>
          <p:nvPr/>
        </p:nvSpPr>
        <p:spPr>
          <a:xfrm>
            <a:off x="5349240" y="2057400"/>
            <a:ext cx="3108960" cy="822960"/>
          </a:xfrm>
          <a:prstGeom prst="rect">
            <a:avLst/>
          </a:prstGeom>
          <a:noFill/>
          <a:ln/>
        </p:spPr>
        <p:txBody>
          <a:bodyPr wrap="square" lIns="0" tIns="0" rIns="0" bIns="0" rtlCol="0" anchor="t"/>
          <a:lstStyle/>
          <a:p>
            <a:pPr marL="0" indent="0">
              <a:buNone/>
            </a:pPr>
            <a:r>
              <a:rPr lang="en-US" sz="1400" dirty="0">
                <a:solidFill>
                  <a:schemeClr val="tx2"/>
                </a:solidFill>
              </a:rPr>
              <a:t>Shortest 2-D distance around walls and parked trucks (Dijkstra on a grid).</a:t>
            </a:r>
            <a:endParaRPr lang="en-US" sz="1400" dirty="0"/>
          </a:p>
        </p:txBody>
      </p:sp>
      <p:sp>
        <p:nvSpPr>
          <p:cNvPr id="12" name="t73"/>
          <p:cNvSpPr txBox="1"/>
          <p:nvPr/>
        </p:nvSpPr>
        <p:spPr>
          <a:xfrm>
            <a:off x="5349240" y="2971800"/>
            <a:ext cx="3108960" cy="640080"/>
          </a:xfrm>
          <a:prstGeom prst="rect">
            <a:avLst/>
          </a:prstGeom>
          <a:noFill/>
          <a:ln/>
        </p:spPr>
        <p:txBody>
          <a:bodyPr wrap="square" lIns="0" tIns="0" rIns="0" bIns="0" rtlCol="0" anchor="t"/>
          <a:lstStyle/>
          <a:p>
            <a:pPr marL="0" indent="0">
              <a:buNone/>
            </a:pPr>
            <a:r>
              <a:rPr lang="en-US" sz="1300" i="1" dirty="0">
                <a:solidFill>
                  <a:schemeClr val="accent3"/>
                </a:solidFill>
              </a:rPr>
              <a:t>Knows that a wall blocks the straight route.</a:t>
            </a:r>
            <a:endParaRPr lang="en-US" sz="1300" dirty="0"/>
          </a:p>
        </p:txBody>
      </p:sp>
      <p:sp>
        <p:nvSpPr>
          <p:cNvPr id="13" name="d74"/>
          <p:cNvSpPr/>
          <p:nvPr/>
        </p:nvSpPr>
        <p:spPr>
          <a:xfrm>
            <a:off x="4160520" y="2148840"/>
            <a:ext cx="822960" cy="822960"/>
          </a:xfrm>
          <a:prstGeom prst="ellipse">
            <a:avLst/>
          </a:prstGeom>
          <a:solidFill>
            <a:srgbClr val="1E2A33"/>
          </a:solidFill>
          <a:ln/>
        </p:spPr>
      </p:sp>
      <p:sp>
        <p:nvSpPr>
          <p:cNvPr id="14" name="t75"/>
          <p:cNvSpPr txBox="1"/>
          <p:nvPr/>
        </p:nvSpPr>
        <p:spPr>
          <a:xfrm>
            <a:off x="4160520" y="2148840"/>
            <a:ext cx="822960" cy="822960"/>
          </a:xfrm>
          <a:prstGeom prst="rect">
            <a:avLst/>
          </a:prstGeom>
          <a:noFill/>
          <a:ln/>
        </p:spPr>
        <p:txBody>
          <a:bodyPr wrap="square" lIns="0" tIns="0" rIns="0" bIns="0" rtlCol="0" anchor="ctr"/>
          <a:lstStyle/>
          <a:p>
            <a:pPr marL="0" indent="0" algn="ctr">
              <a:buNone/>
            </a:pPr>
            <a:r>
              <a:rPr lang="en-US" sz="1800" b="1" dirty="0">
                <a:solidFill>
                  <a:schemeClr val="bg1"/>
                </a:solidFill>
              </a:rPr>
              <a:t>max</a:t>
            </a:r>
            <a:endParaRPr lang="en-US" sz="1800" dirty="0"/>
          </a:p>
        </p:txBody>
      </p:sp>
      <p:sp>
        <p:nvSpPr>
          <p:cNvPr id="15" name="t76"/>
          <p:cNvSpPr txBox="1"/>
          <p:nvPr/>
        </p:nvSpPr>
        <p:spPr>
          <a:xfrm>
            <a:off x="457200" y="3977640"/>
            <a:ext cx="8229600" cy="548640"/>
          </a:xfrm>
          <a:prstGeom prst="rect">
            <a:avLst/>
          </a:prstGeom>
          <a:noFill/>
          <a:ln/>
        </p:spPr>
        <p:txBody>
          <a:bodyPr wrap="square" lIns="0" tIns="0" rIns="0" bIns="0" rtlCol="0" anchor="t"/>
          <a:lstStyle/>
          <a:p>
            <a:pPr marL="0" indent="0">
              <a:buNone/>
            </a:pPr>
            <a:r>
              <a:rPr lang="en-US" sz="1400" dirty="0">
                <a:solidFill>
                  <a:schemeClr val="tx2"/>
                </a:solidFill>
              </a:rPr>
              <a:t>Each one alone underestimates the cost. The larger of the two is still a lower estimate, but far sharper, so the search wastes much less time.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The search loop, with a shortcut to the goal</a:t>
            </a:r>
            <a:endParaRPr lang="en-US" sz="2800" dirty="0"/>
          </a:p>
        </p:txBody>
      </p:sp>
      <p:sp>
        <p:nvSpPr>
          <p:cNvPr id="3" name="b77"/>
          <p:cNvSpPr/>
          <p:nvPr/>
        </p:nvSpPr>
        <p:spPr>
          <a:xfrm>
            <a:off x="457200" y="1600200"/>
            <a:ext cx="1463040" cy="1051560"/>
          </a:xfrm>
          <a:prstGeom prst="roundRect">
            <a:avLst>
              <a:gd name="adj" fmla="val 6957"/>
            </a:avLst>
          </a:prstGeom>
          <a:solidFill>
            <a:srgbClr val="F4F6F8"/>
          </a:solidFill>
          <a:ln/>
        </p:spPr>
      </p:sp>
      <p:sp>
        <p:nvSpPr>
          <p:cNvPr id="4" name="t78"/>
          <p:cNvSpPr txBox="1"/>
          <p:nvPr/>
        </p:nvSpPr>
        <p:spPr>
          <a:xfrm>
            <a:off x="566928" y="1709928"/>
            <a:ext cx="1243584" cy="320040"/>
          </a:xfrm>
          <a:prstGeom prst="rect">
            <a:avLst/>
          </a:prstGeom>
          <a:noFill/>
          <a:ln/>
        </p:spPr>
        <p:txBody>
          <a:bodyPr wrap="square" lIns="0" tIns="0" rIns="0" bIns="0" rtlCol="0" anchor="t"/>
          <a:lstStyle/>
          <a:p>
            <a:pPr marL="0" indent="0">
              <a:buNone/>
            </a:pPr>
            <a:r>
              <a:rPr lang="en-US" sz="1600" b="1" dirty="0">
                <a:solidFill>
                  <a:schemeClr val="tx1"/>
                </a:solidFill>
              </a:rPr>
              <a:t>Pop</a:t>
            </a:r>
            <a:endParaRPr lang="en-US" sz="1600" dirty="0"/>
          </a:p>
        </p:txBody>
      </p:sp>
      <p:sp>
        <p:nvSpPr>
          <p:cNvPr id="5" name="t79"/>
          <p:cNvSpPr txBox="1"/>
          <p:nvPr/>
        </p:nvSpPr>
        <p:spPr>
          <a:xfrm>
            <a:off x="566928" y="2039112"/>
            <a:ext cx="1243584" cy="548640"/>
          </a:xfrm>
          <a:prstGeom prst="rect">
            <a:avLst/>
          </a:prstGeom>
          <a:noFill/>
          <a:ln/>
        </p:spPr>
        <p:txBody>
          <a:bodyPr wrap="square" lIns="0" tIns="0" rIns="0" bIns="0" rtlCol="0" anchor="t"/>
          <a:lstStyle/>
          <a:p>
            <a:pPr marL="0" indent="0">
              <a:buNone/>
            </a:pPr>
            <a:r>
              <a:rPr lang="en-US" sz="1200" dirty="0">
                <a:solidFill>
                  <a:schemeClr val="tx2"/>
                </a:solidFill>
              </a:rPr>
              <a:t>lowest-f node from the open list</a:t>
            </a:r>
            <a:endParaRPr lang="en-US" sz="1200" dirty="0"/>
          </a:p>
        </p:txBody>
      </p:sp>
      <p:sp>
        <p:nvSpPr>
          <p:cNvPr id="6" name="a80"/>
          <p:cNvSpPr/>
          <p:nvPr/>
        </p:nvSpPr>
        <p:spPr>
          <a:xfrm>
            <a:off x="1938528" y="2125980"/>
            <a:ext cx="192024" cy="914"/>
          </a:xfrm>
          <a:prstGeom prst="line">
            <a:avLst/>
          </a:prstGeom>
          <a:noFill/>
          <a:ln w="22225">
            <a:solidFill>
              <a:schemeClr val="accent4"/>
            </a:solidFill>
            <a:prstDash val="solid"/>
            <a:tailEnd type="triangle"/>
          </a:ln>
        </p:spPr>
      </p:sp>
      <p:sp>
        <p:nvSpPr>
          <p:cNvPr id="7" name="b81"/>
          <p:cNvSpPr/>
          <p:nvPr/>
        </p:nvSpPr>
        <p:spPr>
          <a:xfrm>
            <a:off x="2148840" y="1600200"/>
            <a:ext cx="1463040" cy="1051560"/>
          </a:xfrm>
          <a:prstGeom prst="roundRect">
            <a:avLst>
              <a:gd name="adj" fmla="val 6957"/>
            </a:avLst>
          </a:prstGeom>
          <a:solidFill>
            <a:srgbClr val="FBE7C6"/>
          </a:solidFill>
          <a:ln/>
        </p:spPr>
      </p:sp>
      <p:sp>
        <p:nvSpPr>
          <p:cNvPr id="8" name="t82"/>
          <p:cNvSpPr txBox="1"/>
          <p:nvPr/>
        </p:nvSpPr>
        <p:spPr>
          <a:xfrm>
            <a:off x="2258568" y="1709928"/>
            <a:ext cx="1243584" cy="320040"/>
          </a:xfrm>
          <a:prstGeom prst="rect">
            <a:avLst/>
          </a:prstGeom>
          <a:noFill/>
          <a:ln/>
        </p:spPr>
        <p:txBody>
          <a:bodyPr wrap="square" lIns="0" tIns="0" rIns="0" bIns="0" rtlCol="0" anchor="t"/>
          <a:lstStyle/>
          <a:p>
            <a:pPr marL="0" indent="0">
              <a:buNone/>
            </a:pPr>
            <a:r>
              <a:rPr lang="en-US" sz="1600" b="1" dirty="0">
                <a:solidFill>
                  <a:schemeClr val="tx1"/>
                </a:solidFill>
              </a:rPr>
              <a:t>Try a shot</a:t>
            </a:r>
            <a:endParaRPr lang="en-US" sz="1600" dirty="0"/>
          </a:p>
        </p:txBody>
      </p:sp>
      <p:sp>
        <p:nvSpPr>
          <p:cNvPr id="9" name="t83"/>
          <p:cNvSpPr txBox="1"/>
          <p:nvPr/>
        </p:nvSpPr>
        <p:spPr>
          <a:xfrm>
            <a:off x="2258568" y="2039112"/>
            <a:ext cx="1243584" cy="548640"/>
          </a:xfrm>
          <a:prstGeom prst="rect">
            <a:avLst/>
          </a:prstGeom>
          <a:noFill/>
          <a:ln/>
        </p:spPr>
        <p:txBody>
          <a:bodyPr wrap="square" lIns="0" tIns="0" rIns="0" bIns="0" rtlCol="0" anchor="t"/>
          <a:lstStyle/>
          <a:p>
            <a:pPr marL="0" indent="0">
              <a:buNone/>
            </a:pPr>
            <a:r>
              <a:rPr lang="en-US" sz="1200" dirty="0">
                <a:solidFill>
                  <a:schemeClr val="tx2"/>
                </a:solidFill>
              </a:rPr>
              <a:t>direct curve to the goal pose</a:t>
            </a:r>
            <a:endParaRPr lang="en-US" sz="1200" dirty="0"/>
          </a:p>
        </p:txBody>
      </p:sp>
      <p:sp>
        <p:nvSpPr>
          <p:cNvPr id="10" name="a84"/>
          <p:cNvSpPr/>
          <p:nvPr/>
        </p:nvSpPr>
        <p:spPr>
          <a:xfrm>
            <a:off x="3630168" y="2125980"/>
            <a:ext cx="192024" cy="914"/>
          </a:xfrm>
          <a:prstGeom prst="line">
            <a:avLst/>
          </a:prstGeom>
          <a:noFill/>
          <a:ln w="22225">
            <a:solidFill>
              <a:schemeClr val="accent4"/>
            </a:solidFill>
            <a:prstDash val="solid"/>
            <a:tailEnd type="triangle"/>
          </a:ln>
        </p:spPr>
      </p:sp>
      <p:sp>
        <p:nvSpPr>
          <p:cNvPr id="11" name="b85"/>
          <p:cNvSpPr/>
          <p:nvPr/>
        </p:nvSpPr>
        <p:spPr>
          <a:xfrm>
            <a:off x="3840480" y="1600200"/>
            <a:ext cx="1463040" cy="1051560"/>
          </a:xfrm>
          <a:prstGeom prst="roundRect">
            <a:avLst>
              <a:gd name="adj" fmla="val 6957"/>
            </a:avLst>
          </a:prstGeom>
          <a:solidFill>
            <a:srgbClr val="F4F6F8"/>
          </a:solidFill>
          <a:ln/>
        </p:spPr>
      </p:sp>
      <p:sp>
        <p:nvSpPr>
          <p:cNvPr id="12" name="t86"/>
          <p:cNvSpPr txBox="1"/>
          <p:nvPr/>
        </p:nvSpPr>
        <p:spPr>
          <a:xfrm>
            <a:off x="3950208" y="1709928"/>
            <a:ext cx="1243584" cy="320040"/>
          </a:xfrm>
          <a:prstGeom prst="rect">
            <a:avLst/>
          </a:prstGeom>
          <a:noFill/>
          <a:ln/>
        </p:spPr>
        <p:txBody>
          <a:bodyPr wrap="square" lIns="0" tIns="0" rIns="0" bIns="0" rtlCol="0" anchor="t"/>
          <a:lstStyle/>
          <a:p>
            <a:pPr marL="0" indent="0">
              <a:buNone/>
            </a:pPr>
            <a:r>
              <a:rPr lang="en-US" sz="1600" b="1" dirty="0">
                <a:solidFill>
                  <a:schemeClr val="tx1"/>
                </a:solidFill>
              </a:rPr>
              <a:t>Expand</a:t>
            </a:r>
            <a:endParaRPr lang="en-US" sz="1600" dirty="0"/>
          </a:p>
        </p:txBody>
      </p:sp>
      <p:sp>
        <p:nvSpPr>
          <p:cNvPr id="13" name="t87"/>
          <p:cNvSpPr txBox="1"/>
          <p:nvPr/>
        </p:nvSpPr>
        <p:spPr>
          <a:xfrm>
            <a:off x="3950208" y="2039112"/>
            <a:ext cx="1243584" cy="548640"/>
          </a:xfrm>
          <a:prstGeom prst="rect">
            <a:avLst/>
          </a:prstGeom>
          <a:noFill/>
          <a:ln/>
        </p:spPr>
        <p:txBody>
          <a:bodyPr wrap="square" lIns="0" tIns="0" rIns="0" bIns="0" rtlCol="0" anchor="t"/>
          <a:lstStyle/>
          <a:p>
            <a:pPr marL="0" indent="0">
              <a:buNone/>
            </a:pPr>
            <a:r>
              <a:rPr lang="en-US" sz="1200" dirty="0">
                <a:solidFill>
                  <a:schemeClr val="tx2"/>
                </a:solidFill>
              </a:rPr>
              <a:t>drive every motion primitive</a:t>
            </a:r>
            <a:endParaRPr lang="en-US" sz="1200" dirty="0"/>
          </a:p>
        </p:txBody>
      </p:sp>
      <p:sp>
        <p:nvSpPr>
          <p:cNvPr id="14" name="a88"/>
          <p:cNvSpPr/>
          <p:nvPr/>
        </p:nvSpPr>
        <p:spPr>
          <a:xfrm>
            <a:off x="5321808" y="2125980"/>
            <a:ext cx="192024" cy="914"/>
          </a:xfrm>
          <a:prstGeom prst="line">
            <a:avLst/>
          </a:prstGeom>
          <a:noFill/>
          <a:ln w="22225">
            <a:solidFill>
              <a:schemeClr val="accent4"/>
            </a:solidFill>
            <a:prstDash val="solid"/>
            <a:tailEnd type="triangle"/>
          </a:ln>
        </p:spPr>
      </p:sp>
      <p:sp>
        <p:nvSpPr>
          <p:cNvPr id="15" name="b89"/>
          <p:cNvSpPr/>
          <p:nvPr/>
        </p:nvSpPr>
        <p:spPr>
          <a:xfrm>
            <a:off x="5532120" y="1600200"/>
            <a:ext cx="1463040" cy="1051560"/>
          </a:xfrm>
          <a:prstGeom prst="roundRect">
            <a:avLst>
              <a:gd name="adj" fmla="val 6957"/>
            </a:avLst>
          </a:prstGeom>
          <a:solidFill>
            <a:srgbClr val="F4F6F8"/>
          </a:solidFill>
          <a:ln/>
        </p:spPr>
      </p:sp>
      <p:sp>
        <p:nvSpPr>
          <p:cNvPr id="16" name="t90"/>
          <p:cNvSpPr txBox="1"/>
          <p:nvPr/>
        </p:nvSpPr>
        <p:spPr>
          <a:xfrm>
            <a:off x="5641848" y="1709928"/>
            <a:ext cx="1243584" cy="320040"/>
          </a:xfrm>
          <a:prstGeom prst="rect">
            <a:avLst/>
          </a:prstGeom>
          <a:noFill/>
          <a:ln/>
        </p:spPr>
        <p:txBody>
          <a:bodyPr wrap="square" lIns="0" tIns="0" rIns="0" bIns="0" rtlCol="0" anchor="t"/>
          <a:lstStyle/>
          <a:p>
            <a:pPr marL="0" indent="0">
              <a:buNone/>
            </a:pPr>
            <a:r>
              <a:rPr lang="en-US" sz="1600" b="1" dirty="0">
                <a:solidFill>
                  <a:schemeClr val="tx1"/>
                </a:solidFill>
              </a:rPr>
              <a:t>Prune</a:t>
            </a:r>
            <a:endParaRPr lang="en-US" sz="1600" dirty="0"/>
          </a:p>
        </p:txBody>
      </p:sp>
      <p:sp>
        <p:nvSpPr>
          <p:cNvPr id="17" name="t91"/>
          <p:cNvSpPr txBox="1"/>
          <p:nvPr/>
        </p:nvSpPr>
        <p:spPr>
          <a:xfrm>
            <a:off x="5641848" y="2039112"/>
            <a:ext cx="1243584" cy="548640"/>
          </a:xfrm>
          <a:prstGeom prst="rect">
            <a:avLst/>
          </a:prstGeom>
          <a:noFill/>
          <a:ln/>
        </p:spPr>
        <p:txBody>
          <a:bodyPr wrap="square" lIns="0" tIns="0" rIns="0" bIns="0" rtlCol="0" anchor="t"/>
          <a:lstStyle/>
          <a:p>
            <a:pPr marL="0" indent="0">
              <a:buNone/>
            </a:pPr>
            <a:r>
              <a:rPr lang="en-US" sz="1200" dirty="0">
                <a:solidFill>
                  <a:schemeClr val="tx2"/>
                </a:solidFill>
              </a:rPr>
              <a:t>collisions, limits, visited cells</a:t>
            </a:r>
            <a:endParaRPr lang="en-US" sz="1200" dirty="0"/>
          </a:p>
        </p:txBody>
      </p:sp>
      <p:sp>
        <p:nvSpPr>
          <p:cNvPr id="18" name="a92"/>
          <p:cNvSpPr/>
          <p:nvPr/>
        </p:nvSpPr>
        <p:spPr>
          <a:xfrm>
            <a:off x="7013448" y="2125980"/>
            <a:ext cx="192024" cy="914"/>
          </a:xfrm>
          <a:prstGeom prst="line">
            <a:avLst/>
          </a:prstGeom>
          <a:noFill/>
          <a:ln w="22225">
            <a:solidFill>
              <a:schemeClr val="accent4"/>
            </a:solidFill>
            <a:prstDash val="solid"/>
            <a:tailEnd type="triangle"/>
          </a:ln>
        </p:spPr>
      </p:sp>
      <p:sp>
        <p:nvSpPr>
          <p:cNvPr id="19" name="b93"/>
          <p:cNvSpPr/>
          <p:nvPr/>
        </p:nvSpPr>
        <p:spPr>
          <a:xfrm>
            <a:off x="7223760" y="1600200"/>
            <a:ext cx="1463040" cy="1051560"/>
          </a:xfrm>
          <a:prstGeom prst="roundRect">
            <a:avLst>
              <a:gd name="adj" fmla="val 6957"/>
            </a:avLst>
          </a:prstGeom>
          <a:solidFill>
            <a:srgbClr val="F4F6F8"/>
          </a:solidFill>
          <a:ln/>
        </p:spPr>
      </p:sp>
      <p:sp>
        <p:nvSpPr>
          <p:cNvPr id="20" name="t94"/>
          <p:cNvSpPr txBox="1"/>
          <p:nvPr/>
        </p:nvSpPr>
        <p:spPr>
          <a:xfrm>
            <a:off x="7333488" y="1709928"/>
            <a:ext cx="1243584" cy="320040"/>
          </a:xfrm>
          <a:prstGeom prst="rect">
            <a:avLst/>
          </a:prstGeom>
          <a:noFill/>
          <a:ln/>
        </p:spPr>
        <p:txBody>
          <a:bodyPr wrap="square" lIns="0" tIns="0" rIns="0" bIns="0" rtlCol="0" anchor="t"/>
          <a:lstStyle/>
          <a:p>
            <a:pPr marL="0" indent="0">
              <a:buNone/>
            </a:pPr>
            <a:r>
              <a:rPr lang="en-US" sz="1600" b="1" dirty="0">
                <a:solidFill>
                  <a:schemeClr val="tx1"/>
                </a:solidFill>
              </a:rPr>
              <a:t>Push</a:t>
            </a:r>
            <a:endParaRPr lang="en-US" sz="1600" dirty="0"/>
          </a:p>
        </p:txBody>
      </p:sp>
      <p:sp>
        <p:nvSpPr>
          <p:cNvPr id="21" name="t95"/>
          <p:cNvSpPr txBox="1"/>
          <p:nvPr/>
        </p:nvSpPr>
        <p:spPr>
          <a:xfrm>
            <a:off x="7333488" y="2039112"/>
            <a:ext cx="1243584" cy="548640"/>
          </a:xfrm>
          <a:prstGeom prst="rect">
            <a:avLst/>
          </a:prstGeom>
          <a:noFill/>
          <a:ln/>
        </p:spPr>
        <p:txBody>
          <a:bodyPr wrap="square" lIns="0" tIns="0" rIns="0" bIns="0" rtlCol="0" anchor="t"/>
          <a:lstStyle/>
          <a:p>
            <a:pPr marL="0" indent="0">
              <a:buNone/>
            </a:pPr>
            <a:r>
              <a:rPr lang="en-US" sz="1200" dirty="0">
                <a:solidFill>
                  <a:schemeClr val="tx2"/>
                </a:solidFill>
              </a:rPr>
              <a:t>survivors with f = g + h</a:t>
            </a:r>
            <a:endParaRPr lang="en-US" sz="1200" dirty="0"/>
          </a:p>
        </p:txBody>
      </p:sp>
      <p:sp>
        <p:nvSpPr>
          <p:cNvPr id="22" name="l96"/>
          <p:cNvSpPr/>
          <p:nvPr/>
        </p:nvSpPr>
        <p:spPr>
          <a:xfrm flipV="1">
            <a:off x="7955280" y="1325880"/>
            <a:ext cx="914" cy="274320"/>
          </a:xfrm>
          <a:prstGeom prst="line">
            <a:avLst/>
          </a:prstGeom>
          <a:noFill/>
          <a:ln w="22225">
            <a:solidFill>
              <a:schemeClr val="accent4"/>
            </a:solidFill>
            <a:prstDash val="solid"/>
          </a:ln>
        </p:spPr>
      </p:sp>
      <p:sp>
        <p:nvSpPr>
          <p:cNvPr id="23" name="l97"/>
          <p:cNvSpPr/>
          <p:nvPr/>
        </p:nvSpPr>
        <p:spPr>
          <a:xfrm flipH="1">
            <a:off x="1188720" y="1325880"/>
            <a:ext cx="6766560" cy="914"/>
          </a:xfrm>
          <a:prstGeom prst="line">
            <a:avLst/>
          </a:prstGeom>
          <a:noFill/>
          <a:ln w="22225">
            <a:solidFill>
              <a:schemeClr val="accent4"/>
            </a:solidFill>
            <a:prstDash val="solid"/>
          </a:ln>
        </p:spPr>
      </p:sp>
      <p:sp>
        <p:nvSpPr>
          <p:cNvPr id="24" name="a98"/>
          <p:cNvSpPr/>
          <p:nvPr/>
        </p:nvSpPr>
        <p:spPr>
          <a:xfrm>
            <a:off x="1188720" y="1325880"/>
            <a:ext cx="914" cy="256032"/>
          </a:xfrm>
          <a:prstGeom prst="line">
            <a:avLst/>
          </a:prstGeom>
          <a:noFill/>
          <a:ln w="22225">
            <a:solidFill>
              <a:schemeClr val="accent4"/>
            </a:solidFill>
            <a:prstDash val="solid"/>
            <a:tailEnd type="triangle"/>
          </a:ln>
        </p:spPr>
      </p:sp>
      <p:sp>
        <p:nvSpPr>
          <p:cNvPr id="25" name="t99"/>
          <p:cNvSpPr txBox="1"/>
          <p:nvPr/>
        </p:nvSpPr>
        <p:spPr>
          <a:xfrm>
            <a:off x="4023360" y="1069848"/>
            <a:ext cx="1097280" cy="228600"/>
          </a:xfrm>
          <a:prstGeom prst="rect">
            <a:avLst/>
          </a:prstGeom>
          <a:noFill/>
          <a:ln/>
        </p:spPr>
        <p:txBody>
          <a:bodyPr wrap="square" lIns="0" tIns="0" rIns="0" bIns="0" rtlCol="0" anchor="t"/>
          <a:lstStyle/>
          <a:p>
            <a:pPr marL="0" indent="0" algn="ctr">
              <a:buNone/>
            </a:pPr>
            <a:r>
              <a:rPr lang="en-US" sz="1100" dirty="0">
                <a:solidFill>
                  <a:schemeClr val="accent4"/>
                </a:solidFill>
              </a:rPr>
              <a:t>repeat</a:t>
            </a:r>
            <a:endParaRPr lang="en-US" sz="1100" dirty="0"/>
          </a:p>
        </p:txBody>
      </p:sp>
      <p:sp>
        <p:nvSpPr>
          <p:cNvPr id="26" name="a100"/>
          <p:cNvSpPr/>
          <p:nvPr/>
        </p:nvSpPr>
        <p:spPr>
          <a:xfrm>
            <a:off x="2880360" y="2651760"/>
            <a:ext cx="914" cy="365760"/>
          </a:xfrm>
          <a:prstGeom prst="line">
            <a:avLst/>
          </a:prstGeom>
          <a:noFill/>
          <a:ln w="25400">
            <a:solidFill>
              <a:srgbClr val="E8A33D"/>
            </a:solidFill>
            <a:prstDash val="solid"/>
            <a:tailEnd type="triangle"/>
          </a:ln>
        </p:spPr>
      </p:sp>
      <p:sp>
        <p:nvSpPr>
          <p:cNvPr id="27" name="t101"/>
          <p:cNvSpPr txBox="1"/>
          <p:nvPr/>
        </p:nvSpPr>
        <p:spPr>
          <a:xfrm>
            <a:off x="2971800" y="2724912"/>
            <a:ext cx="1280160" cy="228600"/>
          </a:xfrm>
          <a:prstGeom prst="rect">
            <a:avLst/>
          </a:prstGeom>
          <a:noFill/>
          <a:ln/>
        </p:spPr>
        <p:txBody>
          <a:bodyPr wrap="square" lIns="0" tIns="0" rIns="0" bIns="0" rtlCol="0" anchor="t"/>
          <a:lstStyle/>
          <a:p>
            <a:pPr marL="0" indent="0">
              <a:buNone/>
            </a:pPr>
            <a:r>
              <a:rPr lang="en-US" sz="1100" i="1" dirty="0">
                <a:solidFill>
                  <a:schemeClr val="accent2"/>
                </a:solidFill>
              </a:rPr>
              <a:t>collision-free?</a:t>
            </a:r>
            <a:endParaRPr lang="en-US" sz="1100" dirty="0"/>
          </a:p>
        </p:txBody>
      </p:sp>
      <p:sp>
        <p:nvSpPr>
          <p:cNvPr id="28" name="b102"/>
          <p:cNvSpPr/>
          <p:nvPr/>
        </p:nvSpPr>
        <p:spPr>
          <a:xfrm>
            <a:off x="2148840" y="3017520"/>
            <a:ext cx="1463040" cy="502920"/>
          </a:xfrm>
          <a:prstGeom prst="roundRect">
            <a:avLst>
              <a:gd name="adj" fmla="val 14545"/>
            </a:avLst>
          </a:prstGeom>
          <a:solidFill>
            <a:srgbClr val="E8A33D"/>
          </a:solidFill>
          <a:ln/>
        </p:spPr>
      </p:sp>
      <p:sp>
        <p:nvSpPr>
          <p:cNvPr id="29" name="t103"/>
          <p:cNvSpPr txBox="1"/>
          <p:nvPr/>
        </p:nvSpPr>
        <p:spPr>
          <a:xfrm>
            <a:off x="2148840" y="3017520"/>
            <a:ext cx="1463040" cy="502920"/>
          </a:xfrm>
          <a:prstGeom prst="rect">
            <a:avLst/>
          </a:prstGeom>
          <a:noFill/>
          <a:ln/>
        </p:spPr>
        <p:txBody>
          <a:bodyPr wrap="square" lIns="0" tIns="0" rIns="0" bIns="0" rtlCol="0" anchor="ctr"/>
          <a:lstStyle/>
          <a:p>
            <a:pPr marL="0" indent="0" algn="ctr">
              <a:buNone/>
            </a:pPr>
            <a:r>
              <a:rPr lang="en-US" sz="1300" b="1" dirty="0">
                <a:solidFill>
                  <a:schemeClr val="bg1"/>
                </a:solidFill>
              </a:rPr>
              <a:t>Done: return path</a:t>
            </a:r>
            <a:endParaRPr lang="en-US" sz="1300" dirty="0"/>
          </a:p>
        </p:txBody>
      </p:sp>
      <p:sp>
        <p:nvSpPr>
          <p:cNvPr id="30" name="t104"/>
          <p:cNvSpPr txBox="1"/>
          <p:nvPr/>
        </p:nvSpPr>
        <p:spPr>
          <a:xfrm>
            <a:off x="457200" y="3794760"/>
            <a:ext cx="8229600" cy="822960"/>
          </a:xfrm>
          <a:prstGeom prst="rect">
            <a:avLst/>
          </a:prstGeom>
          <a:noFill/>
          <a:ln/>
        </p:spPr>
        <p:txBody>
          <a:bodyPr wrap="square" lIns="0" tIns="0" rIns="0" bIns="0" rtlCol="0" anchor="t"/>
          <a:lstStyle/>
          <a:p>
            <a:pPr marL="0" indent="0">
              <a:buNone/>
            </a:pPr>
            <a:r>
              <a:rPr lang="en-US" sz="1400" b="1" dirty="0">
                <a:solidFill>
                  <a:schemeClr val="tx1"/>
                </a:solidFill>
              </a:rPr>
              <a:t>Analytic expansion (the "shot"). </a:t>
            </a:r>
            <a:r>
              <a:rPr lang="en-US" sz="1400" dirty="0">
                <a:solidFill>
                  <a:schemeClr val="tx2"/>
                </a:solidFill>
              </a:rPr>
              <a:t>Arcs alone almost never land exactly on the goal pose. So from promising nodes, the search tries one exact curve straight to the goal. The first shot that is collision-free ends the search.</a:t>
            </a:r>
            <a:endParaRPr lang="en-US" sz="1400" dirty="0"/>
          </a:p>
        </p:txBody>
      </p:sp>
      <p:sp>
        <p:nvSpPr>
          <p:cNvPr id="3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600200"/>
            <a:ext cx="7680960" cy="457200"/>
          </a:xfrm>
          <a:prstGeom prst="rect">
            <a:avLst/>
          </a:prstGeom>
          <a:noFill/>
          <a:ln/>
        </p:spPr>
        <p:txBody>
          <a:bodyPr wrap="square" lIns="0" tIns="0" rIns="0" bIns="0" rtlCol="0"/>
          <a:lstStyle/>
          <a:p>
            <a:pPr marL="0" indent="0">
              <a:buNone/>
            </a:pPr>
            <a:r>
              <a:rPr lang="en-US" sz="1800" b="1" dirty="0">
                <a:solidFill>
                  <a:schemeClr val="accent2"/>
                </a:solidFill>
              </a:rPr>
              <a:t>PART 2</a:t>
            </a:r>
            <a:endParaRPr lang="en-US" sz="1800" dirty="0"/>
          </a:p>
        </p:txBody>
      </p:sp>
      <p:sp>
        <p:nvSpPr>
          <p:cNvPr id="3" name="Text 0"/>
          <p:cNvSpPr>
            <a:spLocks noGrp="1"/>
          </p:cNvSpPr>
          <p:nvPr>
            <p:ph type="title" idx="101" hasCustomPrompt="1"/>
          </p:nvPr>
        </p:nvSpPr>
        <p:spPr>
          <a:xfrm>
            <a:off x="731520" y="2057400"/>
            <a:ext cx="7680960" cy="914400"/>
          </a:xfrm>
          <a:prstGeom prst="rect">
            <a:avLst/>
          </a:prstGeom>
          <a:noFill/>
          <a:ln/>
        </p:spPr>
        <p:txBody>
          <a:bodyPr wrap="square" lIns="0" tIns="0" rIns="0" bIns="0" rtlCol="0" anchor="t"/>
          <a:lstStyle/>
          <a:p>
            <a:pPr marL="0" indent="0" algn="l">
              <a:buNone/>
            </a:pPr>
            <a:r>
              <a:rPr lang="en-US" sz="4400" b="1" dirty="0">
                <a:solidFill>
                  <a:schemeClr val="bg1"/>
                </a:solidFill>
              </a:rPr>
              <a:t>Hybrid A* in our project</a:t>
            </a:r>
            <a:endParaRPr lang="en-US" sz="4400" dirty="0"/>
          </a:p>
        </p:txBody>
      </p:sp>
      <p:sp>
        <p:nvSpPr>
          <p:cNvPr id="4" name="Text 0"/>
          <p:cNvSpPr>
            <a:spLocks noGrp="1"/>
          </p:cNvSpPr>
          <p:nvPr>
            <p:ph type="body" idx="102" hasCustomPrompt="1"/>
          </p:nvPr>
        </p:nvSpPr>
        <p:spPr>
          <a:xfrm>
            <a:off x="731520" y="2971800"/>
            <a:ext cx="7680960" cy="548640"/>
          </a:xfrm>
          <a:prstGeom prst="rect">
            <a:avLst/>
          </a:prstGeom>
          <a:noFill/>
          <a:ln/>
        </p:spPr>
        <p:txBody>
          <a:bodyPr wrap="square" lIns="0" tIns="0" rIns="0" bIns="0" rtlCol="0" anchor="t"/>
          <a:lstStyle/>
          <a:p>
            <a:pPr marL="0" indent="0">
              <a:buNone/>
            </a:pPr>
            <a:r>
              <a:rPr lang="en-US" sz="1800" dirty="0">
                <a:solidFill>
                  <a:schemeClr val="accent5"/>
                </a:solidFill>
              </a:rPr>
              <a:t>What changes for a tractor-trailer</a:t>
            </a:r>
            <a:endParaRPr lang="en-US" sz="1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A trailer adds a fourth state, and reversing it is unstable</a:t>
            </a:r>
            <a:endParaRPr lang="en-US" sz="2800" dirty="0"/>
          </a:p>
        </p:txBody>
      </p:sp>
      <p:sp>
        <p:nvSpPr>
          <p:cNvPr id="3" name="d105"/>
          <p:cNvSpPr/>
          <p:nvPr/>
        </p:nvSpPr>
        <p:spPr>
          <a:xfrm>
            <a:off x="457200" y="1234440"/>
            <a:ext cx="292608" cy="292608"/>
          </a:xfrm>
          <a:prstGeom prst="ellipse">
            <a:avLst/>
          </a:prstGeom>
          <a:solidFill>
            <a:srgbClr val="E8A33D"/>
          </a:solidFill>
          <a:ln/>
        </p:spPr>
      </p:sp>
      <p:sp>
        <p:nvSpPr>
          <p:cNvPr id="4" name="t106"/>
          <p:cNvSpPr txBox="1"/>
          <p:nvPr/>
        </p:nvSpPr>
        <p:spPr>
          <a:xfrm>
            <a:off x="868680" y="1216152"/>
            <a:ext cx="3291840" cy="365760"/>
          </a:xfrm>
          <a:prstGeom prst="rect">
            <a:avLst/>
          </a:prstGeom>
          <a:noFill/>
          <a:ln/>
        </p:spPr>
        <p:txBody>
          <a:bodyPr wrap="square" lIns="0" tIns="0" rIns="0" bIns="0" rtlCol="0" anchor="t"/>
          <a:lstStyle/>
          <a:p>
            <a:pPr marL="0" indent="0">
              <a:buNone/>
            </a:pPr>
            <a:r>
              <a:rPr lang="en-US" sz="1600" b="1" dirty="0">
                <a:solidFill>
                  <a:schemeClr val="tx1"/>
                </a:solidFill>
              </a:rPr>
              <a:t>State: (x, y, heading, hitch angle ψ)</a:t>
            </a:r>
            <a:endParaRPr lang="en-US" sz="1600" dirty="0"/>
          </a:p>
        </p:txBody>
      </p:sp>
      <p:sp>
        <p:nvSpPr>
          <p:cNvPr id="5" name="t107"/>
          <p:cNvSpPr txBox="1"/>
          <p:nvPr/>
        </p:nvSpPr>
        <p:spPr>
          <a:xfrm>
            <a:off x="868680" y="1600200"/>
            <a:ext cx="3291840" cy="594360"/>
          </a:xfrm>
          <a:prstGeom prst="rect">
            <a:avLst/>
          </a:prstGeom>
          <a:noFill/>
          <a:ln/>
        </p:spPr>
        <p:txBody>
          <a:bodyPr wrap="square" lIns="0" tIns="0" rIns="0" bIns="0" rtlCol="0" anchor="t"/>
          <a:lstStyle/>
          <a:p>
            <a:pPr marL="0" indent="0">
              <a:buNone/>
            </a:pPr>
            <a:r>
              <a:rPr lang="en-US" sz="1400" dirty="0">
                <a:solidFill>
                  <a:schemeClr val="tx2"/>
                </a:solidFill>
              </a:rPr>
              <a:t>ψ is the angle between tractor and trailer. Past 60° the rig jackknifes.</a:t>
            </a:r>
            <a:endParaRPr lang="en-US" sz="1400" dirty="0"/>
          </a:p>
        </p:txBody>
      </p:sp>
      <p:sp>
        <p:nvSpPr>
          <p:cNvPr id="6" name="d108"/>
          <p:cNvSpPr/>
          <p:nvPr/>
        </p:nvSpPr>
        <p:spPr>
          <a:xfrm>
            <a:off x="457200" y="2377440"/>
            <a:ext cx="292608" cy="292608"/>
          </a:xfrm>
          <a:prstGeom prst="ellipse">
            <a:avLst/>
          </a:prstGeom>
          <a:solidFill>
            <a:srgbClr val="C0392B"/>
          </a:solidFill>
          <a:ln/>
        </p:spPr>
      </p:sp>
      <p:sp>
        <p:nvSpPr>
          <p:cNvPr id="7" name="t109"/>
          <p:cNvSpPr txBox="1"/>
          <p:nvPr/>
        </p:nvSpPr>
        <p:spPr>
          <a:xfrm>
            <a:off x="868680" y="2359152"/>
            <a:ext cx="3291840" cy="365760"/>
          </a:xfrm>
          <a:prstGeom prst="rect">
            <a:avLst/>
          </a:prstGeom>
          <a:noFill/>
          <a:ln/>
        </p:spPr>
        <p:txBody>
          <a:bodyPr wrap="square" lIns="0" tIns="0" rIns="0" bIns="0" rtlCol="0" anchor="t"/>
          <a:lstStyle/>
          <a:p>
            <a:pPr marL="0" indent="0">
              <a:buNone/>
            </a:pPr>
            <a:r>
              <a:rPr lang="en-US" sz="1600" b="1" dirty="0">
                <a:solidFill>
                  <a:schemeClr val="tx1"/>
                </a:solidFill>
              </a:rPr>
              <a:t>Fixed steering fails in reverse</a:t>
            </a:r>
            <a:endParaRPr lang="en-US" sz="1600" dirty="0"/>
          </a:p>
        </p:txBody>
      </p:sp>
      <p:sp>
        <p:nvSpPr>
          <p:cNvPr id="8" name="t110"/>
          <p:cNvSpPr txBox="1"/>
          <p:nvPr/>
        </p:nvSpPr>
        <p:spPr>
          <a:xfrm>
            <a:off x="868680" y="2743200"/>
            <a:ext cx="3291840" cy="685800"/>
          </a:xfrm>
          <a:prstGeom prst="rect">
            <a:avLst/>
          </a:prstGeom>
          <a:noFill/>
          <a:ln/>
        </p:spPr>
        <p:txBody>
          <a:bodyPr wrap="square" lIns="0" tIns="0" rIns="0" bIns="0" rtlCol="0" anchor="t"/>
          <a:lstStyle/>
          <a:p>
            <a:pPr marL="0" indent="0">
              <a:buNone/>
            </a:pPr>
            <a:r>
              <a:rPr lang="en-US" sz="1400" dirty="0">
                <a:solidFill>
                  <a:schemeClr val="tx2"/>
                </a:solidFill>
              </a:rPr>
              <a:t>With the wheel held straight, a 3° hitch error grows to the jackknife limit in about 25 m.</a:t>
            </a:r>
            <a:endParaRPr lang="en-US" sz="1400" dirty="0"/>
          </a:p>
        </p:txBody>
      </p:sp>
      <p:sp>
        <p:nvSpPr>
          <p:cNvPr id="9" name="t111"/>
          <p:cNvSpPr txBox="1"/>
          <p:nvPr/>
        </p:nvSpPr>
        <p:spPr>
          <a:xfrm>
            <a:off x="868680" y="3520440"/>
            <a:ext cx="3291840" cy="731520"/>
          </a:xfrm>
          <a:prstGeom prst="rect">
            <a:avLst/>
          </a:prstGeom>
          <a:noFill/>
          <a:ln/>
        </p:spPr>
        <p:txBody>
          <a:bodyPr wrap="square" lIns="0" tIns="0" rIns="0" bIns="0" rtlCol="0" anchor="t"/>
          <a:lstStyle/>
          <a:p>
            <a:pPr marL="0" indent="0">
              <a:buNone/>
            </a:pPr>
            <a:r>
              <a:rPr lang="en-US" sz="1400" i="1" dirty="0">
                <a:solidFill>
                  <a:schemeClr val="accent3"/>
                </a:solidFill>
              </a:rPr>
              <a:t>Standard Hybrid A* arcs use a fixed steering angle, so the search could not even hold a straight reverse.</a:t>
            </a:r>
            <a:endParaRPr lang="en-US" sz="1400" dirty="0"/>
          </a:p>
        </p:txBody>
      </p:sp>
      <p:pic>
        <p:nvPicPr>
          <p:cNvPr id="10" name="img112" descr="unstable.png"/>
          <p:cNvPicPr>
            <a:picLocks noChangeAspect="1"/>
          </p:cNvPicPr>
          <p:nvPr/>
        </p:nvPicPr>
        <p:blipFill>
          <a:blip r:embed="rId3"/>
          <a:stretch>
            <a:fillRect/>
          </a:stretch>
        </p:blipFill>
        <p:spPr>
          <a:xfrm>
            <a:off x="4343400" y="1234440"/>
            <a:ext cx="4343400" cy="2395728"/>
          </a:xfrm>
          <a:prstGeom prst="rect">
            <a:avLst/>
          </a:prstGeom>
        </p:spPr>
      </p:pic>
      <p:sp>
        <p:nvSpPr>
          <p:cNvPr id="11" name="t113"/>
          <p:cNvSpPr txBox="1"/>
          <p:nvPr/>
        </p:nvSpPr>
        <p:spPr>
          <a:xfrm>
            <a:off x="4343400" y="3749040"/>
            <a:ext cx="4343400" cy="274320"/>
          </a:xfrm>
          <a:prstGeom prst="rect">
            <a:avLst/>
          </a:prstGeom>
          <a:noFill/>
          <a:ln/>
        </p:spPr>
        <p:txBody>
          <a:bodyPr wrap="square" lIns="0" tIns="0" rIns="0" bIns="0" rtlCol="0" anchor="t"/>
          <a:lstStyle/>
          <a:p>
            <a:pPr marL="0" indent="0">
              <a:buNone/>
            </a:pPr>
            <a:r>
              <a:rPr lang="en-US" sz="1100" i="1" dirty="0">
                <a:solidFill>
                  <a:schemeClr val="accent4"/>
                </a:solidFill>
              </a:rPr>
              <a:t>Our rig model, reversing at constant speed from a 3° hitch angle.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Our fix: each primitive steers to a target hitch angle</a:t>
            </a:r>
            <a:endParaRPr lang="en-US" sz="2800" dirty="0"/>
          </a:p>
        </p:txBody>
      </p:sp>
      <p:pic>
        <p:nvPicPr>
          <p:cNvPr id="3" name="img114" descr="primitives.png"/>
          <p:cNvPicPr>
            <a:picLocks noChangeAspect="1"/>
          </p:cNvPicPr>
          <p:nvPr/>
        </p:nvPicPr>
        <p:blipFill>
          <a:blip r:embed="rId3"/>
          <a:stretch>
            <a:fillRect/>
          </a:stretch>
        </p:blipFill>
        <p:spPr>
          <a:xfrm>
            <a:off x="457200" y="1280160"/>
            <a:ext cx="4572000" cy="2770632"/>
          </a:xfrm>
          <a:prstGeom prst="rect">
            <a:avLst/>
          </a:prstGeom>
        </p:spPr>
      </p:pic>
      <p:sp>
        <p:nvSpPr>
          <p:cNvPr id="4" name="t115"/>
          <p:cNvSpPr txBox="1"/>
          <p:nvPr/>
        </p:nvSpPr>
        <p:spPr>
          <a:xfrm>
            <a:off x="457200" y="4160520"/>
            <a:ext cx="4572000" cy="274320"/>
          </a:xfrm>
          <a:prstGeom prst="rect">
            <a:avLst/>
          </a:prstGeom>
          <a:noFill/>
          <a:ln/>
        </p:spPr>
        <p:txBody>
          <a:bodyPr wrap="square" lIns="0" tIns="0" rIns="0" bIns="0" rtlCol="0" anchor="t"/>
          <a:lstStyle/>
          <a:p>
            <a:pPr marL="0" indent="0">
              <a:buNone/>
            </a:pPr>
            <a:r>
              <a:rPr lang="en-US" sz="1100" i="1" dirty="0">
                <a:solidFill>
                  <a:schemeClr val="accent4"/>
                </a:solidFill>
              </a:rPr>
              <a:t>From a straight rig, each target held for 10 m. Teal: forward.  Red: reverse.</a:t>
            </a:r>
            <a:endParaRPr lang="en-US" sz="1100" dirty="0"/>
          </a:p>
        </p:txBody>
      </p:sp>
      <p:sp>
        <p:nvSpPr>
          <p:cNvPr id="5" name="d116"/>
          <p:cNvSpPr/>
          <p:nvPr/>
        </p:nvSpPr>
        <p:spPr>
          <a:xfrm>
            <a:off x="5349240" y="1234440"/>
            <a:ext cx="365760" cy="365760"/>
          </a:xfrm>
          <a:prstGeom prst="ellipse">
            <a:avLst/>
          </a:prstGeom>
          <a:solidFill>
            <a:srgbClr val="1F7A8C"/>
          </a:solidFill>
          <a:ln/>
        </p:spPr>
      </p:sp>
      <p:sp>
        <p:nvSpPr>
          <p:cNvPr id="6" name="t117"/>
          <p:cNvSpPr txBox="1"/>
          <p:nvPr/>
        </p:nvSpPr>
        <p:spPr>
          <a:xfrm>
            <a:off x="5349240" y="12344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118"/>
          <p:cNvSpPr txBox="1"/>
          <p:nvPr/>
        </p:nvSpPr>
        <p:spPr>
          <a:xfrm>
            <a:off x="5852160" y="1216152"/>
            <a:ext cx="2834640" cy="347472"/>
          </a:xfrm>
          <a:prstGeom prst="rect">
            <a:avLst/>
          </a:prstGeom>
          <a:noFill/>
          <a:ln/>
        </p:spPr>
        <p:txBody>
          <a:bodyPr wrap="square" lIns="0" tIns="0" rIns="0" bIns="0" rtlCol="0" anchor="t"/>
          <a:lstStyle/>
          <a:p>
            <a:pPr marL="0" indent="0">
              <a:buNone/>
            </a:pPr>
            <a:r>
              <a:rPr lang="en-US" sz="1600" b="1" dirty="0">
                <a:solidFill>
                  <a:schemeClr val="tx1"/>
                </a:solidFill>
              </a:rPr>
              <a:t>Pick a target hitch angle</a:t>
            </a:r>
            <a:endParaRPr lang="en-US" sz="1600" dirty="0"/>
          </a:p>
        </p:txBody>
      </p:sp>
      <p:sp>
        <p:nvSpPr>
          <p:cNvPr id="8" name="t119"/>
          <p:cNvSpPr txBox="1"/>
          <p:nvPr/>
        </p:nvSpPr>
        <p:spPr>
          <a:xfrm>
            <a:off x="5852160" y="1563624"/>
            <a:ext cx="2834640" cy="658368"/>
          </a:xfrm>
          <a:prstGeom prst="rect">
            <a:avLst/>
          </a:prstGeom>
          <a:noFill/>
          <a:ln/>
        </p:spPr>
        <p:txBody>
          <a:bodyPr wrap="square" lIns="0" tIns="0" rIns="0" bIns="0" rtlCol="0" anchor="t"/>
          <a:lstStyle/>
          <a:p>
            <a:pPr marL="0" indent="0">
              <a:buNone/>
            </a:pPr>
            <a:r>
              <a:rPr lang="en-US" sz="1300" dirty="0">
                <a:solidFill>
                  <a:schemeClr val="tx2"/>
                </a:solidFill>
              </a:rPr>
              <a:t>-45°, -25°, 0°, +25° or +45°</a:t>
            </a:r>
            <a:endParaRPr lang="en-US" sz="1300" dirty="0"/>
          </a:p>
        </p:txBody>
      </p:sp>
      <p:sp>
        <p:nvSpPr>
          <p:cNvPr id="9" name="d120"/>
          <p:cNvSpPr/>
          <p:nvPr/>
        </p:nvSpPr>
        <p:spPr>
          <a:xfrm>
            <a:off x="5349240" y="2258568"/>
            <a:ext cx="365760" cy="365760"/>
          </a:xfrm>
          <a:prstGeom prst="ellipse">
            <a:avLst/>
          </a:prstGeom>
          <a:solidFill>
            <a:srgbClr val="1F7A8C"/>
          </a:solidFill>
          <a:ln/>
        </p:spPr>
      </p:sp>
      <p:sp>
        <p:nvSpPr>
          <p:cNvPr id="10" name="t121"/>
          <p:cNvSpPr txBox="1"/>
          <p:nvPr/>
        </p:nvSpPr>
        <p:spPr>
          <a:xfrm>
            <a:off x="5349240" y="2258568"/>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122"/>
          <p:cNvSpPr txBox="1"/>
          <p:nvPr/>
        </p:nvSpPr>
        <p:spPr>
          <a:xfrm>
            <a:off x="5852160" y="2240280"/>
            <a:ext cx="2834640" cy="347472"/>
          </a:xfrm>
          <a:prstGeom prst="rect">
            <a:avLst/>
          </a:prstGeom>
          <a:noFill/>
          <a:ln/>
        </p:spPr>
        <p:txBody>
          <a:bodyPr wrap="square" lIns="0" tIns="0" rIns="0" bIns="0" rtlCol="0" anchor="t"/>
          <a:lstStyle/>
          <a:p>
            <a:pPr marL="0" indent="0">
              <a:buNone/>
            </a:pPr>
            <a:r>
              <a:rPr lang="en-US" sz="1600" b="1" dirty="0">
                <a:solidFill>
                  <a:schemeClr val="tx1"/>
                </a:solidFill>
              </a:rPr>
              <a:t>A small regulator holds it</a:t>
            </a:r>
            <a:endParaRPr lang="en-US" sz="1600" dirty="0"/>
          </a:p>
        </p:txBody>
      </p:sp>
      <p:sp>
        <p:nvSpPr>
          <p:cNvPr id="12" name="t123"/>
          <p:cNvSpPr txBox="1"/>
          <p:nvPr/>
        </p:nvSpPr>
        <p:spPr>
          <a:xfrm>
            <a:off x="5852160" y="2587752"/>
            <a:ext cx="2834640" cy="658368"/>
          </a:xfrm>
          <a:prstGeom prst="rect">
            <a:avLst/>
          </a:prstGeom>
          <a:noFill/>
          <a:ln/>
        </p:spPr>
        <p:txBody>
          <a:bodyPr wrap="square" lIns="0" tIns="0" rIns="0" bIns="0" rtlCol="0" anchor="t"/>
          <a:lstStyle/>
          <a:p>
            <a:pPr marL="0" indent="0">
              <a:buNone/>
            </a:pPr>
            <a:r>
              <a:rPr lang="en-US" sz="1300" dirty="0">
                <a:solidFill>
                  <a:schemeClr val="tx2"/>
                </a:solidFill>
              </a:rPr>
              <a:t>turns the wheel so ψ settles on the target, stable in both gears (teal curve on the last slide)</a:t>
            </a:r>
            <a:endParaRPr lang="en-US" sz="1300" dirty="0"/>
          </a:p>
        </p:txBody>
      </p:sp>
      <p:sp>
        <p:nvSpPr>
          <p:cNvPr id="13" name="d124"/>
          <p:cNvSpPr/>
          <p:nvPr/>
        </p:nvSpPr>
        <p:spPr>
          <a:xfrm>
            <a:off x="5349240" y="3282696"/>
            <a:ext cx="365760" cy="365760"/>
          </a:xfrm>
          <a:prstGeom prst="ellipse">
            <a:avLst/>
          </a:prstGeom>
          <a:solidFill>
            <a:srgbClr val="1F7A8C"/>
          </a:solidFill>
          <a:ln/>
        </p:spPr>
      </p:sp>
      <p:sp>
        <p:nvSpPr>
          <p:cNvPr id="14" name="t125"/>
          <p:cNvSpPr txBox="1"/>
          <p:nvPr/>
        </p:nvSpPr>
        <p:spPr>
          <a:xfrm>
            <a:off x="5349240" y="3282696"/>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126"/>
          <p:cNvSpPr txBox="1"/>
          <p:nvPr/>
        </p:nvSpPr>
        <p:spPr>
          <a:xfrm>
            <a:off x="5852160" y="3264408"/>
            <a:ext cx="2834640" cy="347472"/>
          </a:xfrm>
          <a:prstGeom prst="rect">
            <a:avLst/>
          </a:prstGeom>
          <a:noFill/>
          <a:ln/>
        </p:spPr>
        <p:txBody>
          <a:bodyPr wrap="square" lIns="0" tIns="0" rIns="0" bIns="0" rtlCol="0" anchor="t"/>
          <a:lstStyle/>
          <a:p>
            <a:pPr marL="0" indent="0">
              <a:buNone/>
            </a:pPr>
            <a:r>
              <a:rPr lang="en-US" sz="1600" b="1" dirty="0">
                <a:solidFill>
                  <a:schemeClr val="tx1"/>
                </a:solidFill>
              </a:rPr>
              <a:t>10 children per node</a:t>
            </a:r>
            <a:endParaRPr lang="en-US" sz="1600" dirty="0"/>
          </a:p>
        </p:txBody>
      </p:sp>
      <p:sp>
        <p:nvSpPr>
          <p:cNvPr id="16" name="t127"/>
          <p:cNvSpPr txBox="1"/>
          <p:nvPr/>
        </p:nvSpPr>
        <p:spPr>
          <a:xfrm>
            <a:off x="5852160" y="3611880"/>
            <a:ext cx="2834640" cy="658368"/>
          </a:xfrm>
          <a:prstGeom prst="rect">
            <a:avLst/>
          </a:prstGeom>
          <a:noFill/>
          <a:ln/>
        </p:spPr>
        <p:txBody>
          <a:bodyPr wrap="square" lIns="0" tIns="0" rIns="0" bIns="0" rtlCol="0" anchor="t"/>
          <a:lstStyle/>
          <a:p>
            <a:pPr marL="0" indent="0">
              <a:buNone/>
            </a:pPr>
            <a:r>
              <a:rPr lang="en-US" sz="1300" dirty="0">
                <a:solidFill>
                  <a:schemeClr val="tx2"/>
                </a:solidFill>
              </a:rPr>
              <a:t>2 gears × 5 targets, each a 2 m arc on the real model</a:t>
            </a:r>
            <a:endParaRPr lang="en-US" sz="1300" dirty="0"/>
          </a:p>
        </p:txBody>
      </p:sp>
      <p:sp>
        <p:nvSpPr>
          <p:cNvPr id="17" name="t128"/>
          <p:cNvSpPr txBox="1"/>
          <p:nvPr/>
        </p:nvSpPr>
        <p:spPr>
          <a:xfrm>
            <a:off x="5349240" y="4114800"/>
            <a:ext cx="3337560" cy="502920"/>
          </a:xfrm>
          <a:prstGeom prst="rect">
            <a:avLst/>
          </a:prstGeom>
          <a:noFill/>
          <a:ln/>
        </p:spPr>
        <p:txBody>
          <a:bodyPr wrap="square" lIns="0" tIns="0" rIns="0" bIns="0" rtlCol="0" anchor="t"/>
          <a:lstStyle/>
          <a:p>
            <a:pPr marL="0" indent="0">
              <a:buNone/>
            </a:pPr>
            <a:r>
              <a:rPr lang="en-US" sz="1300" b="1" dirty="0">
                <a:solidFill>
                  <a:schemeClr val="accent1"/>
                </a:solidFill>
              </a:rPr>
              <a:t>The search becomes an ordinary car-style Hybrid A*, with gear changes as cusps.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Safety limits are built into the pruning</a:t>
            </a:r>
            <a:endParaRPr lang="en-US" sz="2800" dirty="0"/>
          </a:p>
        </p:txBody>
      </p:sp>
      <p:sp>
        <p:nvSpPr>
          <p:cNvPr id="3" name="b129"/>
          <p:cNvSpPr/>
          <p:nvPr/>
        </p:nvSpPr>
        <p:spPr>
          <a:xfrm>
            <a:off x="457200" y="1234440"/>
            <a:ext cx="2615184" cy="1463040"/>
          </a:xfrm>
          <a:prstGeom prst="roundRect">
            <a:avLst>
              <a:gd name="adj" fmla="val 6250"/>
            </a:avLst>
          </a:prstGeom>
          <a:solidFill>
            <a:srgbClr val="F4F6F8"/>
          </a:solidFill>
          <a:ln/>
        </p:spPr>
      </p:sp>
      <p:sp>
        <p:nvSpPr>
          <p:cNvPr id="4" name="t130"/>
          <p:cNvSpPr txBox="1"/>
          <p:nvPr/>
        </p:nvSpPr>
        <p:spPr>
          <a:xfrm>
            <a:off x="640080" y="1399032"/>
            <a:ext cx="2286000" cy="594360"/>
          </a:xfrm>
          <a:prstGeom prst="rect">
            <a:avLst/>
          </a:prstGeom>
          <a:noFill/>
          <a:ln/>
        </p:spPr>
        <p:txBody>
          <a:bodyPr wrap="square" lIns="0" tIns="0" rIns="0" bIns="0" rtlCol="0" anchor="ctr"/>
          <a:lstStyle/>
          <a:p>
            <a:pPr marL="0" indent="0">
              <a:buNone/>
            </a:pPr>
            <a:r>
              <a:rPr lang="en-US" sz="2400" b="1" dirty="0">
                <a:solidFill>
                  <a:schemeClr val="accent1"/>
                </a:solidFill>
              </a:rPr>
              <a:t>0.5 m · 5° · 12°</a:t>
            </a:r>
            <a:endParaRPr lang="en-US" sz="2400" dirty="0"/>
          </a:p>
        </p:txBody>
      </p:sp>
      <p:sp>
        <p:nvSpPr>
          <p:cNvPr id="5" name="t131"/>
          <p:cNvSpPr txBox="1"/>
          <p:nvPr/>
        </p:nvSpPr>
        <p:spPr>
          <a:xfrm>
            <a:off x="640080" y="2039112"/>
            <a:ext cx="2286000" cy="594360"/>
          </a:xfrm>
          <a:prstGeom prst="rect">
            <a:avLst/>
          </a:prstGeom>
          <a:noFill/>
          <a:ln/>
        </p:spPr>
        <p:txBody>
          <a:bodyPr wrap="square" lIns="0" tIns="0" rIns="0" bIns="0" rtlCol="0" anchor="t"/>
          <a:lstStyle/>
          <a:p>
            <a:pPr marL="0" indent="0">
              <a:buNone/>
            </a:pPr>
            <a:r>
              <a:rPr lang="en-US" sz="1300" dirty="0">
                <a:solidFill>
                  <a:schemeClr val="tx2"/>
                </a:solidFill>
              </a:rPr>
              <a:t>cell size for revisits: position, heading, hitch</a:t>
            </a:r>
            <a:endParaRPr lang="en-US" sz="1300" dirty="0"/>
          </a:p>
        </p:txBody>
      </p:sp>
      <p:sp>
        <p:nvSpPr>
          <p:cNvPr id="6" name="b132"/>
          <p:cNvSpPr/>
          <p:nvPr/>
        </p:nvSpPr>
        <p:spPr>
          <a:xfrm>
            <a:off x="3264408" y="1234440"/>
            <a:ext cx="2615184" cy="1463040"/>
          </a:xfrm>
          <a:prstGeom prst="roundRect">
            <a:avLst>
              <a:gd name="adj" fmla="val 6250"/>
            </a:avLst>
          </a:prstGeom>
          <a:solidFill>
            <a:srgbClr val="FBE7C6"/>
          </a:solidFill>
          <a:ln/>
        </p:spPr>
      </p:sp>
      <p:sp>
        <p:nvSpPr>
          <p:cNvPr id="7" name="t133"/>
          <p:cNvSpPr txBox="1"/>
          <p:nvPr/>
        </p:nvSpPr>
        <p:spPr>
          <a:xfrm>
            <a:off x="3447288" y="1399032"/>
            <a:ext cx="2286000" cy="594360"/>
          </a:xfrm>
          <a:prstGeom prst="rect">
            <a:avLst/>
          </a:prstGeom>
          <a:noFill/>
          <a:ln/>
        </p:spPr>
        <p:txBody>
          <a:bodyPr wrap="square" lIns="0" tIns="0" rIns="0" bIns="0" rtlCol="0" anchor="ctr"/>
          <a:lstStyle/>
          <a:p>
            <a:pPr marL="0" indent="0">
              <a:buNone/>
            </a:pPr>
            <a:r>
              <a:rPr lang="en-US" sz="3200" b="1" dirty="0">
                <a:solidFill>
                  <a:schemeClr val="accent3"/>
                </a:solidFill>
              </a:rPr>
              <a:t>52°</a:t>
            </a:r>
            <a:endParaRPr lang="en-US" sz="3200" dirty="0"/>
          </a:p>
        </p:txBody>
      </p:sp>
      <p:sp>
        <p:nvSpPr>
          <p:cNvPr id="8" name="t134"/>
          <p:cNvSpPr txBox="1"/>
          <p:nvPr/>
        </p:nvSpPr>
        <p:spPr>
          <a:xfrm>
            <a:off x="3447288" y="2039112"/>
            <a:ext cx="2286000" cy="594360"/>
          </a:xfrm>
          <a:prstGeom prst="rect">
            <a:avLst/>
          </a:prstGeom>
          <a:noFill/>
          <a:ln/>
        </p:spPr>
        <p:txBody>
          <a:bodyPr wrap="square" lIns="0" tIns="0" rIns="0" bIns="0" rtlCol="0" anchor="t"/>
          <a:lstStyle/>
          <a:p>
            <a:pPr marL="0" indent="0">
              <a:buNone/>
            </a:pPr>
            <a:r>
              <a:rPr lang="en-US" sz="1300" dirty="0">
                <a:solidFill>
                  <a:schemeClr val="tx2"/>
                </a:solidFill>
              </a:rPr>
              <a:t>hitch cap while planning; the jackknife limit is 60°</a:t>
            </a:r>
            <a:endParaRPr lang="en-US" sz="1300" dirty="0"/>
          </a:p>
        </p:txBody>
      </p:sp>
      <p:sp>
        <p:nvSpPr>
          <p:cNvPr id="9" name="b135"/>
          <p:cNvSpPr/>
          <p:nvPr/>
        </p:nvSpPr>
        <p:spPr>
          <a:xfrm>
            <a:off x="6071616" y="1234440"/>
            <a:ext cx="2615184" cy="1463040"/>
          </a:xfrm>
          <a:prstGeom prst="roundRect">
            <a:avLst>
              <a:gd name="adj" fmla="val 6250"/>
            </a:avLst>
          </a:prstGeom>
          <a:solidFill>
            <a:srgbClr val="F4F6F8"/>
          </a:solidFill>
          <a:ln/>
        </p:spPr>
      </p:sp>
      <p:sp>
        <p:nvSpPr>
          <p:cNvPr id="10" name="t136"/>
          <p:cNvSpPr txBox="1"/>
          <p:nvPr/>
        </p:nvSpPr>
        <p:spPr>
          <a:xfrm>
            <a:off x="6254496" y="1399032"/>
            <a:ext cx="2286000" cy="594360"/>
          </a:xfrm>
          <a:prstGeom prst="rect">
            <a:avLst/>
          </a:prstGeom>
          <a:noFill/>
          <a:ln/>
        </p:spPr>
        <p:txBody>
          <a:bodyPr wrap="square" lIns="0" tIns="0" rIns="0" bIns="0" rtlCol="0" anchor="ctr"/>
          <a:lstStyle/>
          <a:p>
            <a:pPr marL="0" indent="0">
              <a:buNone/>
            </a:pPr>
            <a:r>
              <a:rPr lang="en-US" sz="3200" b="1" dirty="0">
                <a:solidFill>
                  <a:schemeClr val="accent1"/>
                </a:solidFill>
              </a:rPr>
              <a:t>0.35 m</a:t>
            </a:r>
            <a:endParaRPr lang="en-US" sz="3200" dirty="0"/>
          </a:p>
        </p:txBody>
      </p:sp>
      <p:sp>
        <p:nvSpPr>
          <p:cNvPr id="11" name="t137"/>
          <p:cNvSpPr txBox="1"/>
          <p:nvPr/>
        </p:nvSpPr>
        <p:spPr>
          <a:xfrm>
            <a:off x="6254496" y="2039112"/>
            <a:ext cx="2286000" cy="594360"/>
          </a:xfrm>
          <a:prstGeom prst="rect">
            <a:avLst/>
          </a:prstGeom>
          <a:noFill/>
          <a:ln/>
        </p:spPr>
        <p:txBody>
          <a:bodyPr wrap="square" lIns="0" tIns="0" rIns="0" bIns="0" rtlCol="0" anchor="t"/>
          <a:lstStyle/>
          <a:p>
            <a:pPr marL="0" indent="0">
              <a:buNone/>
            </a:pPr>
            <a:r>
              <a:rPr lang="en-US" sz="1300" dirty="0">
                <a:solidFill>
                  <a:schemeClr val="tx2"/>
                </a:solidFill>
              </a:rPr>
              <a:t>minimum clearance to every obstacle and parked truck</a:t>
            </a:r>
            <a:endParaRPr lang="en-US" sz="1300" dirty="0"/>
          </a:p>
        </p:txBody>
      </p:sp>
      <p:sp>
        <p:nvSpPr>
          <p:cNvPr id="12" name="b138"/>
          <p:cNvSpPr/>
          <p:nvPr/>
        </p:nvSpPr>
        <p:spPr>
          <a:xfrm>
            <a:off x="457200" y="2926080"/>
            <a:ext cx="2615184" cy="1463040"/>
          </a:xfrm>
          <a:prstGeom prst="roundRect">
            <a:avLst>
              <a:gd name="adj" fmla="val 6250"/>
            </a:avLst>
          </a:prstGeom>
          <a:solidFill>
            <a:srgbClr val="F4F6F8"/>
          </a:solidFill>
          <a:ln/>
        </p:spPr>
      </p:sp>
      <p:sp>
        <p:nvSpPr>
          <p:cNvPr id="13" name="t139"/>
          <p:cNvSpPr txBox="1"/>
          <p:nvPr/>
        </p:nvSpPr>
        <p:spPr>
          <a:xfrm>
            <a:off x="640080" y="3090672"/>
            <a:ext cx="2286000" cy="594360"/>
          </a:xfrm>
          <a:prstGeom prst="rect">
            <a:avLst/>
          </a:prstGeom>
          <a:noFill/>
          <a:ln/>
        </p:spPr>
        <p:txBody>
          <a:bodyPr wrap="square" lIns="0" tIns="0" rIns="0" bIns="0" rtlCol="0" anchor="ctr"/>
          <a:lstStyle/>
          <a:p>
            <a:pPr marL="0" indent="0">
              <a:buNone/>
            </a:pPr>
            <a:r>
              <a:rPr lang="en-US" sz="3200" b="1" dirty="0">
                <a:solidFill>
                  <a:schemeClr val="accent1"/>
                </a:solidFill>
              </a:rPr>
              <a:t>85%</a:t>
            </a:r>
            <a:endParaRPr lang="en-US" sz="3200" dirty="0"/>
          </a:p>
        </p:txBody>
      </p:sp>
      <p:sp>
        <p:nvSpPr>
          <p:cNvPr id="14" name="t140"/>
          <p:cNvSpPr txBox="1"/>
          <p:nvPr/>
        </p:nvSpPr>
        <p:spPr>
          <a:xfrm>
            <a:off x="640080" y="3730752"/>
            <a:ext cx="2286000" cy="594360"/>
          </a:xfrm>
          <a:prstGeom prst="rect">
            <a:avLst/>
          </a:prstGeom>
          <a:noFill/>
          <a:ln/>
        </p:spPr>
        <p:txBody>
          <a:bodyPr wrap="square" lIns="0" tIns="0" rIns="0" bIns="0" rtlCol="0" anchor="t"/>
          <a:lstStyle/>
          <a:p>
            <a:pPr marL="0" indent="0">
              <a:buNone/>
            </a:pPr>
            <a:r>
              <a:rPr lang="en-US" sz="1300" dirty="0">
                <a:solidFill>
                  <a:schemeClr val="tx2"/>
                </a:solidFill>
              </a:rPr>
              <a:t>of the steering lock; the rest is kept for the NMPC</a:t>
            </a:r>
            <a:endParaRPr lang="en-US" sz="1300" dirty="0"/>
          </a:p>
        </p:txBody>
      </p:sp>
      <p:sp>
        <p:nvSpPr>
          <p:cNvPr id="15" name="b141"/>
          <p:cNvSpPr/>
          <p:nvPr/>
        </p:nvSpPr>
        <p:spPr>
          <a:xfrm>
            <a:off x="3264408" y="2926080"/>
            <a:ext cx="2615184" cy="1463040"/>
          </a:xfrm>
          <a:prstGeom prst="roundRect">
            <a:avLst>
              <a:gd name="adj" fmla="val 6250"/>
            </a:avLst>
          </a:prstGeom>
          <a:solidFill>
            <a:srgbClr val="F4F6F8"/>
          </a:solidFill>
          <a:ln/>
        </p:spPr>
      </p:sp>
      <p:sp>
        <p:nvSpPr>
          <p:cNvPr id="16" name="t142"/>
          <p:cNvSpPr txBox="1"/>
          <p:nvPr/>
        </p:nvSpPr>
        <p:spPr>
          <a:xfrm>
            <a:off x="3447288" y="3090672"/>
            <a:ext cx="2286000" cy="594360"/>
          </a:xfrm>
          <a:prstGeom prst="rect">
            <a:avLst/>
          </a:prstGeom>
          <a:noFill/>
          <a:ln/>
        </p:spPr>
        <p:txBody>
          <a:bodyPr wrap="square" lIns="0" tIns="0" rIns="0" bIns="0" rtlCol="0" anchor="ctr"/>
          <a:lstStyle/>
          <a:p>
            <a:pPr marL="0" indent="0">
              <a:buNone/>
            </a:pPr>
            <a:r>
              <a:rPr lang="en-US" sz="3200" b="1" dirty="0">
                <a:solidFill>
                  <a:schemeClr val="accent1"/>
                </a:solidFill>
              </a:rPr>
              <a:t>2 m</a:t>
            </a:r>
            <a:endParaRPr lang="en-US" sz="3200" dirty="0"/>
          </a:p>
        </p:txBody>
      </p:sp>
      <p:sp>
        <p:nvSpPr>
          <p:cNvPr id="17" name="t143"/>
          <p:cNvSpPr txBox="1"/>
          <p:nvPr/>
        </p:nvSpPr>
        <p:spPr>
          <a:xfrm>
            <a:off x="3447288" y="3730752"/>
            <a:ext cx="2286000" cy="594360"/>
          </a:xfrm>
          <a:prstGeom prst="rect">
            <a:avLst/>
          </a:prstGeom>
          <a:noFill/>
          <a:ln/>
        </p:spPr>
        <p:txBody>
          <a:bodyPr wrap="square" lIns="0" tIns="0" rIns="0" bIns="0" rtlCol="0" anchor="t"/>
          <a:lstStyle/>
          <a:p>
            <a:pPr marL="0" indent="0">
              <a:buNone/>
            </a:pPr>
            <a:r>
              <a:rPr lang="en-US" sz="1300" dirty="0">
                <a:solidFill>
                  <a:schemeClr val="tx2"/>
                </a:solidFill>
              </a:rPr>
              <a:t>length of each motion primitive</a:t>
            </a:r>
            <a:endParaRPr lang="en-US" sz="1300" dirty="0"/>
          </a:p>
        </p:txBody>
      </p:sp>
      <p:sp>
        <p:nvSpPr>
          <p:cNvPr id="18" name="b144"/>
          <p:cNvSpPr/>
          <p:nvPr/>
        </p:nvSpPr>
        <p:spPr>
          <a:xfrm>
            <a:off x="6071616" y="2926080"/>
            <a:ext cx="2615184" cy="1463040"/>
          </a:xfrm>
          <a:prstGeom prst="roundRect">
            <a:avLst>
              <a:gd name="adj" fmla="val 6250"/>
            </a:avLst>
          </a:prstGeom>
          <a:solidFill>
            <a:srgbClr val="F4F6F8"/>
          </a:solidFill>
          <a:ln/>
        </p:spPr>
      </p:sp>
      <p:sp>
        <p:nvSpPr>
          <p:cNvPr id="19" name="t145"/>
          <p:cNvSpPr txBox="1"/>
          <p:nvPr/>
        </p:nvSpPr>
        <p:spPr>
          <a:xfrm>
            <a:off x="6254496" y="3090672"/>
            <a:ext cx="2286000" cy="594360"/>
          </a:xfrm>
          <a:prstGeom prst="rect">
            <a:avLst/>
          </a:prstGeom>
          <a:noFill/>
          <a:ln/>
        </p:spPr>
        <p:txBody>
          <a:bodyPr wrap="square" lIns="0" tIns="0" rIns="0" bIns="0" rtlCol="0" anchor="ctr"/>
          <a:lstStyle/>
          <a:p>
            <a:pPr marL="0" indent="0">
              <a:buNone/>
            </a:pPr>
            <a:r>
              <a:rPr lang="en-US" sz="3200" b="1" dirty="0">
                <a:solidFill>
                  <a:schemeClr val="accent1"/>
                </a:solidFill>
              </a:rPr>
              <a:t>40,000</a:t>
            </a:r>
            <a:endParaRPr lang="en-US" sz="3200" dirty="0"/>
          </a:p>
        </p:txBody>
      </p:sp>
      <p:sp>
        <p:nvSpPr>
          <p:cNvPr id="20" name="t146"/>
          <p:cNvSpPr txBox="1"/>
          <p:nvPr/>
        </p:nvSpPr>
        <p:spPr>
          <a:xfrm>
            <a:off x="6254496" y="3730752"/>
            <a:ext cx="2286000" cy="594360"/>
          </a:xfrm>
          <a:prstGeom prst="rect">
            <a:avLst/>
          </a:prstGeom>
          <a:noFill/>
          <a:ln/>
        </p:spPr>
        <p:txBody>
          <a:bodyPr wrap="square" lIns="0" tIns="0" rIns="0" bIns="0" rtlCol="0" anchor="t"/>
          <a:lstStyle/>
          <a:p>
            <a:pPr marL="0" indent="0">
              <a:buNone/>
            </a:pPr>
            <a:r>
              <a:rPr lang="en-US" sz="1300" dirty="0">
                <a:solidFill>
                  <a:schemeClr val="tx2"/>
                </a:solidFill>
              </a:rPr>
              <a:t>expansions at most before the search gives up</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The cost function decides what a good path looks like</a:t>
            </a:r>
            <a:endParaRPr lang="en-US" sz="2800" dirty="0"/>
          </a:p>
        </p:txBody>
      </p:sp>
      <p:sp>
        <p:nvSpPr>
          <p:cNvPr id="3" name="t147"/>
          <p:cNvSpPr txBox="1"/>
          <p:nvPr/>
        </p:nvSpPr>
        <p:spPr>
          <a:xfrm>
            <a:off x="457200" y="1188720"/>
            <a:ext cx="1005840" cy="411480"/>
          </a:xfrm>
          <a:prstGeom prst="rect">
            <a:avLst/>
          </a:prstGeom>
          <a:noFill/>
          <a:ln/>
        </p:spPr>
        <p:txBody>
          <a:bodyPr wrap="square" lIns="0" tIns="0" rIns="0" bIns="0" rtlCol="0" anchor="ctr"/>
          <a:lstStyle/>
          <a:p>
            <a:pPr marL="0" indent="0" algn="r">
              <a:buNone/>
            </a:pPr>
            <a:r>
              <a:rPr lang="en-US" sz="2200" b="1" dirty="0">
                <a:solidFill>
                  <a:schemeClr val="accent1"/>
                </a:solidFill>
              </a:rPr>
              <a:t>×1.0</a:t>
            </a:r>
            <a:endParaRPr lang="en-US" sz="2200" dirty="0"/>
          </a:p>
        </p:txBody>
      </p:sp>
      <p:sp>
        <p:nvSpPr>
          <p:cNvPr id="4" name="t148"/>
          <p:cNvSpPr txBox="1"/>
          <p:nvPr/>
        </p:nvSpPr>
        <p:spPr>
          <a:xfrm>
            <a:off x="1691640" y="1188720"/>
            <a:ext cx="3657600" cy="411480"/>
          </a:xfrm>
          <a:prstGeom prst="rect">
            <a:avLst/>
          </a:prstGeom>
          <a:noFill/>
          <a:ln/>
        </p:spPr>
        <p:txBody>
          <a:bodyPr wrap="square" lIns="0" tIns="0" rIns="0" bIns="0" rtlCol="0" anchor="ctr"/>
          <a:lstStyle/>
          <a:p>
            <a:pPr marL="0" indent="0">
              <a:buNone/>
            </a:pPr>
            <a:r>
              <a:rPr lang="en-US" sz="1400" dirty="0">
                <a:solidFill>
                  <a:schemeClr val="tx2"/>
                </a:solidFill>
              </a:rPr>
              <a:t>per metre driven forward</a:t>
            </a:r>
            <a:endParaRPr lang="en-US" sz="1400" dirty="0"/>
          </a:p>
        </p:txBody>
      </p:sp>
      <p:sp>
        <p:nvSpPr>
          <p:cNvPr id="5" name="t149"/>
          <p:cNvSpPr txBox="1"/>
          <p:nvPr/>
        </p:nvSpPr>
        <p:spPr>
          <a:xfrm>
            <a:off x="457200" y="1737360"/>
            <a:ext cx="1005840" cy="411480"/>
          </a:xfrm>
          <a:prstGeom prst="rect">
            <a:avLst/>
          </a:prstGeom>
          <a:noFill/>
          <a:ln/>
        </p:spPr>
        <p:txBody>
          <a:bodyPr wrap="square" lIns="0" tIns="0" rIns="0" bIns="0" rtlCol="0" anchor="ctr"/>
          <a:lstStyle/>
          <a:p>
            <a:pPr marL="0" indent="0" algn="r">
              <a:buNone/>
            </a:pPr>
            <a:r>
              <a:rPr lang="en-US" sz="2200" b="1" dirty="0">
                <a:solidFill>
                  <a:schemeClr val="accent3"/>
                </a:solidFill>
              </a:rPr>
              <a:t>×1.4</a:t>
            </a:r>
            <a:endParaRPr lang="en-US" sz="2200" dirty="0"/>
          </a:p>
        </p:txBody>
      </p:sp>
      <p:sp>
        <p:nvSpPr>
          <p:cNvPr id="6" name="t150"/>
          <p:cNvSpPr txBox="1"/>
          <p:nvPr/>
        </p:nvSpPr>
        <p:spPr>
          <a:xfrm>
            <a:off x="1691640" y="1737360"/>
            <a:ext cx="3657600" cy="411480"/>
          </a:xfrm>
          <a:prstGeom prst="rect">
            <a:avLst/>
          </a:prstGeom>
          <a:noFill/>
          <a:ln/>
        </p:spPr>
        <p:txBody>
          <a:bodyPr wrap="square" lIns="0" tIns="0" rIns="0" bIns="0" rtlCol="0" anchor="ctr"/>
          <a:lstStyle/>
          <a:p>
            <a:pPr marL="0" indent="0">
              <a:buNone/>
            </a:pPr>
            <a:r>
              <a:rPr lang="en-US" sz="1400" dirty="0">
                <a:solidFill>
                  <a:schemeClr val="tx2"/>
                </a:solidFill>
              </a:rPr>
              <a:t>per metre in reverse: slower and harder for a driver</a:t>
            </a:r>
            <a:endParaRPr lang="en-US" sz="1400" dirty="0"/>
          </a:p>
        </p:txBody>
      </p:sp>
      <p:sp>
        <p:nvSpPr>
          <p:cNvPr id="7" name="t151"/>
          <p:cNvSpPr txBox="1"/>
          <p:nvPr/>
        </p:nvSpPr>
        <p:spPr>
          <a:xfrm>
            <a:off x="457200" y="2286000"/>
            <a:ext cx="1005840" cy="411480"/>
          </a:xfrm>
          <a:prstGeom prst="rect">
            <a:avLst/>
          </a:prstGeom>
          <a:noFill/>
          <a:ln/>
        </p:spPr>
        <p:txBody>
          <a:bodyPr wrap="square" lIns="0" tIns="0" rIns="0" bIns="0" rtlCol="0" anchor="ctr"/>
          <a:lstStyle/>
          <a:p>
            <a:pPr marL="0" indent="0" algn="r">
              <a:buNone/>
            </a:pPr>
            <a:r>
              <a:rPr lang="en-US" sz="2200" b="1" dirty="0">
                <a:solidFill>
                  <a:schemeClr val="accent2"/>
                </a:solidFill>
              </a:rPr>
              <a:t>+6</a:t>
            </a:r>
            <a:endParaRPr lang="en-US" sz="2200" dirty="0"/>
          </a:p>
        </p:txBody>
      </p:sp>
      <p:sp>
        <p:nvSpPr>
          <p:cNvPr id="8" name="t152"/>
          <p:cNvSpPr txBox="1"/>
          <p:nvPr/>
        </p:nvSpPr>
        <p:spPr>
          <a:xfrm>
            <a:off x="1691640" y="2286000"/>
            <a:ext cx="3657600" cy="411480"/>
          </a:xfrm>
          <a:prstGeom prst="rect">
            <a:avLst/>
          </a:prstGeom>
          <a:noFill/>
          <a:ln/>
        </p:spPr>
        <p:txBody>
          <a:bodyPr wrap="square" lIns="0" tIns="0" rIns="0" bIns="0" rtlCol="0" anchor="ctr"/>
          <a:lstStyle/>
          <a:p>
            <a:pPr marL="0" indent="0">
              <a:buNone/>
            </a:pPr>
            <a:r>
              <a:rPr lang="en-US" sz="1400" dirty="0">
                <a:solidFill>
                  <a:schemeClr val="tx2"/>
                </a:solidFill>
              </a:rPr>
              <a:t>per gear change, about 6 m of extra driving</a:t>
            </a:r>
            <a:endParaRPr lang="en-US" sz="1400" dirty="0"/>
          </a:p>
        </p:txBody>
      </p:sp>
      <p:sp>
        <p:nvSpPr>
          <p:cNvPr id="9" name="t153"/>
          <p:cNvSpPr txBox="1"/>
          <p:nvPr/>
        </p:nvSpPr>
        <p:spPr>
          <a:xfrm>
            <a:off x="457200" y="2834640"/>
            <a:ext cx="1005840" cy="411480"/>
          </a:xfrm>
          <a:prstGeom prst="rect">
            <a:avLst/>
          </a:prstGeom>
          <a:noFill/>
          <a:ln/>
        </p:spPr>
        <p:txBody>
          <a:bodyPr wrap="square" lIns="0" tIns="0" rIns="0" bIns="0" rtlCol="0" anchor="ctr"/>
          <a:lstStyle/>
          <a:p>
            <a:pPr marL="0" indent="0" algn="r">
              <a:buNone/>
            </a:pPr>
            <a:r>
              <a:rPr lang="en-US" sz="2200" b="1" dirty="0">
                <a:solidFill>
                  <a:schemeClr val="accent4"/>
                </a:solidFill>
              </a:rPr>
              <a:t>+0.25</a:t>
            </a:r>
            <a:endParaRPr lang="en-US" sz="2200" dirty="0"/>
          </a:p>
        </p:txBody>
      </p:sp>
      <p:sp>
        <p:nvSpPr>
          <p:cNvPr id="10" name="t154"/>
          <p:cNvSpPr txBox="1"/>
          <p:nvPr/>
        </p:nvSpPr>
        <p:spPr>
          <a:xfrm>
            <a:off x="1691640" y="2834640"/>
            <a:ext cx="3657600" cy="411480"/>
          </a:xfrm>
          <a:prstGeom prst="rect">
            <a:avLst/>
          </a:prstGeom>
          <a:noFill/>
          <a:ln/>
        </p:spPr>
        <p:txBody>
          <a:bodyPr wrap="square" lIns="0" tIns="0" rIns="0" bIns="0" rtlCol="0" anchor="ctr"/>
          <a:lstStyle/>
          <a:p>
            <a:pPr marL="0" indent="0">
              <a:buNone/>
            </a:pPr>
            <a:r>
              <a:rPr lang="en-US" sz="1400" dirty="0">
                <a:solidFill>
                  <a:schemeClr val="tx2"/>
                </a:solidFill>
              </a:rPr>
              <a:t>per metre, times how hard the primitive steers</a:t>
            </a:r>
            <a:endParaRPr lang="en-US" sz="1400" dirty="0"/>
          </a:p>
        </p:txBody>
      </p:sp>
      <p:sp>
        <p:nvSpPr>
          <p:cNvPr id="11" name="t155"/>
          <p:cNvSpPr txBox="1"/>
          <p:nvPr/>
        </p:nvSpPr>
        <p:spPr>
          <a:xfrm>
            <a:off x="457200" y="3383280"/>
            <a:ext cx="1005840" cy="411480"/>
          </a:xfrm>
          <a:prstGeom prst="rect">
            <a:avLst/>
          </a:prstGeom>
          <a:noFill/>
          <a:ln/>
        </p:spPr>
        <p:txBody>
          <a:bodyPr wrap="square" lIns="0" tIns="0" rIns="0" bIns="0" rtlCol="0" anchor="ctr"/>
          <a:lstStyle/>
          <a:p>
            <a:pPr marL="0" indent="0" algn="r">
              <a:buNone/>
            </a:pPr>
            <a:r>
              <a:rPr lang="en-US" sz="2200" b="1" dirty="0">
                <a:solidFill>
                  <a:schemeClr val="accent4"/>
                </a:solidFill>
              </a:rPr>
              <a:t>+0.6</a:t>
            </a:r>
            <a:endParaRPr lang="en-US" sz="2200" dirty="0"/>
          </a:p>
        </p:txBody>
      </p:sp>
      <p:sp>
        <p:nvSpPr>
          <p:cNvPr id="12" name="t156"/>
          <p:cNvSpPr txBox="1"/>
          <p:nvPr/>
        </p:nvSpPr>
        <p:spPr>
          <a:xfrm>
            <a:off x="1691640" y="3383280"/>
            <a:ext cx="3657600" cy="411480"/>
          </a:xfrm>
          <a:prstGeom prst="rect">
            <a:avLst/>
          </a:prstGeom>
          <a:noFill/>
          <a:ln/>
        </p:spPr>
        <p:txBody>
          <a:bodyPr wrap="square" lIns="0" tIns="0" rIns="0" bIns="0" rtlCol="0" anchor="ctr"/>
          <a:lstStyle/>
          <a:p>
            <a:pPr marL="0" indent="0">
              <a:buNone/>
            </a:pPr>
            <a:r>
              <a:rPr lang="en-US" sz="1400" dirty="0">
                <a:solidFill>
                  <a:schemeClr val="tx2"/>
                </a:solidFill>
              </a:rPr>
              <a:t>times the change in steering target between arcs</a:t>
            </a:r>
            <a:endParaRPr lang="en-US" sz="1400" dirty="0"/>
          </a:p>
        </p:txBody>
      </p:sp>
      <p:sp>
        <p:nvSpPr>
          <p:cNvPr id="13" name="t157"/>
          <p:cNvSpPr txBox="1"/>
          <p:nvPr/>
        </p:nvSpPr>
        <p:spPr>
          <a:xfrm>
            <a:off x="457200" y="3931920"/>
            <a:ext cx="1005840" cy="411480"/>
          </a:xfrm>
          <a:prstGeom prst="rect">
            <a:avLst/>
          </a:prstGeom>
          <a:noFill/>
          <a:ln/>
        </p:spPr>
        <p:txBody>
          <a:bodyPr wrap="square" lIns="0" tIns="0" rIns="0" bIns="0" rtlCol="0" anchor="ctr"/>
          <a:lstStyle/>
          <a:p>
            <a:pPr marL="0" indent="0" algn="r">
              <a:buNone/>
            </a:pPr>
            <a:r>
              <a:rPr lang="en-US" sz="2200" b="1" dirty="0">
                <a:solidFill>
                  <a:schemeClr val="accent4"/>
                </a:solidFill>
              </a:rPr>
              <a:t>+0.6</a:t>
            </a:r>
            <a:endParaRPr lang="en-US" sz="2200" dirty="0"/>
          </a:p>
        </p:txBody>
      </p:sp>
      <p:sp>
        <p:nvSpPr>
          <p:cNvPr id="14" name="t158"/>
          <p:cNvSpPr txBox="1"/>
          <p:nvPr/>
        </p:nvSpPr>
        <p:spPr>
          <a:xfrm>
            <a:off x="1691640" y="3931920"/>
            <a:ext cx="3657600" cy="411480"/>
          </a:xfrm>
          <a:prstGeom prst="rect">
            <a:avLst/>
          </a:prstGeom>
          <a:noFill/>
          <a:ln/>
        </p:spPr>
        <p:txBody>
          <a:bodyPr wrap="square" lIns="0" tIns="0" rIns="0" bIns="0" rtlCol="0" anchor="ctr"/>
          <a:lstStyle/>
          <a:p>
            <a:pPr marL="0" indent="0">
              <a:buNone/>
            </a:pPr>
            <a:r>
              <a:rPr lang="en-US" sz="1400" dirty="0">
                <a:solidFill>
                  <a:schemeClr val="tx2"/>
                </a:solidFill>
              </a:rPr>
              <a:t>per metre, times how far the hitch angle is from straight</a:t>
            </a:r>
            <a:endParaRPr lang="en-US" sz="1400" dirty="0"/>
          </a:p>
        </p:txBody>
      </p:sp>
      <p:sp>
        <p:nvSpPr>
          <p:cNvPr id="15" name="b159"/>
          <p:cNvSpPr/>
          <p:nvPr/>
        </p:nvSpPr>
        <p:spPr>
          <a:xfrm>
            <a:off x="5715000" y="1188720"/>
            <a:ext cx="2971800" cy="3108960"/>
          </a:xfrm>
          <a:prstGeom prst="roundRect">
            <a:avLst>
              <a:gd name="adj" fmla="val 3077"/>
            </a:avLst>
          </a:prstGeom>
          <a:solidFill>
            <a:srgbClr val="1E2A33"/>
          </a:solidFill>
          <a:ln/>
        </p:spPr>
      </p:sp>
      <p:sp>
        <p:nvSpPr>
          <p:cNvPr id="16" name="t160"/>
          <p:cNvSpPr txBox="1"/>
          <p:nvPr/>
        </p:nvSpPr>
        <p:spPr>
          <a:xfrm>
            <a:off x="5943600" y="1371600"/>
            <a:ext cx="2560320" cy="365760"/>
          </a:xfrm>
          <a:prstGeom prst="rect">
            <a:avLst/>
          </a:prstGeom>
          <a:noFill/>
          <a:ln/>
        </p:spPr>
        <p:txBody>
          <a:bodyPr wrap="square" lIns="0" tIns="0" rIns="0" bIns="0" rtlCol="0" anchor="t"/>
          <a:lstStyle/>
          <a:p>
            <a:pPr marL="0" indent="0">
              <a:buNone/>
            </a:pPr>
            <a:r>
              <a:rPr lang="en-US" sz="1800" b="1" dirty="0">
                <a:solidFill>
                  <a:schemeClr val="accent2"/>
                </a:solidFill>
              </a:rPr>
              <a:t>Net effect</a:t>
            </a:r>
            <a:endParaRPr lang="en-US" sz="1800" dirty="0"/>
          </a:p>
        </p:txBody>
      </p:sp>
      <p:sp>
        <p:nvSpPr>
          <p:cNvPr id="17" name="t161"/>
          <p:cNvSpPr txBox="1"/>
          <p:nvPr/>
        </p:nvSpPr>
        <p:spPr>
          <a:xfrm>
            <a:off x="5943600" y="1874520"/>
            <a:ext cx="256032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Few gear changes</a:t>
            </a:r>
            <a:endParaRPr lang="en-US" sz="1500" dirty="0"/>
          </a:p>
          <a:p>
            <a:pPr marL="342900" indent="-342900">
              <a:spcAft>
                <a:spcPts val="800"/>
              </a:spcAft>
              <a:buSzPct val="100000"/>
              <a:buChar char="•"/>
            </a:pPr>
            <a:r>
              <a:rPr lang="en-US" sz="1500" dirty="0">
                <a:solidFill>
                  <a:schemeClr val="bg1"/>
                </a:solidFill>
              </a:rPr>
              <a:t>Short reverse legs</a:t>
            </a:r>
            <a:endParaRPr lang="en-US" sz="1500" dirty="0"/>
          </a:p>
          <a:p>
            <a:pPr marL="342900" indent="-342900">
              <a:spcAft>
                <a:spcPts val="800"/>
              </a:spcAft>
              <a:buSzPct val="100000"/>
              <a:buChar char="•"/>
            </a:pPr>
            <a:r>
              <a:rPr lang="en-US" sz="1500" dirty="0">
                <a:solidFill>
                  <a:schemeClr val="bg1"/>
                </a:solidFill>
              </a:rPr>
              <a:t>Gentle, steady steering</a:t>
            </a:r>
            <a:endParaRPr lang="en-US" sz="1500" dirty="0"/>
          </a:p>
          <a:p>
            <a:pPr marL="342900" indent="-342900">
              <a:spcAft>
                <a:spcPts val="800"/>
              </a:spcAft>
              <a:buSzPct val="100000"/>
              <a:buChar char="•"/>
            </a:pPr>
            <a:r>
              <a:rPr lang="en-US" sz="1500" dirty="0">
                <a:solidFill>
                  <a:schemeClr val="bg1"/>
                </a:solidFill>
              </a:rPr>
              <a:t>Trailer kept nearly straight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Our heuristic and shot follow the trailer axle</a:t>
            </a:r>
            <a:endParaRPr lang="en-US" sz="2800" dirty="0"/>
          </a:p>
        </p:txBody>
      </p:sp>
      <p:sp>
        <p:nvSpPr>
          <p:cNvPr id="3" name="b162"/>
          <p:cNvSpPr/>
          <p:nvPr/>
        </p:nvSpPr>
        <p:spPr>
          <a:xfrm>
            <a:off x="457200" y="1188720"/>
            <a:ext cx="8229600" cy="685800"/>
          </a:xfrm>
          <a:prstGeom prst="roundRect">
            <a:avLst>
              <a:gd name="adj" fmla="val 10667"/>
            </a:avLst>
          </a:prstGeom>
          <a:solidFill>
            <a:srgbClr val="DCEBEE"/>
          </a:solidFill>
          <a:ln/>
        </p:spPr>
      </p:sp>
      <p:sp>
        <p:nvSpPr>
          <p:cNvPr id="4" name="t163"/>
          <p:cNvSpPr txBox="1"/>
          <p:nvPr/>
        </p:nvSpPr>
        <p:spPr>
          <a:xfrm>
            <a:off x="685800" y="1188720"/>
            <a:ext cx="7772400" cy="685800"/>
          </a:xfrm>
          <a:prstGeom prst="rect">
            <a:avLst/>
          </a:prstGeom>
          <a:noFill/>
          <a:ln/>
        </p:spPr>
        <p:txBody>
          <a:bodyPr wrap="square" lIns="0" tIns="0" rIns="0" bIns="0" rtlCol="0" anchor="ctr"/>
          <a:lstStyle/>
          <a:p>
            <a:pPr marL="0" indent="0">
              <a:buNone/>
            </a:pPr>
            <a:r>
              <a:rPr lang="en-US" sz="1400" b="1" dirty="0">
                <a:solidFill>
                  <a:schemeClr val="accent1"/>
                </a:solidFill>
              </a:rPr>
              <a:t>Key fact: </a:t>
            </a:r>
            <a:r>
              <a:rPr lang="en-US" sz="1400" dirty="0">
                <a:solidFill>
                  <a:schemeClr val="tx1"/>
                </a:solidFill>
              </a:rPr>
              <a:t>the curvature of the trailer axle's path fixes the hitch angle. So the trailer axle behaves like a car whose steering wheel is ψ.</a:t>
            </a:r>
            <a:endParaRPr lang="en-US" sz="1400" dirty="0"/>
          </a:p>
        </p:txBody>
      </p:sp>
      <p:sp>
        <p:nvSpPr>
          <p:cNvPr id="5" name="d164"/>
          <p:cNvSpPr/>
          <p:nvPr/>
        </p:nvSpPr>
        <p:spPr>
          <a:xfrm>
            <a:off x="457200" y="2148840"/>
            <a:ext cx="292608" cy="292608"/>
          </a:xfrm>
          <a:prstGeom prst="ellipse">
            <a:avLst/>
          </a:prstGeom>
          <a:solidFill>
            <a:srgbClr val="1F7A8C"/>
          </a:solidFill>
          <a:ln/>
        </p:spPr>
      </p:sp>
      <p:sp>
        <p:nvSpPr>
          <p:cNvPr id="6" name="t165"/>
          <p:cNvSpPr txBox="1"/>
          <p:nvPr/>
        </p:nvSpPr>
        <p:spPr>
          <a:xfrm>
            <a:off x="868680" y="2121408"/>
            <a:ext cx="3474720" cy="365760"/>
          </a:xfrm>
          <a:prstGeom prst="rect">
            <a:avLst/>
          </a:prstGeom>
          <a:noFill/>
          <a:ln/>
        </p:spPr>
        <p:txBody>
          <a:bodyPr wrap="square" lIns="0" tIns="0" rIns="0" bIns="0" rtlCol="0" anchor="t"/>
          <a:lstStyle/>
          <a:p>
            <a:pPr marL="0" indent="0">
              <a:buNone/>
            </a:pPr>
            <a:r>
              <a:rPr lang="en-US" sz="1700" b="1" dirty="0">
                <a:solidFill>
                  <a:schemeClr val="tx1"/>
                </a:solidFill>
              </a:rPr>
              <a:t>Heuristic</a:t>
            </a:r>
            <a:endParaRPr lang="en-US" sz="1700" dirty="0"/>
          </a:p>
        </p:txBody>
      </p:sp>
      <p:sp>
        <p:nvSpPr>
          <p:cNvPr id="7" name="t166"/>
          <p:cNvSpPr txBox="1"/>
          <p:nvPr/>
        </p:nvSpPr>
        <p:spPr>
          <a:xfrm>
            <a:off x="868680" y="2560320"/>
            <a:ext cx="352044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max( Dubins length of the trailer axle, radius 10 m ; Dijkstra distance around obstacles )</a:t>
            </a:r>
            <a:endParaRPr lang="en-US" sz="1300" dirty="0"/>
          </a:p>
          <a:p>
            <a:pPr marL="342900" indent="-342900">
              <a:spcAft>
                <a:spcPts val="600"/>
              </a:spcAft>
              <a:buSzPct val="100000"/>
              <a:buChar char="•"/>
            </a:pPr>
            <a:r>
              <a:rPr lang="en-US" sz="1300" dirty="0">
                <a:solidFill>
                  <a:schemeClr val="tx2"/>
                </a:solidFill>
              </a:rPr>
              <a:t>plus a term for the current hitch angle</a:t>
            </a:r>
            <a:endParaRPr lang="en-US" sz="1300" dirty="0"/>
          </a:p>
          <a:p>
            <a:pPr marL="342900" indent="-342900">
              <a:spcAft>
                <a:spcPts val="600"/>
              </a:spcAft>
              <a:buSzPct val="100000"/>
              <a:buChar char="•"/>
            </a:pPr>
            <a:r>
              <a:rPr lang="en-US" sz="1300" dirty="0">
                <a:solidFill>
                  <a:schemeClr val="tx2"/>
                </a:solidFill>
              </a:rPr>
              <a:t>weighted ×3: greedier and much faster, not strictly optimal</a:t>
            </a:r>
            <a:endParaRPr lang="en-US" sz="1300" dirty="0"/>
          </a:p>
        </p:txBody>
      </p:sp>
      <p:sp>
        <p:nvSpPr>
          <p:cNvPr id="8" name="d167"/>
          <p:cNvSpPr/>
          <p:nvPr/>
        </p:nvSpPr>
        <p:spPr>
          <a:xfrm>
            <a:off x="4709160" y="2148840"/>
            <a:ext cx="292608" cy="292608"/>
          </a:xfrm>
          <a:prstGeom prst="ellipse">
            <a:avLst/>
          </a:prstGeom>
          <a:solidFill>
            <a:srgbClr val="E8A33D"/>
          </a:solidFill>
          <a:ln/>
        </p:spPr>
      </p:sp>
      <p:sp>
        <p:nvSpPr>
          <p:cNvPr id="9" name="t168"/>
          <p:cNvSpPr txBox="1"/>
          <p:nvPr/>
        </p:nvSpPr>
        <p:spPr>
          <a:xfrm>
            <a:off x="5120640" y="2121408"/>
            <a:ext cx="3474720" cy="365760"/>
          </a:xfrm>
          <a:prstGeom prst="rect">
            <a:avLst/>
          </a:prstGeom>
          <a:noFill/>
          <a:ln/>
        </p:spPr>
        <p:txBody>
          <a:bodyPr wrap="square" lIns="0" tIns="0" rIns="0" bIns="0" rtlCol="0" anchor="t"/>
          <a:lstStyle/>
          <a:p>
            <a:pPr marL="0" indent="0">
              <a:buNone/>
            </a:pPr>
            <a:r>
              <a:rPr lang="en-US" sz="1700" b="1" dirty="0">
                <a:solidFill>
                  <a:schemeClr val="tx1"/>
                </a:solidFill>
              </a:rPr>
              <a:t>Shot into the bay</a:t>
            </a:r>
            <a:endParaRPr lang="en-US" sz="1700" dirty="0"/>
          </a:p>
        </p:txBody>
      </p:sp>
      <p:sp>
        <p:nvSpPr>
          <p:cNvPr id="10" name="t169"/>
          <p:cNvSpPr txBox="1"/>
          <p:nvPr/>
        </p:nvSpPr>
        <p:spPr>
          <a:xfrm>
            <a:off x="5120640" y="2560320"/>
            <a:ext cx="352044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tried when within 45 m (Dubins) or already lined up with the bay</a:t>
            </a:r>
            <a:endParaRPr lang="en-US" sz="1300" dirty="0"/>
          </a:p>
          <a:p>
            <a:pPr marL="342900" indent="-342900">
              <a:spcAft>
                <a:spcPts val="600"/>
              </a:spcAft>
              <a:buSzPct val="100000"/>
              <a:buChar char="•"/>
            </a:pPr>
            <a:r>
              <a:rPr lang="en-US" sz="1300" dirty="0">
                <a:solidFill>
                  <a:schemeClr val="tx2"/>
                </a:solidFill>
              </a:rPr>
              <a:t>a Dubins path for the trailer axle, driven on the real model by a controller</a:t>
            </a:r>
            <a:endParaRPr lang="en-US" sz="1300" dirty="0"/>
          </a:p>
          <a:p>
            <a:pPr marL="342900" indent="-342900">
              <a:spcAft>
                <a:spcPts val="600"/>
              </a:spcAft>
              <a:buSzPct val="100000"/>
              <a:buChar char="•"/>
            </a:pPr>
            <a:r>
              <a:rPr lang="en-US" sz="1300" dirty="0">
                <a:solidFill>
                  <a:schemeClr val="tx2"/>
                </a:solidFill>
              </a:rPr>
              <a:t>accepted only if it ends in the bay: within 0.35 m, 4°, hitch within 5°, clear the whole way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A real search: cross yard, fill 1, bay 6</a:t>
            </a:r>
            <a:endParaRPr lang="en-US" sz="2800" dirty="0"/>
          </a:p>
        </p:txBody>
      </p:sp>
      <p:pic>
        <p:nvPicPr>
          <p:cNvPr id="3" name="img170" descr="search.png"/>
          <p:cNvPicPr>
            <a:picLocks noChangeAspect="1"/>
          </p:cNvPicPr>
          <p:nvPr/>
        </p:nvPicPr>
        <p:blipFill>
          <a:blip r:embed="rId3"/>
          <a:stretch>
            <a:fillRect/>
          </a:stretch>
        </p:blipFill>
        <p:spPr>
          <a:xfrm>
            <a:off x="457200" y="1051560"/>
            <a:ext cx="3291840" cy="3621024"/>
          </a:xfrm>
          <a:prstGeom prst="rect">
            <a:avLst/>
          </a:prstGeom>
        </p:spPr>
      </p:pic>
      <p:sp>
        <p:nvSpPr>
          <p:cNvPr id="4" name="t171"/>
          <p:cNvSpPr txBox="1"/>
          <p:nvPr/>
        </p:nvSpPr>
        <p:spPr>
          <a:xfrm>
            <a:off x="4114800" y="1188720"/>
            <a:ext cx="1554480" cy="548640"/>
          </a:xfrm>
          <a:prstGeom prst="rect">
            <a:avLst/>
          </a:prstGeom>
          <a:noFill/>
          <a:ln/>
        </p:spPr>
        <p:txBody>
          <a:bodyPr wrap="square" lIns="0" tIns="0" rIns="0" bIns="0" rtlCol="0" anchor="ctr"/>
          <a:lstStyle/>
          <a:p>
            <a:pPr marL="0" indent="0">
              <a:buNone/>
            </a:pPr>
            <a:r>
              <a:rPr lang="en-US" sz="3000" b="1" dirty="0">
                <a:solidFill>
                  <a:schemeClr val="accent1"/>
                </a:solidFill>
              </a:rPr>
              <a:t>185</a:t>
            </a:r>
            <a:endParaRPr lang="en-US" sz="3000" dirty="0"/>
          </a:p>
        </p:txBody>
      </p:sp>
      <p:sp>
        <p:nvSpPr>
          <p:cNvPr id="5" name="t172"/>
          <p:cNvSpPr txBox="1"/>
          <p:nvPr/>
        </p:nvSpPr>
        <p:spPr>
          <a:xfrm>
            <a:off x="5760720" y="1188720"/>
            <a:ext cx="2926080" cy="548640"/>
          </a:xfrm>
          <a:prstGeom prst="rect">
            <a:avLst/>
          </a:prstGeom>
          <a:noFill/>
          <a:ln/>
        </p:spPr>
        <p:txBody>
          <a:bodyPr wrap="square" lIns="0" tIns="0" rIns="0" bIns="0" rtlCol="0" anchor="ctr"/>
          <a:lstStyle/>
          <a:p>
            <a:pPr marL="0" indent="0">
              <a:buNone/>
            </a:pPr>
            <a:r>
              <a:rPr lang="en-US" sz="1400" dirty="0">
                <a:solidFill>
                  <a:schemeClr val="tx2"/>
                </a:solidFill>
              </a:rPr>
              <a:t>nodes expanded</a:t>
            </a:r>
            <a:endParaRPr lang="en-US" sz="1400" dirty="0"/>
          </a:p>
        </p:txBody>
      </p:sp>
      <p:sp>
        <p:nvSpPr>
          <p:cNvPr id="6" name="t173"/>
          <p:cNvSpPr txBox="1"/>
          <p:nvPr/>
        </p:nvSpPr>
        <p:spPr>
          <a:xfrm>
            <a:off x="4114800" y="1938528"/>
            <a:ext cx="1554480" cy="548640"/>
          </a:xfrm>
          <a:prstGeom prst="rect">
            <a:avLst/>
          </a:prstGeom>
          <a:noFill/>
          <a:ln/>
        </p:spPr>
        <p:txBody>
          <a:bodyPr wrap="square" lIns="0" tIns="0" rIns="0" bIns="0" rtlCol="0" anchor="ctr"/>
          <a:lstStyle/>
          <a:p>
            <a:pPr marL="0" indent="0">
              <a:buNone/>
            </a:pPr>
            <a:r>
              <a:rPr lang="en-US" sz="3000" b="1" dirty="0">
                <a:solidFill>
                  <a:schemeClr val="accent1"/>
                </a:solidFill>
              </a:rPr>
              <a:t>1,840</a:t>
            </a:r>
            <a:endParaRPr lang="en-US" sz="3000" dirty="0"/>
          </a:p>
        </p:txBody>
      </p:sp>
      <p:sp>
        <p:nvSpPr>
          <p:cNvPr id="7" name="t174"/>
          <p:cNvSpPr txBox="1"/>
          <p:nvPr/>
        </p:nvSpPr>
        <p:spPr>
          <a:xfrm>
            <a:off x="5760720" y="1938528"/>
            <a:ext cx="2926080" cy="548640"/>
          </a:xfrm>
          <a:prstGeom prst="rect">
            <a:avLst/>
          </a:prstGeom>
          <a:noFill/>
          <a:ln/>
        </p:spPr>
        <p:txBody>
          <a:bodyPr wrap="square" lIns="0" tIns="0" rIns="0" bIns="0" rtlCol="0" anchor="ctr"/>
          <a:lstStyle/>
          <a:p>
            <a:pPr marL="0" indent="0">
              <a:buNone/>
            </a:pPr>
            <a:r>
              <a:rPr lang="en-US" sz="1400" dirty="0">
                <a:solidFill>
                  <a:schemeClr val="tx2"/>
                </a:solidFill>
              </a:rPr>
              <a:t>primitives driven and checked</a:t>
            </a:r>
            <a:endParaRPr lang="en-US" sz="1400" dirty="0"/>
          </a:p>
        </p:txBody>
      </p:sp>
      <p:sp>
        <p:nvSpPr>
          <p:cNvPr id="8" name="t175"/>
          <p:cNvSpPr txBox="1"/>
          <p:nvPr/>
        </p:nvSpPr>
        <p:spPr>
          <a:xfrm>
            <a:off x="4114800" y="2688336"/>
            <a:ext cx="1554480" cy="548640"/>
          </a:xfrm>
          <a:prstGeom prst="rect">
            <a:avLst/>
          </a:prstGeom>
          <a:noFill/>
          <a:ln/>
        </p:spPr>
        <p:txBody>
          <a:bodyPr wrap="square" lIns="0" tIns="0" rIns="0" bIns="0" rtlCol="0" anchor="ctr"/>
          <a:lstStyle/>
          <a:p>
            <a:pPr marL="0" indent="0">
              <a:buNone/>
            </a:pPr>
            <a:r>
              <a:rPr lang="en-US" sz="3000" b="1" dirty="0">
                <a:solidFill>
                  <a:schemeClr val="accent2"/>
                </a:solidFill>
              </a:rPr>
              <a:t>137</a:t>
            </a:r>
            <a:endParaRPr lang="en-US" sz="3000" dirty="0"/>
          </a:p>
        </p:txBody>
      </p:sp>
      <p:sp>
        <p:nvSpPr>
          <p:cNvPr id="9" name="t176"/>
          <p:cNvSpPr txBox="1"/>
          <p:nvPr/>
        </p:nvSpPr>
        <p:spPr>
          <a:xfrm>
            <a:off x="5760720" y="2688336"/>
            <a:ext cx="2926080" cy="548640"/>
          </a:xfrm>
          <a:prstGeom prst="rect">
            <a:avLst/>
          </a:prstGeom>
          <a:noFill/>
          <a:ln/>
        </p:spPr>
        <p:txBody>
          <a:bodyPr wrap="square" lIns="0" tIns="0" rIns="0" bIns="0" rtlCol="0" anchor="ctr"/>
          <a:lstStyle/>
          <a:p>
            <a:pPr marL="0" indent="0">
              <a:buNone/>
            </a:pPr>
            <a:r>
              <a:rPr lang="en-US" sz="1400" dirty="0">
                <a:solidFill>
                  <a:schemeClr val="tx2"/>
                </a:solidFill>
              </a:rPr>
              <a:t>shots tried; the last one reached the bay</a:t>
            </a:r>
            <a:endParaRPr lang="en-US" sz="1400" dirty="0"/>
          </a:p>
        </p:txBody>
      </p:sp>
      <p:sp>
        <p:nvSpPr>
          <p:cNvPr id="10" name="t177"/>
          <p:cNvSpPr txBox="1"/>
          <p:nvPr/>
        </p:nvSpPr>
        <p:spPr>
          <a:xfrm>
            <a:off x="4114800" y="3438144"/>
            <a:ext cx="1554480" cy="548640"/>
          </a:xfrm>
          <a:prstGeom prst="rect">
            <a:avLst/>
          </a:prstGeom>
          <a:noFill/>
          <a:ln/>
        </p:spPr>
        <p:txBody>
          <a:bodyPr wrap="square" lIns="0" tIns="0" rIns="0" bIns="0" rtlCol="0" anchor="ctr"/>
          <a:lstStyle/>
          <a:p>
            <a:pPr marL="0" indent="0">
              <a:buNone/>
            </a:pPr>
            <a:r>
              <a:rPr lang="en-US" sz="3000" b="1" dirty="0">
                <a:solidFill>
                  <a:schemeClr val="accent1"/>
                </a:solidFill>
              </a:rPr>
              <a:t>0.14 s</a:t>
            </a:r>
            <a:endParaRPr lang="en-US" sz="3000" dirty="0"/>
          </a:p>
        </p:txBody>
      </p:sp>
      <p:sp>
        <p:nvSpPr>
          <p:cNvPr id="11" name="t178"/>
          <p:cNvSpPr txBox="1"/>
          <p:nvPr/>
        </p:nvSpPr>
        <p:spPr>
          <a:xfrm>
            <a:off x="5760720" y="3438144"/>
            <a:ext cx="2926080" cy="548640"/>
          </a:xfrm>
          <a:prstGeom prst="rect">
            <a:avLst/>
          </a:prstGeom>
          <a:noFill/>
          <a:ln/>
        </p:spPr>
        <p:txBody>
          <a:bodyPr wrap="square" lIns="0" tIns="0" rIns="0" bIns="0" rtlCol="0" anchor="ctr"/>
          <a:lstStyle/>
          <a:p>
            <a:pPr marL="0" indent="0">
              <a:buNone/>
            </a:pPr>
            <a:r>
              <a:rPr lang="en-US" sz="1400" dirty="0">
                <a:solidFill>
                  <a:schemeClr val="tx2"/>
                </a:solidFill>
              </a:rPr>
              <a:t>planning time on our laptop</a:t>
            </a:r>
            <a:endParaRPr lang="en-US" sz="1400" dirty="0"/>
          </a:p>
        </p:txBody>
      </p:sp>
      <p:sp>
        <p:nvSpPr>
          <p:cNvPr id="12" name="b179"/>
          <p:cNvSpPr/>
          <p:nvPr/>
        </p:nvSpPr>
        <p:spPr>
          <a:xfrm>
            <a:off x="4114800" y="4315968"/>
            <a:ext cx="274320" cy="91440"/>
          </a:xfrm>
          <a:prstGeom prst="rect">
            <a:avLst/>
          </a:prstGeom>
          <a:solidFill>
            <a:srgbClr val="DCEBEE"/>
          </a:solidFill>
          <a:ln/>
        </p:spPr>
      </p:sp>
      <p:sp>
        <p:nvSpPr>
          <p:cNvPr id="13" name="t180"/>
          <p:cNvSpPr txBox="1"/>
          <p:nvPr/>
        </p:nvSpPr>
        <p:spPr>
          <a:xfrm>
            <a:off x="4462272" y="4206240"/>
            <a:ext cx="1234440" cy="411480"/>
          </a:xfrm>
          <a:prstGeom prst="rect">
            <a:avLst/>
          </a:prstGeom>
          <a:noFill/>
          <a:ln/>
        </p:spPr>
        <p:txBody>
          <a:bodyPr wrap="square" lIns="0" tIns="0" rIns="0" bIns="0" rtlCol="0" anchor="t"/>
          <a:lstStyle/>
          <a:p>
            <a:pPr marL="0" indent="0">
              <a:buNone/>
            </a:pPr>
            <a:r>
              <a:rPr lang="en-US" sz="1000" dirty="0">
                <a:solidFill>
                  <a:schemeClr val="accent4"/>
                </a:solidFill>
              </a:rPr>
              <a:t>Primitives tried</a:t>
            </a:r>
            <a:endParaRPr lang="en-US" sz="1000" dirty="0"/>
          </a:p>
        </p:txBody>
      </p:sp>
      <p:sp>
        <p:nvSpPr>
          <p:cNvPr id="14" name="b181"/>
          <p:cNvSpPr/>
          <p:nvPr/>
        </p:nvSpPr>
        <p:spPr>
          <a:xfrm>
            <a:off x="5715000" y="4315968"/>
            <a:ext cx="274320" cy="91440"/>
          </a:xfrm>
          <a:prstGeom prst="rect">
            <a:avLst/>
          </a:prstGeom>
          <a:solidFill>
            <a:srgbClr val="1F7A8C"/>
          </a:solidFill>
          <a:ln/>
        </p:spPr>
      </p:sp>
      <p:sp>
        <p:nvSpPr>
          <p:cNvPr id="15" name="t182"/>
          <p:cNvSpPr txBox="1"/>
          <p:nvPr/>
        </p:nvSpPr>
        <p:spPr>
          <a:xfrm>
            <a:off x="6062472" y="4206240"/>
            <a:ext cx="1234440" cy="411480"/>
          </a:xfrm>
          <a:prstGeom prst="rect">
            <a:avLst/>
          </a:prstGeom>
          <a:noFill/>
          <a:ln/>
        </p:spPr>
        <p:txBody>
          <a:bodyPr wrap="square" lIns="0" tIns="0" rIns="0" bIns="0" rtlCol="0" anchor="t"/>
          <a:lstStyle/>
          <a:p>
            <a:pPr marL="0" indent="0">
              <a:buNone/>
            </a:pPr>
            <a:r>
              <a:rPr lang="en-US" sz="1000" dirty="0">
                <a:solidFill>
                  <a:schemeClr val="accent4"/>
                </a:solidFill>
              </a:rPr>
              <a:t>Path found by the search</a:t>
            </a:r>
            <a:endParaRPr lang="en-US" sz="1000" dirty="0"/>
          </a:p>
        </p:txBody>
      </p:sp>
      <p:sp>
        <p:nvSpPr>
          <p:cNvPr id="16" name="b183"/>
          <p:cNvSpPr/>
          <p:nvPr/>
        </p:nvSpPr>
        <p:spPr>
          <a:xfrm>
            <a:off x="7315200" y="4315968"/>
            <a:ext cx="274320" cy="91440"/>
          </a:xfrm>
          <a:prstGeom prst="rect">
            <a:avLst/>
          </a:prstGeom>
          <a:solidFill>
            <a:srgbClr val="E8A33D"/>
          </a:solidFill>
          <a:ln/>
        </p:spPr>
      </p:sp>
      <p:sp>
        <p:nvSpPr>
          <p:cNvPr id="17" name="t184"/>
          <p:cNvSpPr txBox="1"/>
          <p:nvPr/>
        </p:nvSpPr>
        <p:spPr>
          <a:xfrm>
            <a:off x="7662672" y="4206240"/>
            <a:ext cx="1234440" cy="411480"/>
          </a:xfrm>
          <a:prstGeom prst="rect">
            <a:avLst/>
          </a:prstGeom>
          <a:noFill/>
          <a:ln/>
        </p:spPr>
        <p:txBody>
          <a:bodyPr wrap="square" lIns="0" tIns="0" rIns="0" bIns="0" rtlCol="0" anchor="t"/>
          <a:lstStyle/>
          <a:p>
            <a:pPr marL="0" indent="0">
              <a:buNone/>
            </a:pPr>
            <a:r>
              <a:rPr lang="en-US" sz="1000" dirty="0">
                <a:solidFill>
                  <a:schemeClr val="accent4"/>
                </a:solidFill>
              </a:rPr>
              <a:t>The shot into the bay (dashed)</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The final path: 82 m, one gear change</a:t>
            </a:r>
            <a:endParaRPr lang="en-US" sz="2800" dirty="0"/>
          </a:p>
        </p:txBody>
      </p:sp>
      <p:pic>
        <p:nvPicPr>
          <p:cNvPr id="3" name="img185" descr="path.png"/>
          <p:cNvPicPr>
            <a:picLocks noChangeAspect="1"/>
          </p:cNvPicPr>
          <p:nvPr/>
        </p:nvPicPr>
        <p:blipFill>
          <a:blip r:embed="rId3"/>
          <a:stretch>
            <a:fillRect/>
          </a:stretch>
        </p:blipFill>
        <p:spPr>
          <a:xfrm>
            <a:off x="457200" y="1051560"/>
            <a:ext cx="3291840" cy="3621024"/>
          </a:xfrm>
          <a:prstGeom prst="rect">
            <a:avLst/>
          </a:prstGeom>
        </p:spPr>
      </p:pic>
      <p:sp>
        <p:nvSpPr>
          <p:cNvPr id="4" name="d186"/>
          <p:cNvSpPr/>
          <p:nvPr/>
        </p:nvSpPr>
        <p:spPr>
          <a:xfrm>
            <a:off x="4114800" y="1234440"/>
            <a:ext cx="365760" cy="365760"/>
          </a:xfrm>
          <a:prstGeom prst="ellipse">
            <a:avLst/>
          </a:prstGeom>
          <a:solidFill>
            <a:srgbClr val="1F7A8C"/>
          </a:solidFill>
          <a:ln/>
        </p:spPr>
      </p:sp>
      <p:sp>
        <p:nvSpPr>
          <p:cNvPr id="5" name="t187"/>
          <p:cNvSpPr txBox="1"/>
          <p:nvPr/>
        </p:nvSpPr>
        <p:spPr>
          <a:xfrm>
            <a:off x="4114800" y="12344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188"/>
          <p:cNvSpPr txBox="1"/>
          <p:nvPr/>
        </p:nvSpPr>
        <p:spPr>
          <a:xfrm>
            <a:off x="4617720" y="1216152"/>
            <a:ext cx="4069080" cy="329184"/>
          </a:xfrm>
          <a:prstGeom prst="rect">
            <a:avLst/>
          </a:prstGeom>
          <a:noFill/>
          <a:ln/>
        </p:spPr>
        <p:txBody>
          <a:bodyPr wrap="square" lIns="0" tIns="0" rIns="0" bIns="0" rtlCol="0" anchor="t"/>
          <a:lstStyle/>
          <a:p>
            <a:pPr marL="0" indent="0">
              <a:buNone/>
            </a:pPr>
            <a:r>
              <a:rPr lang="en-US" sz="1600" b="1" dirty="0">
                <a:solidFill>
                  <a:schemeClr val="tx1"/>
                </a:solidFill>
              </a:rPr>
              <a:t>Shorten</a:t>
            </a:r>
            <a:endParaRPr lang="en-US" sz="1600" dirty="0"/>
          </a:p>
        </p:txBody>
      </p:sp>
      <p:sp>
        <p:nvSpPr>
          <p:cNvPr id="7" name="t189"/>
          <p:cNvSpPr txBox="1"/>
          <p:nvPr/>
        </p:nvSpPr>
        <p:spPr>
          <a:xfrm>
            <a:off x="4617720" y="1554480"/>
            <a:ext cx="4069080" cy="594360"/>
          </a:xfrm>
          <a:prstGeom prst="rect">
            <a:avLst/>
          </a:prstGeom>
          <a:noFill/>
          <a:ln/>
        </p:spPr>
        <p:txBody>
          <a:bodyPr wrap="square" lIns="0" tIns="0" rIns="0" bIns="0" rtlCol="0" anchor="t"/>
          <a:lstStyle/>
          <a:p>
            <a:pPr marL="0" indent="0">
              <a:buNone/>
            </a:pPr>
            <a:r>
              <a:rPr lang="en-US" sz="1300" dirty="0">
                <a:solidFill>
                  <a:schemeClr val="tx2"/>
                </a:solidFill>
              </a:rPr>
              <a:t>try a shot from ever-later points of the path and keep the earliest that connects: removes detours</a:t>
            </a:r>
            <a:endParaRPr lang="en-US" sz="1300" dirty="0"/>
          </a:p>
        </p:txBody>
      </p:sp>
      <p:sp>
        <p:nvSpPr>
          <p:cNvPr id="8" name="d190"/>
          <p:cNvSpPr/>
          <p:nvPr/>
        </p:nvSpPr>
        <p:spPr>
          <a:xfrm>
            <a:off x="4114800" y="2194560"/>
            <a:ext cx="365760" cy="365760"/>
          </a:xfrm>
          <a:prstGeom prst="ellipse">
            <a:avLst/>
          </a:prstGeom>
          <a:solidFill>
            <a:srgbClr val="1F7A8C"/>
          </a:solidFill>
          <a:ln/>
        </p:spPr>
      </p:sp>
      <p:sp>
        <p:nvSpPr>
          <p:cNvPr id="9" name="t191"/>
          <p:cNvSpPr txBox="1"/>
          <p:nvPr/>
        </p:nvSpPr>
        <p:spPr>
          <a:xfrm>
            <a:off x="4114800" y="219456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t192"/>
          <p:cNvSpPr txBox="1"/>
          <p:nvPr/>
        </p:nvSpPr>
        <p:spPr>
          <a:xfrm>
            <a:off x="4617720" y="2176272"/>
            <a:ext cx="4069080" cy="329184"/>
          </a:xfrm>
          <a:prstGeom prst="rect">
            <a:avLst/>
          </a:prstGeom>
          <a:noFill/>
          <a:ln/>
        </p:spPr>
        <p:txBody>
          <a:bodyPr wrap="square" lIns="0" tIns="0" rIns="0" bIns="0" rtlCol="0" anchor="t"/>
          <a:lstStyle/>
          <a:p>
            <a:pPr marL="0" indent="0">
              <a:buNone/>
            </a:pPr>
            <a:r>
              <a:rPr lang="en-US" sz="1600" b="1" dirty="0">
                <a:solidFill>
                  <a:schemeClr val="tx1"/>
                </a:solidFill>
              </a:rPr>
              <a:t>Final leg</a:t>
            </a:r>
            <a:endParaRPr lang="en-US" sz="1600" dirty="0"/>
          </a:p>
        </p:txBody>
      </p:sp>
      <p:sp>
        <p:nvSpPr>
          <p:cNvPr id="11" name="t193"/>
          <p:cNvSpPr txBox="1"/>
          <p:nvPr/>
        </p:nvSpPr>
        <p:spPr>
          <a:xfrm>
            <a:off x="4617720" y="2514600"/>
            <a:ext cx="4069080" cy="594360"/>
          </a:xfrm>
          <a:prstGeom prst="rect">
            <a:avLst/>
          </a:prstGeom>
          <a:noFill/>
          <a:ln/>
        </p:spPr>
        <p:txBody>
          <a:bodyPr wrap="square" lIns="0" tIns="0" rIns="0" bIns="0" rtlCol="0" anchor="t"/>
          <a:lstStyle/>
          <a:p>
            <a:pPr marL="0" indent="0">
              <a:buNone/>
            </a:pPr>
            <a:r>
              <a:rPr lang="en-US" sz="1300" dirty="0">
                <a:solidFill>
                  <a:schemeClr val="tx2"/>
                </a:solidFill>
              </a:rPr>
              <a:t>a straight run along the bay axis into the parked pose</a:t>
            </a:r>
            <a:endParaRPr lang="en-US" sz="1300" dirty="0"/>
          </a:p>
        </p:txBody>
      </p:sp>
      <p:sp>
        <p:nvSpPr>
          <p:cNvPr id="12" name="d194"/>
          <p:cNvSpPr/>
          <p:nvPr/>
        </p:nvSpPr>
        <p:spPr>
          <a:xfrm>
            <a:off x="4114800" y="3154680"/>
            <a:ext cx="365760" cy="365760"/>
          </a:xfrm>
          <a:prstGeom prst="ellipse">
            <a:avLst/>
          </a:prstGeom>
          <a:solidFill>
            <a:srgbClr val="1F7A8C"/>
          </a:solidFill>
          <a:ln/>
        </p:spPr>
      </p:sp>
      <p:sp>
        <p:nvSpPr>
          <p:cNvPr id="13" name="t195"/>
          <p:cNvSpPr txBox="1"/>
          <p:nvPr/>
        </p:nvSpPr>
        <p:spPr>
          <a:xfrm>
            <a:off x="4114800" y="31546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196"/>
          <p:cNvSpPr txBox="1"/>
          <p:nvPr/>
        </p:nvSpPr>
        <p:spPr>
          <a:xfrm>
            <a:off x="4617720" y="3136392"/>
            <a:ext cx="4069080" cy="329184"/>
          </a:xfrm>
          <a:prstGeom prst="rect">
            <a:avLst/>
          </a:prstGeom>
          <a:noFill/>
          <a:ln/>
        </p:spPr>
        <p:txBody>
          <a:bodyPr wrap="square" lIns="0" tIns="0" rIns="0" bIns="0" rtlCol="0" anchor="t"/>
          <a:lstStyle/>
          <a:p>
            <a:pPr marL="0" indent="0">
              <a:buNone/>
            </a:pPr>
            <a:r>
              <a:rPr lang="en-US" sz="1600" b="1" dirty="0">
                <a:solidFill>
                  <a:schemeClr val="tx1"/>
                </a:solidFill>
              </a:rPr>
              <a:t>Hand over</a:t>
            </a:r>
            <a:endParaRPr lang="en-US" sz="1600" dirty="0"/>
          </a:p>
        </p:txBody>
      </p:sp>
      <p:sp>
        <p:nvSpPr>
          <p:cNvPr id="15" name="t197"/>
          <p:cNvSpPr txBox="1"/>
          <p:nvPr/>
        </p:nvSpPr>
        <p:spPr>
          <a:xfrm>
            <a:off x="4617720" y="3474720"/>
            <a:ext cx="4069080" cy="594360"/>
          </a:xfrm>
          <a:prstGeom prst="rect">
            <a:avLst/>
          </a:prstGeom>
          <a:noFill/>
          <a:ln/>
        </p:spPr>
        <p:txBody>
          <a:bodyPr wrap="square" lIns="0" tIns="0" rIns="0" bIns="0" rtlCol="0" anchor="t"/>
          <a:lstStyle/>
          <a:p>
            <a:pPr marL="0" indent="0">
              <a:buNone/>
            </a:pPr>
            <a:r>
              <a:rPr lang="en-US" sz="1300" dirty="0">
                <a:solidFill>
                  <a:schemeClr val="tx2"/>
                </a:solidFill>
              </a:rPr>
              <a:t>every waypoint carries pose, hitch angle, steering and gear, from the real kinematics</a:t>
            </a:r>
            <a:endParaRPr lang="en-US" sz="1300" dirty="0"/>
          </a:p>
        </p:txBody>
      </p:sp>
      <p:sp>
        <p:nvSpPr>
          <p:cNvPr id="16" name="b198"/>
          <p:cNvSpPr/>
          <p:nvPr/>
        </p:nvSpPr>
        <p:spPr>
          <a:xfrm>
            <a:off x="4114800" y="4206240"/>
            <a:ext cx="274320" cy="91440"/>
          </a:xfrm>
          <a:prstGeom prst="rect">
            <a:avLst/>
          </a:prstGeom>
          <a:solidFill>
            <a:srgbClr val="1F7A8C"/>
          </a:solidFill>
          <a:ln/>
        </p:spPr>
      </p:sp>
      <p:sp>
        <p:nvSpPr>
          <p:cNvPr id="17" name="t199"/>
          <p:cNvSpPr txBox="1"/>
          <p:nvPr/>
        </p:nvSpPr>
        <p:spPr>
          <a:xfrm>
            <a:off x="4462272" y="4114800"/>
            <a:ext cx="822960" cy="274320"/>
          </a:xfrm>
          <a:prstGeom prst="rect">
            <a:avLst/>
          </a:prstGeom>
          <a:noFill/>
          <a:ln/>
        </p:spPr>
        <p:txBody>
          <a:bodyPr wrap="square" lIns="0" tIns="0" rIns="0" bIns="0" rtlCol="0" anchor="t"/>
          <a:lstStyle/>
          <a:p>
            <a:pPr marL="0" indent="0">
              <a:buNone/>
            </a:pPr>
            <a:r>
              <a:rPr lang="en-US" sz="1100" dirty="0">
                <a:solidFill>
                  <a:schemeClr val="accent4"/>
                </a:solidFill>
              </a:rPr>
              <a:t>forward</a:t>
            </a:r>
            <a:endParaRPr lang="en-US" sz="1100" dirty="0"/>
          </a:p>
        </p:txBody>
      </p:sp>
      <p:sp>
        <p:nvSpPr>
          <p:cNvPr id="18" name="b200"/>
          <p:cNvSpPr/>
          <p:nvPr/>
        </p:nvSpPr>
        <p:spPr>
          <a:xfrm>
            <a:off x="5303520" y="4206240"/>
            <a:ext cx="274320" cy="91440"/>
          </a:xfrm>
          <a:prstGeom prst="rect">
            <a:avLst/>
          </a:prstGeom>
          <a:solidFill>
            <a:srgbClr val="C0392B"/>
          </a:solidFill>
          <a:ln/>
        </p:spPr>
      </p:sp>
      <p:sp>
        <p:nvSpPr>
          <p:cNvPr id="19" name="t201"/>
          <p:cNvSpPr txBox="1"/>
          <p:nvPr/>
        </p:nvSpPr>
        <p:spPr>
          <a:xfrm>
            <a:off x="5650992" y="4114800"/>
            <a:ext cx="822960" cy="274320"/>
          </a:xfrm>
          <a:prstGeom prst="rect">
            <a:avLst/>
          </a:prstGeom>
          <a:noFill/>
          <a:ln/>
        </p:spPr>
        <p:txBody>
          <a:bodyPr wrap="square" lIns="0" tIns="0" rIns="0" bIns="0" rtlCol="0" anchor="t"/>
          <a:lstStyle/>
          <a:p>
            <a:pPr marL="0" indent="0">
              <a:buNone/>
            </a:pPr>
            <a:r>
              <a:rPr lang="en-US" sz="1100" dirty="0">
                <a:solidFill>
                  <a:schemeClr val="accent4"/>
                </a:solidFill>
              </a:rPr>
              <a:t>reverse</a:t>
            </a:r>
            <a:endParaRPr lang="en-US" sz="1100" dirty="0"/>
          </a:p>
        </p:txBody>
      </p:sp>
      <p:sp>
        <p:nvSpPr>
          <p:cNvPr id="20" name="t202"/>
          <p:cNvSpPr txBox="1"/>
          <p:nvPr/>
        </p:nvSpPr>
        <p:spPr>
          <a:xfrm>
            <a:off x="6492240" y="4114800"/>
            <a:ext cx="2194560" cy="274320"/>
          </a:xfrm>
          <a:prstGeom prst="rect">
            <a:avLst/>
          </a:prstGeom>
          <a:noFill/>
          <a:ln/>
        </p:spPr>
        <p:txBody>
          <a:bodyPr wrap="square" lIns="0" tIns="0" rIns="0" bIns="0" rtlCol="0" anchor="t"/>
          <a:lstStyle/>
          <a:p>
            <a:pPr marL="0" indent="0">
              <a:buNone/>
            </a:pPr>
            <a:r>
              <a:rPr lang="en-US" sz="1100" dirty="0">
                <a:solidFill>
                  <a:schemeClr val="accent4"/>
                </a:solidFill>
              </a:rPr>
              <a:t>ghosts: tractor (teal), trailer (amber)</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1"/>
                </a:solidFill>
              </a:rPr>
              <a:t>How the planner works with the rest of the system</a:t>
            </a:r>
            <a:endParaRPr lang="en-US" sz="2800" dirty="0"/>
          </a:p>
        </p:txBody>
      </p:sp>
      <p:sp>
        <p:nvSpPr>
          <p:cNvPr id="3" name="b203"/>
          <p:cNvSpPr/>
          <p:nvPr/>
        </p:nvSpPr>
        <p:spPr>
          <a:xfrm>
            <a:off x="457200" y="1188720"/>
            <a:ext cx="1874520" cy="1234440"/>
          </a:xfrm>
          <a:prstGeom prst="roundRect">
            <a:avLst>
              <a:gd name="adj" fmla="val 5926"/>
            </a:avLst>
          </a:prstGeom>
          <a:solidFill>
            <a:srgbClr val="1F7A8C"/>
          </a:solidFill>
          <a:ln/>
        </p:spPr>
      </p:sp>
      <p:sp>
        <p:nvSpPr>
          <p:cNvPr id="4" name="t204"/>
          <p:cNvSpPr txBox="1"/>
          <p:nvPr/>
        </p:nvSpPr>
        <p:spPr>
          <a:xfrm>
            <a:off x="585216" y="1316736"/>
            <a:ext cx="1618488" cy="329184"/>
          </a:xfrm>
          <a:prstGeom prst="rect">
            <a:avLst/>
          </a:prstGeom>
          <a:noFill/>
          <a:ln/>
        </p:spPr>
        <p:txBody>
          <a:bodyPr wrap="square" lIns="0" tIns="0" rIns="0" bIns="0" rtlCol="0" anchor="t"/>
          <a:lstStyle/>
          <a:p>
            <a:pPr marL="0" indent="0">
              <a:buNone/>
            </a:pPr>
            <a:r>
              <a:rPr lang="en-US" sz="1600" b="1" dirty="0">
                <a:solidFill>
                  <a:schemeClr val="bg1"/>
                </a:solidFill>
              </a:rPr>
              <a:t>Hybrid A*</a:t>
            </a:r>
            <a:endParaRPr lang="en-US" sz="1600" dirty="0"/>
          </a:p>
        </p:txBody>
      </p:sp>
      <p:sp>
        <p:nvSpPr>
          <p:cNvPr id="5" name="t205"/>
          <p:cNvSpPr txBox="1"/>
          <p:nvPr/>
        </p:nvSpPr>
        <p:spPr>
          <a:xfrm>
            <a:off x="585216" y="1664208"/>
            <a:ext cx="1618488" cy="713232"/>
          </a:xfrm>
          <a:prstGeom prst="rect">
            <a:avLst/>
          </a:prstGeom>
          <a:noFill/>
          <a:ln/>
        </p:spPr>
        <p:txBody>
          <a:bodyPr wrap="square" lIns="0" tIns="0" rIns="0" bIns="0" rtlCol="0" anchor="t"/>
          <a:lstStyle/>
          <a:p>
            <a:pPr marL="0" indent="0">
              <a:buNone/>
            </a:pPr>
            <a:r>
              <a:rPr lang="en-US" sz="1200" dirty="0">
                <a:solidFill>
                  <a:schemeClr val="bg1"/>
                </a:solidFill>
              </a:rPr>
              <a:t>plans a drivable route inside tighter limits</a:t>
            </a:r>
            <a:endParaRPr lang="en-US" sz="1200" dirty="0"/>
          </a:p>
        </p:txBody>
      </p:sp>
      <p:sp>
        <p:nvSpPr>
          <p:cNvPr id="6" name="a206"/>
          <p:cNvSpPr/>
          <p:nvPr/>
        </p:nvSpPr>
        <p:spPr>
          <a:xfrm>
            <a:off x="2350008" y="1805940"/>
            <a:ext cx="210312" cy="914"/>
          </a:xfrm>
          <a:prstGeom prst="line">
            <a:avLst/>
          </a:prstGeom>
          <a:noFill/>
          <a:ln w="22225">
            <a:solidFill>
              <a:schemeClr val="accent4"/>
            </a:solidFill>
            <a:prstDash val="solid"/>
            <a:tailEnd type="triangle"/>
          </a:ln>
        </p:spPr>
      </p:sp>
      <p:sp>
        <p:nvSpPr>
          <p:cNvPr id="7" name="b207"/>
          <p:cNvSpPr/>
          <p:nvPr/>
        </p:nvSpPr>
        <p:spPr>
          <a:xfrm>
            <a:off x="2578608" y="1188720"/>
            <a:ext cx="1874520" cy="1234440"/>
          </a:xfrm>
          <a:prstGeom prst="roundRect">
            <a:avLst>
              <a:gd name="adj" fmla="val 5926"/>
            </a:avLst>
          </a:prstGeom>
          <a:solidFill>
            <a:srgbClr val="F4F6F8"/>
          </a:solidFill>
          <a:ln/>
        </p:spPr>
      </p:sp>
      <p:sp>
        <p:nvSpPr>
          <p:cNvPr id="8" name="t208"/>
          <p:cNvSpPr txBox="1"/>
          <p:nvPr/>
        </p:nvSpPr>
        <p:spPr>
          <a:xfrm>
            <a:off x="2706624" y="1316736"/>
            <a:ext cx="1618488" cy="329184"/>
          </a:xfrm>
          <a:prstGeom prst="rect">
            <a:avLst/>
          </a:prstGeom>
          <a:noFill/>
          <a:ln/>
        </p:spPr>
        <p:txBody>
          <a:bodyPr wrap="square" lIns="0" tIns="0" rIns="0" bIns="0" rtlCol="0" anchor="t"/>
          <a:lstStyle/>
          <a:p>
            <a:pPr marL="0" indent="0">
              <a:buNone/>
            </a:pPr>
            <a:r>
              <a:rPr lang="en-US" sz="1600" b="1" dirty="0">
                <a:solidFill>
                  <a:schemeClr val="tx1"/>
                </a:solidFill>
              </a:rPr>
              <a:t>NMPC</a:t>
            </a:r>
            <a:endParaRPr lang="en-US" sz="1600" dirty="0"/>
          </a:p>
        </p:txBody>
      </p:sp>
      <p:sp>
        <p:nvSpPr>
          <p:cNvPr id="9" name="t209"/>
          <p:cNvSpPr txBox="1"/>
          <p:nvPr/>
        </p:nvSpPr>
        <p:spPr>
          <a:xfrm>
            <a:off x="2706624" y="1664208"/>
            <a:ext cx="1618488" cy="713232"/>
          </a:xfrm>
          <a:prstGeom prst="rect">
            <a:avLst/>
          </a:prstGeom>
          <a:noFill/>
          <a:ln/>
        </p:spPr>
        <p:txBody>
          <a:bodyPr wrap="square" lIns="0" tIns="0" rIns="0" bIns="0" rtlCol="0" anchor="t"/>
          <a:lstStyle/>
          <a:p>
            <a:pPr marL="0" indent="0">
              <a:buNone/>
            </a:pPr>
            <a:r>
              <a:rPr lang="en-US" sz="1200" dirty="0">
                <a:solidFill>
                  <a:schemeClr val="tx2"/>
                </a:solidFill>
              </a:rPr>
              <a:t>tracks it; uses the steering and hitch margin left free</a:t>
            </a:r>
            <a:endParaRPr lang="en-US" sz="1200" dirty="0"/>
          </a:p>
        </p:txBody>
      </p:sp>
      <p:sp>
        <p:nvSpPr>
          <p:cNvPr id="10" name="a210"/>
          <p:cNvSpPr/>
          <p:nvPr/>
        </p:nvSpPr>
        <p:spPr>
          <a:xfrm>
            <a:off x="4471416" y="1805940"/>
            <a:ext cx="210312" cy="914"/>
          </a:xfrm>
          <a:prstGeom prst="line">
            <a:avLst/>
          </a:prstGeom>
          <a:noFill/>
          <a:ln w="22225">
            <a:solidFill>
              <a:schemeClr val="accent4"/>
            </a:solidFill>
            <a:prstDash val="solid"/>
            <a:tailEnd type="triangle"/>
          </a:ln>
        </p:spPr>
      </p:sp>
      <p:sp>
        <p:nvSpPr>
          <p:cNvPr id="11" name="b211"/>
          <p:cNvSpPr/>
          <p:nvPr/>
        </p:nvSpPr>
        <p:spPr>
          <a:xfrm>
            <a:off x="4700016" y="1188720"/>
            <a:ext cx="1874520" cy="1234440"/>
          </a:xfrm>
          <a:prstGeom prst="roundRect">
            <a:avLst>
              <a:gd name="adj" fmla="val 5926"/>
            </a:avLst>
          </a:prstGeom>
          <a:solidFill>
            <a:srgbClr val="F4F6F8"/>
          </a:solidFill>
          <a:ln/>
        </p:spPr>
      </p:sp>
      <p:sp>
        <p:nvSpPr>
          <p:cNvPr id="12" name="t212"/>
          <p:cNvSpPr txBox="1"/>
          <p:nvPr/>
        </p:nvSpPr>
        <p:spPr>
          <a:xfrm>
            <a:off x="4828032" y="1316736"/>
            <a:ext cx="1618488" cy="329184"/>
          </a:xfrm>
          <a:prstGeom prst="rect">
            <a:avLst/>
          </a:prstGeom>
          <a:noFill/>
          <a:ln/>
        </p:spPr>
        <p:txBody>
          <a:bodyPr wrap="square" lIns="0" tIns="0" rIns="0" bIns="0" rtlCol="0" anchor="t"/>
          <a:lstStyle/>
          <a:p>
            <a:pPr marL="0" indent="0">
              <a:buNone/>
            </a:pPr>
            <a:r>
              <a:rPr lang="en-US" sz="1600" b="1" dirty="0">
                <a:solidFill>
                  <a:schemeClr val="tx1"/>
                </a:solidFill>
              </a:rPr>
              <a:t>Certification</a:t>
            </a:r>
            <a:endParaRPr lang="en-US" sz="1600" dirty="0"/>
          </a:p>
        </p:txBody>
      </p:sp>
      <p:sp>
        <p:nvSpPr>
          <p:cNvPr id="13" name="t213"/>
          <p:cNvSpPr txBox="1"/>
          <p:nvPr/>
        </p:nvSpPr>
        <p:spPr>
          <a:xfrm>
            <a:off x="4828032" y="1664208"/>
            <a:ext cx="1618488" cy="713232"/>
          </a:xfrm>
          <a:prstGeom prst="rect">
            <a:avLst/>
          </a:prstGeom>
          <a:noFill/>
          <a:ln/>
        </p:spPr>
        <p:txBody>
          <a:bodyPr wrap="square" lIns="0" tIns="0" rIns="0" bIns="0" rtlCol="0" anchor="t"/>
          <a:lstStyle/>
          <a:p>
            <a:pPr marL="0" indent="0">
              <a:buNone/>
            </a:pPr>
            <a:r>
              <a:rPr lang="en-US" sz="1200" dirty="0">
                <a:solidFill>
                  <a:schemeClr val="tx2"/>
                </a:solidFill>
              </a:rPr>
              <a:t>a full simulated run must park, never jackknife</a:t>
            </a:r>
            <a:endParaRPr lang="en-US" sz="1200" dirty="0"/>
          </a:p>
        </p:txBody>
      </p:sp>
      <p:sp>
        <p:nvSpPr>
          <p:cNvPr id="14" name="a214"/>
          <p:cNvSpPr/>
          <p:nvPr/>
        </p:nvSpPr>
        <p:spPr>
          <a:xfrm>
            <a:off x="6592824" y="1805940"/>
            <a:ext cx="210312" cy="914"/>
          </a:xfrm>
          <a:prstGeom prst="line">
            <a:avLst/>
          </a:prstGeom>
          <a:noFill/>
          <a:ln w="22225">
            <a:solidFill>
              <a:schemeClr val="accent4"/>
            </a:solidFill>
            <a:prstDash val="solid"/>
            <a:tailEnd type="triangle"/>
          </a:ln>
        </p:spPr>
      </p:sp>
      <p:sp>
        <p:nvSpPr>
          <p:cNvPr id="15" name="b215"/>
          <p:cNvSpPr/>
          <p:nvPr/>
        </p:nvSpPr>
        <p:spPr>
          <a:xfrm>
            <a:off x="6821424" y="1188720"/>
            <a:ext cx="1874520" cy="1234440"/>
          </a:xfrm>
          <a:prstGeom prst="roundRect">
            <a:avLst>
              <a:gd name="adj" fmla="val 5926"/>
            </a:avLst>
          </a:prstGeom>
          <a:solidFill>
            <a:srgbClr val="FBE7C6"/>
          </a:solidFill>
          <a:ln/>
        </p:spPr>
      </p:sp>
      <p:sp>
        <p:nvSpPr>
          <p:cNvPr id="16" name="t216"/>
          <p:cNvSpPr txBox="1"/>
          <p:nvPr/>
        </p:nvSpPr>
        <p:spPr>
          <a:xfrm>
            <a:off x="6949440" y="1316736"/>
            <a:ext cx="1618488" cy="329184"/>
          </a:xfrm>
          <a:prstGeom prst="rect">
            <a:avLst/>
          </a:prstGeom>
          <a:noFill/>
          <a:ln/>
        </p:spPr>
        <p:txBody>
          <a:bodyPr wrap="square" lIns="0" tIns="0" rIns="0" bIns="0" rtlCol="0" anchor="t"/>
          <a:lstStyle/>
          <a:p>
            <a:pPr marL="0" indent="0">
              <a:buNone/>
            </a:pPr>
            <a:r>
              <a:rPr lang="en-US" sz="1600" b="1" dirty="0">
                <a:solidFill>
                  <a:schemeClr val="tx1"/>
                </a:solidFill>
              </a:rPr>
              <a:t>Second attempt</a:t>
            </a:r>
            <a:endParaRPr lang="en-US" sz="1600" dirty="0"/>
          </a:p>
        </p:txBody>
      </p:sp>
      <p:sp>
        <p:nvSpPr>
          <p:cNvPr id="17" name="t217"/>
          <p:cNvSpPr txBox="1"/>
          <p:nvPr/>
        </p:nvSpPr>
        <p:spPr>
          <a:xfrm>
            <a:off x="6949440" y="1664208"/>
            <a:ext cx="1618488" cy="713232"/>
          </a:xfrm>
          <a:prstGeom prst="rect">
            <a:avLst/>
          </a:prstGeom>
          <a:noFill/>
          <a:ln/>
        </p:spPr>
        <p:txBody>
          <a:bodyPr wrap="square" lIns="0" tIns="0" rIns="0" bIns="0" rtlCol="0" anchor="t"/>
          <a:lstStyle/>
          <a:p>
            <a:pPr marL="0" indent="0">
              <a:buNone/>
            </a:pPr>
            <a:r>
              <a:rPr lang="en-US" sz="1200" dirty="0">
                <a:solidFill>
                  <a:schemeClr val="tx2"/>
                </a:solidFill>
              </a:rPr>
              <a:t>if not: re-plan from where it stopped, or a new route</a:t>
            </a:r>
            <a:endParaRPr lang="en-US" sz="1200" dirty="0"/>
          </a:p>
        </p:txBody>
      </p:sp>
      <p:sp>
        <p:nvSpPr>
          <p:cNvPr id="18" name="t218"/>
          <p:cNvSpPr txBox="1"/>
          <p:nvPr/>
        </p:nvSpPr>
        <p:spPr>
          <a:xfrm>
            <a:off x="457200" y="2880360"/>
            <a:ext cx="2615184" cy="685800"/>
          </a:xfrm>
          <a:prstGeom prst="rect">
            <a:avLst/>
          </a:prstGeom>
          <a:noFill/>
          <a:ln/>
        </p:spPr>
        <p:txBody>
          <a:bodyPr wrap="square" lIns="0" tIns="0" rIns="0" bIns="0" rtlCol="0" anchor="t"/>
          <a:lstStyle/>
          <a:p>
            <a:pPr marL="0" indent="0">
              <a:buNone/>
            </a:pPr>
            <a:r>
              <a:rPr lang="en-US" sz="3600" b="1" dirty="0">
                <a:solidFill>
                  <a:schemeClr val="accent1"/>
                </a:solidFill>
              </a:rPr>
              <a:t>98 / 110</a:t>
            </a:r>
            <a:endParaRPr lang="en-US" sz="3600" dirty="0"/>
          </a:p>
        </p:txBody>
      </p:sp>
      <p:sp>
        <p:nvSpPr>
          <p:cNvPr id="19" name="t219"/>
          <p:cNvSpPr txBox="1"/>
          <p:nvPr/>
        </p:nvSpPr>
        <p:spPr>
          <a:xfrm>
            <a:off x="457200" y="3611880"/>
            <a:ext cx="2615184" cy="548640"/>
          </a:xfrm>
          <a:prstGeom prst="rect">
            <a:avLst/>
          </a:prstGeom>
          <a:noFill/>
          <a:ln/>
        </p:spPr>
        <p:txBody>
          <a:bodyPr wrap="square" lIns="0" tIns="0" rIns="0" bIns="0" rtlCol="0" anchor="t"/>
          <a:lstStyle/>
          <a:p>
            <a:pPr marL="0" indent="0">
              <a:buNone/>
            </a:pPr>
            <a:r>
              <a:rPr lang="en-US" sz="1300" dirty="0">
                <a:solidFill>
                  <a:schemeClr val="tx2"/>
                </a:solidFill>
              </a:rPr>
              <a:t>library bays certified</a:t>
            </a:r>
            <a:endParaRPr lang="en-US" sz="1300" dirty="0"/>
          </a:p>
        </p:txBody>
      </p:sp>
      <p:sp>
        <p:nvSpPr>
          <p:cNvPr id="20" name="t220"/>
          <p:cNvSpPr txBox="1"/>
          <p:nvPr/>
        </p:nvSpPr>
        <p:spPr>
          <a:xfrm>
            <a:off x="3264408" y="2880360"/>
            <a:ext cx="2615184" cy="685800"/>
          </a:xfrm>
          <a:prstGeom prst="rect">
            <a:avLst/>
          </a:prstGeom>
          <a:noFill/>
          <a:ln/>
        </p:spPr>
        <p:txBody>
          <a:bodyPr wrap="square" lIns="0" tIns="0" rIns="0" bIns="0" rtlCol="0" anchor="t"/>
          <a:lstStyle/>
          <a:p>
            <a:pPr marL="0" indent="0">
              <a:buNone/>
            </a:pPr>
            <a:r>
              <a:rPr lang="en-US" sz="3600" b="1" dirty="0">
                <a:solidFill>
                  <a:schemeClr val="accent1"/>
                </a:solidFill>
              </a:rPr>
              <a:t>53.3°</a:t>
            </a:r>
            <a:endParaRPr lang="en-US" sz="3600" dirty="0"/>
          </a:p>
        </p:txBody>
      </p:sp>
      <p:sp>
        <p:nvSpPr>
          <p:cNvPr id="21" name="t221"/>
          <p:cNvSpPr txBox="1"/>
          <p:nvPr/>
        </p:nvSpPr>
        <p:spPr>
          <a:xfrm>
            <a:off x="3264408" y="3611880"/>
            <a:ext cx="2615184" cy="548640"/>
          </a:xfrm>
          <a:prstGeom prst="rect">
            <a:avLst/>
          </a:prstGeom>
          <a:noFill/>
          <a:ln/>
        </p:spPr>
        <p:txBody>
          <a:bodyPr wrap="square" lIns="0" tIns="0" rIns="0" bIns="0" rtlCol="0" anchor="t"/>
          <a:lstStyle/>
          <a:p>
            <a:pPr marL="0" indent="0">
              <a:buNone/>
            </a:pPr>
            <a:r>
              <a:rPr lang="en-US" sz="1300" dirty="0">
                <a:solidFill>
                  <a:schemeClr val="tx2"/>
                </a:solidFill>
              </a:rPr>
              <a:t>peak hitch in any certified run (limit 60°)</a:t>
            </a:r>
            <a:endParaRPr lang="en-US" sz="1300" dirty="0"/>
          </a:p>
        </p:txBody>
      </p:sp>
      <p:sp>
        <p:nvSpPr>
          <p:cNvPr id="22" name="t222"/>
          <p:cNvSpPr txBox="1"/>
          <p:nvPr/>
        </p:nvSpPr>
        <p:spPr>
          <a:xfrm>
            <a:off x="6071616" y="2880360"/>
            <a:ext cx="2615184" cy="685800"/>
          </a:xfrm>
          <a:prstGeom prst="rect">
            <a:avLst/>
          </a:prstGeom>
          <a:noFill/>
          <a:ln/>
        </p:spPr>
        <p:txBody>
          <a:bodyPr wrap="square" lIns="0" tIns="0" rIns="0" bIns="0" rtlCol="0" anchor="t"/>
          <a:lstStyle/>
          <a:p>
            <a:pPr marL="0" indent="0">
              <a:buNone/>
            </a:pPr>
            <a:r>
              <a:rPr lang="en-US" sz="3600" b="1" dirty="0">
                <a:solidFill>
                  <a:schemeClr val="accent3"/>
                </a:solidFill>
              </a:rPr>
              <a:t>60 / 60</a:t>
            </a:r>
            <a:endParaRPr lang="en-US" sz="3600" dirty="0"/>
          </a:p>
        </p:txBody>
      </p:sp>
      <p:sp>
        <p:nvSpPr>
          <p:cNvPr id="23" name="t223"/>
          <p:cNvSpPr txBox="1"/>
          <p:nvPr/>
        </p:nvSpPr>
        <p:spPr>
          <a:xfrm>
            <a:off x="6071616" y="3611880"/>
            <a:ext cx="2615184" cy="548640"/>
          </a:xfrm>
          <a:prstGeom prst="rect">
            <a:avLst/>
          </a:prstGeom>
          <a:noFill/>
          <a:ln/>
        </p:spPr>
        <p:txBody>
          <a:bodyPr wrap="square" lIns="0" tIns="0" rIns="0" bIns="0" rtlCol="0" anchor="t"/>
          <a:lstStyle/>
          <a:p>
            <a:pPr marL="0" indent="0">
              <a:buNone/>
            </a:pPr>
            <a:r>
              <a:rPr lang="en-US" sz="1300" dirty="0">
                <a:solidFill>
                  <a:schemeClr val="tx2"/>
                </a:solidFill>
              </a:rPr>
              <a:t>reversing bays where an unaided driver jackknifes</a:t>
            </a:r>
            <a:endParaRPr lang="en-US" sz="1300" dirty="0"/>
          </a:p>
        </p:txBody>
      </p:sp>
      <p:sp>
        <p:nvSpPr>
          <p:cNvPr id="24" name="t224"/>
          <p:cNvSpPr txBox="1"/>
          <p:nvPr/>
        </p:nvSpPr>
        <p:spPr>
          <a:xfrm>
            <a:off x="457200" y="4206240"/>
            <a:ext cx="8229600" cy="411480"/>
          </a:xfrm>
          <a:prstGeom prst="rect">
            <a:avLst/>
          </a:prstGeom>
          <a:noFill/>
          <a:ln/>
        </p:spPr>
        <p:txBody>
          <a:bodyPr wrap="square" lIns="0" tIns="0" rIns="0" bIns="0" rtlCol="0" anchor="t"/>
          <a:lstStyle/>
          <a:p>
            <a:pPr marL="0" indent="0">
              <a:buNone/>
            </a:pPr>
            <a:r>
              <a:rPr lang="en-US" sz="1100" i="1" dirty="0">
                <a:solidFill>
                  <a:schemeClr val="accent4"/>
                </a:solidFill>
              </a:rPr>
              <a:t>Second attempt: pull forward and park again, stop and re-plan near an obstacle, or a fresh route with a gentler search weight and more clearance.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225"/>
          <p:cNvSpPr txBox="1"/>
          <p:nvPr/>
        </p:nvSpPr>
        <p:spPr>
          <a:xfrm>
            <a:off x="731520" y="457200"/>
            <a:ext cx="7680960" cy="640080"/>
          </a:xfrm>
          <a:prstGeom prst="rect">
            <a:avLst/>
          </a:prstGeom>
          <a:noFill/>
          <a:ln/>
        </p:spPr>
        <p:txBody>
          <a:bodyPr wrap="square" lIns="0" tIns="0" rIns="0" bIns="0" rtlCol="0" anchor="t"/>
          <a:lstStyle/>
          <a:p>
            <a:pPr marL="0" indent="0">
              <a:buNone/>
            </a:pPr>
            <a:r>
              <a:rPr lang="en-US" sz="3600" b="1" dirty="0">
                <a:solidFill>
                  <a:schemeClr val="bg1"/>
                </a:solidFill>
              </a:rPr>
              <a:t>Takeaways</a:t>
            </a:r>
            <a:endParaRPr lang="en-US" sz="3600" dirty="0"/>
          </a:p>
        </p:txBody>
      </p:sp>
      <p:sp>
        <p:nvSpPr>
          <p:cNvPr id="3" name="t226"/>
          <p:cNvSpPr txBox="1"/>
          <p:nvPr/>
        </p:nvSpPr>
        <p:spPr>
          <a:xfrm>
            <a:off x="731520" y="1325880"/>
            <a:ext cx="3657600" cy="411480"/>
          </a:xfrm>
          <a:prstGeom prst="rect">
            <a:avLst/>
          </a:prstGeom>
          <a:noFill/>
          <a:ln/>
        </p:spPr>
        <p:txBody>
          <a:bodyPr wrap="square" lIns="0" tIns="0" rIns="0" bIns="0" rtlCol="0" anchor="t"/>
          <a:lstStyle/>
          <a:p>
            <a:pPr marL="0" indent="0">
              <a:buNone/>
            </a:pPr>
            <a:r>
              <a:rPr lang="en-US" sz="1800" b="1" dirty="0">
                <a:solidFill>
                  <a:schemeClr val="accent2"/>
                </a:solidFill>
              </a:rPr>
              <a:t>What Hybrid A* gives us</a:t>
            </a:r>
            <a:endParaRPr lang="en-US" sz="1800" dirty="0"/>
          </a:p>
        </p:txBody>
      </p:sp>
      <p:sp>
        <p:nvSpPr>
          <p:cNvPr id="4" name="t227"/>
          <p:cNvSpPr txBox="1"/>
          <p:nvPr/>
        </p:nvSpPr>
        <p:spPr>
          <a:xfrm>
            <a:off x="731520" y="1828800"/>
            <a:ext cx="365760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Paths that are drivable by construction</a:t>
            </a:r>
            <a:endParaRPr lang="en-US" sz="1400" dirty="0"/>
          </a:p>
          <a:p>
            <a:pPr marL="342900" indent="-342900">
              <a:spcAft>
                <a:spcPts val="800"/>
              </a:spcAft>
              <a:buSzPct val="100000"/>
              <a:buChar char="•"/>
            </a:pPr>
            <a:r>
              <a:rPr lang="en-US" sz="1400" dirty="0">
                <a:solidFill>
                  <a:schemeClr val="bg1"/>
                </a:solidFill>
              </a:rPr>
              <a:t>Safety limits enforced while searching</a:t>
            </a:r>
            <a:endParaRPr lang="en-US" sz="1400" dirty="0"/>
          </a:p>
          <a:p>
            <a:pPr marL="342900" indent="-342900">
              <a:spcAft>
                <a:spcPts val="800"/>
              </a:spcAft>
              <a:buSzPct val="100000"/>
              <a:buChar char="•"/>
            </a:pPr>
            <a:r>
              <a:rPr lang="en-US" sz="1400" dirty="0">
                <a:solidFill>
                  <a:schemeClr val="bg1"/>
                </a:solidFill>
              </a:rPr>
              <a:t>Fast enough to plan live (0.14 s for bay 6)</a:t>
            </a:r>
            <a:endParaRPr lang="en-US" sz="1400" dirty="0"/>
          </a:p>
          <a:p>
            <a:pPr marL="342900" indent="-342900">
              <a:spcAft>
                <a:spcPts val="800"/>
              </a:spcAft>
              <a:buSzPct val="100000"/>
              <a:buChar char="•"/>
            </a:pPr>
            <a:r>
              <a:rPr lang="en-US" sz="1400" dirty="0">
                <a:solidFill>
                  <a:schemeClr val="bg1"/>
                </a:solidFill>
              </a:rPr>
              <a:t>Our addition: hitch-angle primitives make reversing a trailer searchable</a:t>
            </a:r>
            <a:endParaRPr lang="en-US" sz="1400" dirty="0"/>
          </a:p>
        </p:txBody>
      </p:sp>
      <p:sp>
        <p:nvSpPr>
          <p:cNvPr id="5" name="t228"/>
          <p:cNvSpPr txBox="1"/>
          <p:nvPr/>
        </p:nvSpPr>
        <p:spPr>
          <a:xfrm>
            <a:off x="4754880" y="1325880"/>
            <a:ext cx="3657600" cy="411480"/>
          </a:xfrm>
          <a:prstGeom prst="rect">
            <a:avLst/>
          </a:prstGeom>
          <a:noFill/>
          <a:ln/>
        </p:spPr>
        <p:txBody>
          <a:bodyPr wrap="square" lIns="0" tIns="0" rIns="0" bIns="0" rtlCol="0" anchor="t"/>
          <a:lstStyle/>
          <a:p>
            <a:pPr marL="0" indent="0">
              <a:buNone/>
            </a:pPr>
            <a:r>
              <a:rPr lang="en-US" sz="1800" b="1" dirty="0">
                <a:solidFill>
                  <a:schemeClr val="accent5"/>
                </a:solidFill>
              </a:rPr>
              <a:t>Limitations</a:t>
            </a:r>
            <a:endParaRPr lang="en-US" sz="1800" dirty="0"/>
          </a:p>
        </p:txBody>
      </p:sp>
      <p:sp>
        <p:nvSpPr>
          <p:cNvPr id="6" name="t229"/>
          <p:cNvSpPr txBox="1"/>
          <p:nvPr/>
        </p:nvSpPr>
        <p:spPr>
          <a:xfrm>
            <a:off x="4754880" y="1828800"/>
            <a:ext cx="365760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Not strictly optimal: lattice resolution and the ×3 heuristic weight</a:t>
            </a:r>
            <a:endParaRPr lang="en-US" sz="1400" dirty="0"/>
          </a:p>
          <a:p>
            <a:pPr marL="342900" indent="-342900">
              <a:spcAft>
                <a:spcPts val="800"/>
              </a:spcAft>
              <a:buSzPct val="100000"/>
              <a:buChar char="•"/>
            </a:pPr>
            <a:r>
              <a:rPr lang="en-US" sz="1400" dirty="0">
                <a:solidFill>
                  <a:schemeClr val="bg1"/>
                </a:solidFill>
              </a:rPr>
              <a:t>Can miss very narrow gaps between cells</a:t>
            </a:r>
            <a:endParaRPr lang="en-US" sz="1400" dirty="0"/>
          </a:p>
          <a:p>
            <a:pPr marL="342900" indent="-342900">
              <a:spcAft>
                <a:spcPts val="800"/>
              </a:spcAft>
              <a:buSzPct val="100000"/>
              <a:buChar char="•"/>
            </a:pPr>
            <a:r>
              <a:rPr lang="en-US" sz="1400" dirty="0">
                <a:solidFill>
                  <a:schemeClr val="bg1"/>
                </a:solidFill>
              </a:rPr>
              <a:t>Plans on a static map: if the yard changes, it must re-plan</a:t>
            </a:r>
            <a:endParaRPr lang="en-US" sz="1400" dirty="0"/>
          </a:p>
          <a:p>
            <a:pPr marL="342900" indent="-342900">
              <a:spcAft>
                <a:spcPts val="800"/>
              </a:spcAft>
              <a:buSzPct val="100000"/>
              <a:buChar char="•"/>
            </a:pPr>
            <a:r>
              <a:rPr lang="en-US" sz="1400" dirty="0">
                <a:solidFill>
                  <a:schemeClr val="bg1"/>
                </a:solidFill>
              </a:rPr>
              <a:t>Gives up after 40,000 expansions; the second attempt then retries</a:t>
            </a:r>
            <a:endParaRPr lang="en-US" sz="14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Yard">
  <a:themeElements>
    <a:clrScheme name="Yard">
      <a:dk1>
        <a:srgbClr val="1E2A33"/>
      </a:dk1>
      <a:lt1>
        <a:srgbClr val="FFFFFF"/>
      </a:lt1>
      <a:dk2>
        <a:srgbClr val="3E4C59"/>
      </a:dk2>
      <a:lt2>
        <a:srgbClr val="F4F6F8"/>
      </a:lt2>
      <a:accent1>
        <a:srgbClr val="1F7A8C"/>
      </a:accent1>
      <a:accent2>
        <a:srgbClr val="E8A33D"/>
      </a:accent2>
      <a:accent3>
        <a:srgbClr val="C0392B"/>
      </a:accent3>
      <a:accent4>
        <a:srgbClr val="5B6B78"/>
      </a:accent4>
      <a:accent5>
        <a:srgbClr val="DCEBEE"/>
      </a:accent5>
      <a:accent6>
        <a:srgbClr val="FBE7C6"/>
      </a:accent6>
      <a:hlink>
        <a:srgbClr val="1F7A8C"/>
      </a:hlink>
      <a:folHlink>
        <a:srgbClr val="5B6B78"/>
      </a:folHlink>
    </a:clrScheme>
    <a:fontScheme name="Yar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3491</Words>
  <Application>Microsoft Office PowerPoint</Application>
  <PresentationFormat>On-screen Show (16:9)</PresentationFormat>
  <Paragraphs>270</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 Display</vt:lpstr>
      <vt:lpstr>Arial</vt:lpstr>
      <vt:lpstr>Calibri</vt:lpstr>
      <vt:lpstr>Yard</vt:lpstr>
      <vt:lpstr>Hybrid A*</vt:lpstr>
      <vt:lpstr>The Planner decides the route; the Controller follows it</vt:lpstr>
      <vt:lpstr>Hybrid A*</vt:lpstr>
      <vt:lpstr>A* expands the most promising grid cell first</vt:lpstr>
      <vt:lpstr>A grid path is not a path a truck can drive</vt:lpstr>
      <vt:lpstr>Hybrid A* keeps the search but moves like a vehicle</vt:lpstr>
      <vt:lpstr>A* vs Hybrid A*</vt:lpstr>
      <vt:lpstr>Two heuristics, and the search uses the larger</vt:lpstr>
      <vt:lpstr>The search loop, with a shortcut to the goal</vt:lpstr>
      <vt:lpstr>Hybrid A* in our project</vt:lpstr>
      <vt:lpstr>A trailer adds a fourth state, and reversing it is unstable</vt:lpstr>
      <vt:lpstr>Our fix: each primitive steers to a target hitch angle</vt:lpstr>
      <vt:lpstr>Safety limits are built into the pruning</vt:lpstr>
      <vt:lpstr>The cost function decides what a good path looks like</vt:lpstr>
      <vt:lpstr>Our heuristic and shot follow the trailer axle</vt:lpstr>
      <vt:lpstr>A real search: cross yard, fill 1, bay 6</vt:lpstr>
      <vt:lpstr>The final path: 82 m, one gear change</vt:lpstr>
      <vt:lpstr>How the planner works with the rest of the system</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A*: Trailer Parking Guidance</dc:title>
  <dc:subject>PptxGenJS Presentation</dc:subject>
  <dc:creator>Group B9</dc:creator>
  <cp:lastModifiedBy>Harshith KV</cp:lastModifiedBy>
  <cp:revision>2</cp:revision>
  <dcterms:created xsi:type="dcterms:W3CDTF">2026-10-07T06:41:42Z</dcterms:created>
  <dcterms:modified xsi:type="dcterms:W3CDTF">2026-10-09T04:57:35Z</dcterms:modified>
</cp:coreProperties>
</file>