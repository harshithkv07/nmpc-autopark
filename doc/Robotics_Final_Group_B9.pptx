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59" r:id="rId4"/>
    <p:sldId id="260" r:id="rId5"/>
    <p:sldId id="261" r:id="rId6"/>
    <p:sldId id="262" r:id="rId7"/>
    <p:sldId id="263" r:id="rId8"/>
    <p:sldId id="264" r:id="rId9"/>
    <p:sldId id="265" r:id="rId10"/>
    <p:sldId id="266" r:id="rId11"/>
    <p:sldId id="267" r:id="rId12"/>
    <p:sldId id="269" r:id="rId13"/>
    <p:sldId id="268" r:id="rId14"/>
    <p:sldId id="270" r:id="rId15"/>
    <p:sldId id="271" r:id="rId16"/>
    <p:sldId id="272" r:id="rId17"/>
    <p:sldId id="273" r:id="rId18"/>
    <p:sldId id="274" r:id="rId19"/>
    <p:sldId id="275" r:id="rId20"/>
    <p:sldId id="276" r:id="rId21"/>
    <p:sldId id="27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308CBF-5A55-B5F3-AD3A-2B3A9CFC0098}">
          <p14:sldIdLst>
            <p14:sldId id="256"/>
            <p14:sldId id="258"/>
            <p14:sldId id="259"/>
          </p14:sldIdLst>
        </p14:section>
        <p14:section name="Part 1: Modelling" id="{ED234AD6-A7DA-6051-CF3D-4AC800BF6099}">
          <p14:sldIdLst>
            <p14:sldId id="260"/>
            <p14:sldId id="261"/>
            <p14:sldId id="262"/>
            <p14:sldId id="263"/>
          </p14:sldIdLst>
        </p14:section>
        <p14:section name="Part 2: Vehicle Kinematics" id="{D50192D2-C4AE-4DBA-664D-CF60CE76A6AC}">
          <p14:sldIdLst>
            <p14:sldId id="264"/>
            <p14:sldId id="265"/>
            <p14:sldId id="266"/>
            <p14:sldId id="267"/>
          </p14:sldIdLst>
        </p14:section>
        <p14:section name="Part 3: Hybrid A* and NMPC" id="{569209B7-49AD-5A8D-6BC7-D2C4AFD44672}">
          <p14:sldIdLst>
            <p14:sldId id="269"/>
            <p14:sldId id="268"/>
            <p14:sldId id="270"/>
            <p14:sldId id="271"/>
            <p14:sldId id="272"/>
          </p14:sldIdLst>
        </p14:section>
        <p14:section name="Part 4: Limitations and Future Scope" id="{6D5CD509-9ED7-D4BC-2496-FCDA987A3A65}">
          <p14:sldIdLst>
            <p14:sldId id="273"/>
            <p14:sldId id="274"/>
            <p14:sldId id="275"/>
            <p14:sldId id="276"/>
          </p14:sldIdLst>
        </p14:section>
        <p14:section name="Closing" id="{3B139018-0C97-01E6-EBB8-C2AE4AC3CE65}">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480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any one of us, about 30 seconds]
Good morning. We are Group B9. Our project is model predictive control for automated reverse docking: a system that guides a driver, or in future drives the truck itself, to reverse a tractor-trailer into a parking bay without jackknifing.
The talk has four parts, each presented by one of us: the model, the kinematics, the two algorithms, and the limits and future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0, intro, continued]
A car is one rigid body with three numbers to describe it: position and heading. A tractor-trailer is two bodies joined at a hitch, so it needs four.
More importantly, a car reversing is stable. A trailer reversing is not: the hitch angle grows on its own until the trailer folds against the cab. That is a jackknife, and the picture is our simulator with no guidance.
Nobody sells Autopark for an articulated truck. Our goal: take the truck from the gate into a chosen bay while the hitch angle never exceeds 60 degrees.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[Hand-over plan]
Part 1, modelling: what kind of robot this is, which robotics principles apply, and the state and input variables.
Part 2, kinematics: how the truck moves, the equations, and why reversing is unstable.
Part 3, the two algorithms: Hybrid A* plans the route, NMPC follows it with a hard hitch limit.
Part 4: results, limitations and future scope.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Person A]
We model the truck the way robotics models any wheeled mobile robot. There are two rigid bodies: the tractor, frame T, and the trailer, frame R, in a world frame W.
They are joined by one revolute joint, the hitch, the fifth wheel. Like a joint in a robot arm it rotates about one axis, but it has no motor: it is passive.
To say where the whole rig is we need four numbers, the configuration q: the x and y of the tractor rear axle, the tractor heading theta0 and the trailer heading theta1.
But the driver controls only two things: speed and steering. Four coordinates, two inputs, so the system is under-actuated. The trailer goes wherever the hitch drags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Person A: the laws of robotics that apply]
Three principles from our robotics course give us the whole model.
One, rigid-body transforms. Once we know where the tractor rear axle is and which way it points, the hitch and the trailer axle follow by chaining frames, exactly like forward kinematics of a two-link planar arm.
Two, rolling without slipping. A wheel rolls along its heading but cannot slide sideways. Written as an equation, the velocity perpendicular to the wheel is zero: x-dot sin theta minus y-dot cos theta equals zero. We get one such constraint at the tractor rear axle and one at the trailer axle. These constraints are on velocities, not positions, so they cannot be integrated away: the system is nonholonomic.
Three, it is still controllable. Four coordinates minus two velocity constraints leaves two free motions, which are exactly our two inputs. By combining them, forward, reverse, steer, the truck can still reach any position and heading; mathematically that is Chow's theorem, Lie brackets of the two input fields. In plain words: you cannot slide a truck sideways into a bay, but you can always manoeuvre into it, which is what parking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Person A: state and inputs]
The state X has four entries: x1, y1, the position of the tractor rear axle; theta0, the tractor heading; and psi, the hitch angle, tractor heading minus trailer heading.
Why psi and not theta1? They carry the same information, but psi is the quantity we must keep safe. A jackknife is psi growing too large, so we make it a state and put a hard limit on it.
The inputs U are the two things a driver controls: speed v, negative when reversing, and the front-wheel steering angle delta.
Parameters along the bottom: a 4 m tractor wheelbase L1, an 8 m trailer from hitch to axle L2, the hitch 0.5 m ahead of the rear axle d, 35 degrees of steering lock, a 60 degree hitch limit, and yard speed up to 2 m/s, about 7 km/h.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Person B]
We start with the tractor alone. Each axle's two wheels are lumped into one wheel on the centre line: the kinematic bicycle model.
Because no wheel may slide sideways, the line through each wheel's axle must pass through one common point, the instantaneous centre of rotation. The rear axle is perpendicular to the body, the front axle is turned by delta, and the geometry of that triangle gives the turning radius R = L1 / tan delta.
The rear axle moves along the heading at speed v, so x-dot is v cos theta0 and y-dot is v sin theta0.
It moves on a circle of radius R, so the heading changes at v over R, which is v tan delta over L1.
These three equations are the first three of our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Person B]
Now the trailer. Step 1, rigid-body transform: the hitch sits a distance d ahead of the tractor rear axle along the tractor heading.
Step 2: the trailer axle is L2 behind the hitch along the trailer heading theta1.
Step 3 is the no-slip constraint at the trailer axle. Differentiate the hitch position: its velocity v_h is the rear-axle velocity plus d times theta0-dot sideways. Split v_h into a part along the trailer and a part across it, v-perpendicular. The trailer axle cannot slide, so the along part just drags the trailer straight, and the across part rotates the trailer about its axle, with radius L2.
Working out the components: v-perpendicular is v sin psi plus d theta0-dot cos psi, so theta1-dot is that over L2.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Person B]
Putting it together. The hitch angle is theta0 minus theta1, so its rate is theta0-dot minus theta1-dot. Substituting both, we get the fourth equation.
It has three terms, colour coded. The teal steering term is the only way the driver influences psi. The red hitch term, minus v sin psi over L2, is the trailer's own reaction. The grey term exists because the hitch is 0.5 m ahead of the rear axle; it is a few per cent.
Notice every term is multiplied by v: the path the rig traces depends on distance travelled, not on speed. So we choose the path first and the speed separately.
We integrate these four equations with fourth-order Runge-Kutta, and exactly this model is used by the planner, the controller and the viewer.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Person B: the key insight of the whole project]
Take the hitch equation with straight steering and a small angle, so sin psi is about psi. We get psi-dot = minus v over L2 times psi: a first-order system with eigenvalue lambda = minus v over L2.
Driving forward, v is positive, lambda is negative, and any hitch angle dies out: the trailer straightens itself.
Reversing, v is negative, lambda is positive, and the angle grows exponentially, by a factor e every L2 = 8 metres travelled.
The graph is the exact solution, not a simulation: starting from just 2 degrees, reversing reaches the 60 degree limit after 28 metres, while forward it vanishes.
This is why a simple reactive controller fails, and why Part 3 needs a planner and a predictive controller.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Person C: Hybrid A*]
In general: A* is a graph search. It keeps a list of open cells and always expands the one with the lowest f = g + h, where g is the cost so far and h an estimate of the cost to go. With an admissible h it finds the shortest path. But on a grid the path has sharp corners, and a 12 metre truck cannot turn on the spot.
Hybrid A*, from the Stanford DARPA Urban Challenge team (Dolgov 2010), fixes this: each node stores the exact continuous pose, and children are generated by simulating short drivable arcs with the vehicle model. The grid is used only to detect that two nodes are about the same.
In our project: the search state includes the hitch angle psi. From every node we try ten arcs, two metres each, forward and reverse, each steering the hitch toward 0, plus or minus 25 or plus or minus 45 degrees. Because reversing is unstable, each arc uses a small feedback law that holds the hitch at its target; without it, reverse arcs blow up. Any arc that goes beyond 52 degrees, which keeps margin below 60, or comes within 35 cm of an obstacle is discarded. The cost to go is the shortest Dubins path of the trailer axle, because the trailer axle behaves like a car whose steering is the hitch angle.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Person C: NMPC]
In general, model predictive control works like a chess player. At every step it uses the model to predict the next few seconds, picks the sequence of inputs that minimises a cost while respecting hard limits, applies only the first input, then measures again and repeats. 'Nonlinear' means we predict with the full nonlinear model from Part 2, not a linearised one.
In our project: the horizon is 9.6 seconds, 24 steps of 0.4 s, which is longer than the instability needs to grow, so the controller sees the jackknife coming. To keep it fast we choose only 8 steering moves, each held for 1.2 s.
The cost at the bottom penalises distance from the planned path, mainly the trailer axle, plus steering effort and changes of steering so the wheel does not jerk.
The hitch limit of 60 degrees, the 35 degree steering lock and 25 cm clearance are hard constraints: the solver may not violate them, rather than just paying a penalty.
SciPy's SLSQP solves it in 19 to 42 milliseconds, far inside the quarter-second control period.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Person C: tying it to our project]
The pipeline: the user picks a yard layout and a free bay. Hybrid A* plans the whole route once, from the gate to the bay, including where to stop and switch into reverse.
NMPC then follows that route in closed loop every quarter second, and it is the NMPC that guarantees the 60 degree hitch limit, even when the truck drifts or is disturbed.
Finally the guidance layer turns the controller's steering angles into something a person can follow: gear, speed in km/h, steering-wheel turns and how far to hold them.
Why both? The planner is global but open loop; on its own, a small error in reverse grows, as Part 2 showed. The controller is closed loop but local; on its own, it does not know how to get around a parked truck. Together: the planner says which way, the controller says how to steer now.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Person D: results first, briefly]
We tested four layouts, cross, angled, parallel and tandem, each with six random fills of parked trucks: 110 free bays. Every bay was planned, driven by the NMPC and checked: within 0.8 m of the bay centre, within 10 degrees of heading, never above 60 degrees of hitch, never closer than 10 cm to anything.
All 110 pass. The hitch limit was never violated; the worst case was 50.1 degrees. On the same paths, a driver model with no hitch awareness jackknifed on all 72 reversing manoeuvres.
The plot is one bay: the NMPC deliberately swings the hitch to about minus 48 degrees and brings it back; the unaided run passes 60 and folds.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Person D]
Limitations, honestly. One: the model is kinematic, it assumes the wheels never slip. At yard speeds of a few km/h that holds to a few centimetres, inside our clearance margin, but not on ice or at speed.
Two: we assume the truck's position and hitch angle are known. A real truck needs sensors to measure them.
Three: one trailer and a simulated yard.
Four: the solver runs on a laptop for one user; very tight bays can take the planner several seconds.
Future scope, mapping to those: add camera and LiDAR state estimation, which is the sensing layer base paper [1] proposes; a dedicated NMPC solver like acados to handle tighter yards in real time; re-planning inside the loop when the truck drifts; trials with human drivers following the instructions, and double-trailer road trains, which add another unstable mode.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Person D: close]
To conclude: reversing a trailer is open-loop unstable, a 2 degree error becomes 60 in 28 metres. We modelled the rig as a nonholonomic wheeled robot, planned drivable routes with Hybrid A*, and tracked them with an NMPC that treats the hitch limit as a hard constraint. Every one of the 110 test bays parked, and every unaided reverse jackknifed. And the output is something a human driver can execute.
Thank you; we are happy to take questions, or show the live demo.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on the slides as [n]. [1] and [2] are our two base papers.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1161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645920"/>
            <a:ext cx="5760720" cy="1920240"/>
          </a:xfrm>
          <a:prstGeom prst="rect">
            <a:avLst/>
          </a:prstGeom>
          <a:noFill/>
          <a:ln/>
        </p:spPr>
        <p:txBody>
          <a:bodyPr wrap="square" rtlCol="0"/>
          <a:lstStyle>
            <a:lvl1pPr marL="0" indent="0" algn="l">
              <a:buNone/>
              <a:defRPr lang="en-US" sz="3400" dirty="0">
                <a:solidFill>
                  <a:schemeClr val="tx1"/>
                </a:solidFill>
              </a:defRPr>
            </a:lvl1pPr>
          </a:lstStyle>
          <a:p>
            <a:pPr marL="0" indent="0" algn="l">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1161C"/>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3749040" y="2240280"/>
            <a:ext cx="7863840" cy="457200"/>
          </a:xfrm>
          <a:prstGeom prst="rect">
            <a:avLst/>
          </a:prstGeom>
          <a:noFill/>
          <a:ln/>
        </p:spPr>
        <p:txBody>
          <a:bodyPr wrap="square" rtlCol="0"/>
          <a:lstStyle>
            <a:lvl1pPr marL="0" indent="0">
              <a:buNone/>
              <a:defRPr lang="en-US" sz="1800" b="1" dirty="0">
                <a:solidFill>
                  <a:schemeClr val="accent1"/>
                </a:solidFill>
              </a:defRPr>
            </a:lvl1pPr>
          </a:lstStyle>
          <a:p>
            <a:pPr marL="0" indent="0">
              <a:buNone/>
            </a:pPr>
            <a:endParaRPr lang="en-US" sz="1800" dirty="0"/>
          </a:p>
        </p:txBody>
      </p:sp>
      <p:sp>
        <p:nvSpPr>
          <p:cNvPr id="3" name="Text 0"/>
          <p:cNvSpPr>
            <a:spLocks noGrp="1"/>
          </p:cNvSpPr>
          <p:nvPr>
            <p:ph type="title" idx="101" hasCustomPrompt="1"/>
          </p:nvPr>
        </p:nvSpPr>
        <p:spPr>
          <a:xfrm>
            <a:off x="3749040" y="2697480"/>
            <a:ext cx="7863840" cy="1005840"/>
          </a:xfrm>
          <a:prstGeom prst="rect">
            <a:avLst/>
          </a:prstGeom>
          <a:noFill/>
          <a:ln/>
        </p:spPr>
        <p:txBody>
          <a:bodyPr wrap="square" rtlCol="0"/>
          <a:lstStyle>
            <a:lvl1pPr marL="0" indent="0" algn="l">
              <a:buNone/>
              <a:defRPr lang="en-US" sz="3400" dirty="0">
                <a:solidFill>
                  <a:schemeClr val="tx1"/>
                </a:solidFill>
              </a:defRPr>
            </a:lvl1pPr>
          </a:lstStyle>
          <a:p>
            <a:pPr marL="0" indent="0" algn="l">
              <a:buNone/>
            </a:pPr>
            <a:endParaRPr lang="en-US" sz="3400" dirty="0"/>
          </a:p>
        </p:txBody>
      </p:sp>
      <p:sp>
        <p:nvSpPr>
          <p:cNvPr id="4" name="Text 0"/>
          <p:cNvSpPr>
            <a:spLocks noGrp="1"/>
          </p:cNvSpPr>
          <p:nvPr>
            <p:ph type="body" idx="102" hasCustomPrompt="1"/>
          </p:nvPr>
        </p:nvSpPr>
        <p:spPr>
          <a:xfrm>
            <a:off x="3749040" y="3749040"/>
            <a:ext cx="7680960" cy="914400"/>
          </a:xfrm>
          <a:prstGeom prst="rect">
            <a:avLst/>
          </a:prstGeom>
          <a:noFill/>
          <a:ln/>
        </p:spPr>
        <p:txBody>
          <a:bodyPr wrap="square" rtlCol="0"/>
          <a:lstStyle>
            <a:lvl1pPr marL="0" indent="0">
              <a:buNone/>
              <a:defRPr lang="en-US" sz="1800" dirty="0">
                <a:solidFill>
                  <a:schemeClr val="tx2"/>
                </a:solidFill>
              </a:defRPr>
            </a:lvl1pPr>
          </a:lstStyle>
          <a:p>
            <a:pPr marL="0" indent="0">
              <a:buNone/>
            </a:pPr>
            <a:endParaRPr lang="en-US" sz="1800" dirty="0"/>
          </a:p>
        </p:txBody>
      </p:sp>
      <p:sp>
        <p:nvSpPr>
          <p:cNvPr id="5" name="Text 0"/>
          <p:cNvSpPr/>
          <p:nvPr/>
        </p:nvSpPr>
        <p:spPr>
          <a:xfrm>
            <a:off x="548640" y="6355080"/>
            <a:ext cx="5486400" cy="274320"/>
          </a:xfrm>
          <a:prstGeom prst="rect">
            <a:avLst/>
          </a:prstGeom>
          <a:noFill/>
          <a:ln/>
        </p:spPr>
        <p:txBody>
          <a:bodyPr wrap="square" lIns="0" tIns="0" rIns="0" bIns="0" rtlCol="0" anchor="ctr"/>
          <a:lstStyle/>
          <a:p>
            <a:pPr marL="0" indent="0">
              <a:buNone/>
            </a:pPr>
            <a:r>
              <a:rPr lang="en-US" sz="1200" dirty="0">
                <a:solidFill>
                  <a:schemeClr val="accent4"/>
                </a:solidFill>
              </a:rPr>
              <a:t>Group B9  ·  Tractor-Trailer Parking Guidance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11161C"/>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960120" y="329184"/>
            <a:ext cx="7315200" cy="310896"/>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676656"/>
            <a:ext cx="11094415" cy="658368"/>
          </a:xfrm>
          <a:prstGeom prst="rect">
            <a:avLst/>
          </a:prstGeom>
          <a:noFill/>
          <a:ln/>
        </p:spPr>
        <p:txBody>
          <a:bodyPr wrap="square" rtlCol="0"/>
          <a:lstStyle>
            <a:lvl1pPr marL="0" indent="0" algn="l">
              <a:buNone/>
              <a:defRPr lang="en-US" sz="2800" dirty="0">
                <a:solidFill>
                  <a:schemeClr val="tx1"/>
                </a:solidFill>
              </a:defRPr>
            </a:lvl1pPr>
          </a:lstStyle>
          <a:p>
            <a:pPr marL="0" indent="0" algn="l">
              <a:buNone/>
            </a:pPr>
            <a:endParaRPr lang="en-US" sz="2800" dirty="0"/>
          </a:p>
        </p:txBody>
      </p:sp>
      <p:sp>
        <p:nvSpPr>
          <p:cNvPr id="4" name="Text 0"/>
          <p:cNvSpPr/>
          <p:nvPr/>
        </p:nvSpPr>
        <p:spPr>
          <a:xfrm>
            <a:off x="548640" y="6355080"/>
            <a:ext cx="5486400" cy="274320"/>
          </a:xfrm>
          <a:prstGeom prst="rect">
            <a:avLst/>
          </a:prstGeom>
          <a:noFill/>
          <a:ln/>
        </p:spPr>
        <p:txBody>
          <a:bodyPr wrap="square" lIns="0" tIns="0" rIns="0" bIns="0" rtlCol="0" anchor="ctr"/>
          <a:lstStyle/>
          <a:p>
            <a:pPr marL="0" indent="0">
              <a:buNone/>
            </a:pPr>
            <a:r>
              <a:rPr lang="en-US" sz="1200" dirty="0">
                <a:solidFill>
                  <a:schemeClr val="accent4"/>
                </a:solidFill>
              </a:rPr>
              <a:t>Group B9  ·  Tractor-Trailer Parking Guidance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1143000"/>
            <a:ext cx="5760720" cy="365760"/>
          </a:xfrm>
          <a:prstGeom prst="rect">
            <a:avLst/>
          </a:prstGeom>
          <a:noFill/>
          <a:ln/>
        </p:spPr>
        <p:txBody>
          <a:bodyPr wrap="square" lIns="0" tIns="0" rIns="0" bIns="0" rtlCol="0" anchor="t"/>
          <a:lstStyle/>
          <a:p>
            <a:pPr marL="0" indent="0">
              <a:buNone/>
            </a:pPr>
            <a:r>
              <a:rPr lang="en-US" sz="1400" b="1" dirty="0">
                <a:solidFill>
                  <a:schemeClr val="accent1"/>
                </a:solidFill>
              </a:rPr>
              <a:t>Robotics  ·  Semester 3  ·  Group B9</a:t>
            </a:r>
            <a:endParaRPr lang="en-US" sz="1400" dirty="0"/>
          </a:p>
        </p:txBody>
      </p:sp>
      <p:sp>
        <p:nvSpPr>
          <p:cNvPr id="3" name="Text 0"/>
          <p:cNvSpPr>
            <a:spLocks noGrp="1"/>
          </p:cNvSpPr>
          <p:nvPr>
            <p:ph type="title" idx="100" hasCustomPrompt="1"/>
          </p:nvPr>
        </p:nvSpPr>
        <p:spPr>
          <a:xfrm>
            <a:off x="548640" y="1645920"/>
            <a:ext cx="5760720" cy="1920240"/>
          </a:xfrm>
          <a:prstGeom prst="rect">
            <a:avLst/>
          </a:prstGeom>
          <a:noFill/>
          <a:ln/>
        </p:spPr>
        <p:txBody>
          <a:bodyPr wrap="square" lIns="0" tIns="0" rIns="0" bIns="0" rtlCol="0" anchor="t"/>
          <a:lstStyle/>
          <a:p>
            <a:pPr marL="0" indent="0" algn="l">
              <a:buNone/>
            </a:pPr>
            <a:r>
              <a:rPr lang="en-US" sz="3400" dirty="0">
                <a:solidFill>
                  <a:schemeClr val="tx1"/>
                </a:solidFill>
              </a:rPr>
              <a:t>Model Predictive Control for Automated Reverse Docking</a:t>
            </a:r>
            <a:endParaRPr lang="en-US" sz="3400" dirty="0"/>
          </a:p>
        </p:txBody>
      </p:sp>
      <p:sp>
        <p:nvSpPr>
          <p:cNvPr id="4" name="t1"/>
          <p:cNvSpPr txBox="1"/>
          <p:nvPr/>
        </p:nvSpPr>
        <p:spPr>
          <a:xfrm>
            <a:off x="548640" y="3017520"/>
            <a:ext cx="5577840" cy="731520"/>
          </a:xfrm>
          <a:prstGeom prst="rect">
            <a:avLst/>
          </a:prstGeom>
          <a:noFill/>
          <a:ln/>
        </p:spPr>
        <p:txBody>
          <a:bodyPr wrap="square" lIns="0" tIns="0" rIns="0" bIns="0" rtlCol="0" anchor="t"/>
          <a:lstStyle/>
          <a:p>
            <a:pPr marL="0" indent="0">
              <a:buNone/>
            </a:pPr>
            <a:r>
              <a:rPr lang="en-US" sz="1700" dirty="0">
                <a:solidFill>
                  <a:schemeClr val="tx2"/>
                </a:solidFill>
              </a:rPr>
              <a:t>Jackknife-safe parking guidance for a tractor-trailer, using Hybrid A* path planning and nonlinear MPC</a:t>
            </a:r>
            <a:endParaRPr lang="en-US" sz="1700" dirty="0"/>
          </a:p>
        </p:txBody>
      </p:sp>
      <p:sp>
        <p:nvSpPr>
          <p:cNvPr id="5" name="t2"/>
          <p:cNvSpPr txBox="1"/>
          <p:nvPr/>
        </p:nvSpPr>
        <p:spPr>
          <a:xfrm>
            <a:off x="548640" y="4160520"/>
            <a:ext cx="2743200" cy="548640"/>
          </a:xfrm>
          <a:prstGeom prst="rect">
            <a:avLst/>
          </a:prstGeom>
          <a:noFill/>
          <a:ln/>
        </p:spPr>
        <p:txBody>
          <a:bodyPr wrap="square" lIns="0" tIns="0" rIns="0" bIns="0" rtlCol="0" anchor="t"/>
          <a:lstStyle/>
          <a:p>
            <a:pPr marL="0" indent="0">
              <a:buNone/>
            </a:pPr>
            <a:r>
              <a:rPr lang="en-US" sz="1400" b="1" dirty="0">
                <a:solidFill>
                  <a:schemeClr val="tx1"/>
                </a:solidFill>
              </a:rPr>
              <a:t>Harshith KV</a:t>
            </a:r>
            <a:endParaRPr lang="en-US" sz="1400" dirty="0"/>
          </a:p>
          <a:p>
            <a:pPr marL="0" indent="0">
              <a:buNone/>
            </a:pPr>
            <a:r>
              <a:rPr lang="en-US" sz="1100" dirty="0">
                <a:solidFill>
                  <a:schemeClr val="accent4"/>
                </a:solidFill>
              </a:rPr>
              <a:t>AID25119</a:t>
            </a:r>
            <a:endParaRPr lang="en-US" sz="1400" dirty="0"/>
          </a:p>
        </p:txBody>
      </p:sp>
      <p:sp>
        <p:nvSpPr>
          <p:cNvPr id="6" name="t3"/>
          <p:cNvSpPr txBox="1"/>
          <p:nvPr/>
        </p:nvSpPr>
        <p:spPr>
          <a:xfrm>
            <a:off x="3429000" y="4160520"/>
            <a:ext cx="2743200" cy="548640"/>
          </a:xfrm>
          <a:prstGeom prst="rect">
            <a:avLst/>
          </a:prstGeom>
          <a:noFill/>
          <a:ln/>
        </p:spPr>
        <p:txBody>
          <a:bodyPr wrap="square" lIns="0" tIns="0" rIns="0" bIns="0" rtlCol="0" anchor="t"/>
          <a:lstStyle/>
          <a:p>
            <a:pPr marL="0" indent="0">
              <a:buNone/>
            </a:pPr>
            <a:r>
              <a:rPr lang="en-US" sz="1400" b="1" dirty="0">
                <a:solidFill>
                  <a:schemeClr val="tx1"/>
                </a:solidFill>
              </a:rPr>
              <a:t>G Venugopalan</a:t>
            </a:r>
            <a:endParaRPr lang="en-US" sz="1400" dirty="0"/>
          </a:p>
          <a:p>
            <a:pPr marL="0" indent="0">
              <a:buNone/>
            </a:pPr>
            <a:r>
              <a:rPr lang="en-US" sz="1100" dirty="0">
                <a:solidFill>
                  <a:schemeClr val="accent4"/>
                </a:solidFill>
              </a:rPr>
              <a:t>AID25115</a:t>
            </a:r>
            <a:endParaRPr lang="en-US" sz="1400" dirty="0"/>
          </a:p>
        </p:txBody>
      </p:sp>
      <p:sp>
        <p:nvSpPr>
          <p:cNvPr id="7" name="t4"/>
          <p:cNvSpPr txBox="1"/>
          <p:nvPr/>
        </p:nvSpPr>
        <p:spPr>
          <a:xfrm>
            <a:off x="548640" y="4764024"/>
            <a:ext cx="2743200" cy="548640"/>
          </a:xfrm>
          <a:prstGeom prst="rect">
            <a:avLst/>
          </a:prstGeom>
          <a:noFill/>
          <a:ln/>
        </p:spPr>
        <p:txBody>
          <a:bodyPr wrap="square" lIns="0" tIns="0" rIns="0" bIns="0" rtlCol="0" anchor="t"/>
          <a:lstStyle/>
          <a:p>
            <a:pPr marL="0" indent="0">
              <a:buNone/>
            </a:pPr>
            <a:r>
              <a:rPr lang="en-US" sz="1400" b="1" dirty="0">
                <a:solidFill>
                  <a:schemeClr val="tx1"/>
                </a:solidFill>
              </a:rPr>
              <a:t>Rithvik Arulprakash</a:t>
            </a:r>
            <a:endParaRPr lang="en-US" sz="1400" dirty="0"/>
          </a:p>
          <a:p>
            <a:pPr marL="0" indent="0">
              <a:buNone/>
            </a:pPr>
            <a:r>
              <a:rPr lang="en-US" sz="1100" dirty="0">
                <a:solidFill>
                  <a:schemeClr val="accent4"/>
                </a:solidFill>
              </a:rPr>
              <a:t>AID25148</a:t>
            </a:r>
            <a:endParaRPr lang="en-US" sz="1400" dirty="0"/>
          </a:p>
        </p:txBody>
      </p:sp>
      <p:sp>
        <p:nvSpPr>
          <p:cNvPr id="8" name="t5"/>
          <p:cNvSpPr txBox="1"/>
          <p:nvPr/>
        </p:nvSpPr>
        <p:spPr>
          <a:xfrm>
            <a:off x="3429000" y="4764024"/>
            <a:ext cx="2743200" cy="548640"/>
          </a:xfrm>
          <a:prstGeom prst="rect">
            <a:avLst/>
          </a:prstGeom>
          <a:noFill/>
          <a:ln/>
        </p:spPr>
        <p:txBody>
          <a:bodyPr wrap="square" lIns="0" tIns="0" rIns="0" bIns="0" rtlCol="0" anchor="t"/>
          <a:lstStyle/>
          <a:p>
            <a:pPr marL="0" indent="0">
              <a:buNone/>
            </a:pPr>
            <a:r>
              <a:rPr lang="en-US" sz="1400" b="1" dirty="0">
                <a:solidFill>
                  <a:schemeClr val="tx1"/>
                </a:solidFill>
              </a:rPr>
              <a:t>Vipin Sudhakar</a:t>
            </a:r>
            <a:endParaRPr lang="en-US" sz="1400" dirty="0"/>
          </a:p>
          <a:p>
            <a:pPr marL="0" indent="0">
              <a:buNone/>
            </a:pPr>
            <a:r>
              <a:rPr lang="en-US" sz="1100" dirty="0">
                <a:solidFill>
                  <a:schemeClr val="accent4"/>
                </a:solidFill>
              </a:rPr>
              <a:t>AID25166</a:t>
            </a:r>
            <a:endParaRPr lang="en-US" sz="1400" dirty="0"/>
          </a:p>
        </p:txBody>
      </p:sp>
      <p:sp>
        <p:nvSpPr>
          <p:cNvPr id="9" name="card6"/>
          <p:cNvSpPr/>
          <p:nvPr/>
        </p:nvSpPr>
        <p:spPr>
          <a:xfrm>
            <a:off x="6629400" y="548640"/>
            <a:ext cx="5029200" cy="5760720"/>
          </a:xfrm>
          <a:prstGeom prst="roundRect">
            <a:avLst>
              <a:gd name="adj" fmla="val 2182"/>
            </a:avLst>
          </a:prstGeom>
          <a:solidFill>
            <a:schemeClr val="bg2"/>
          </a:solidFill>
          <a:ln/>
        </p:spPr>
      </p:sp>
      <p:pic>
        <p:nvPicPr>
          <p:cNvPr id="10" name="img7" descr="A route from our planner: in through the gate, a forward set-up, then reversing into the highlighted bay"/>
          <p:cNvPicPr>
            <a:picLocks noChangeAspect="1"/>
          </p:cNvPicPr>
          <p:nvPr/>
        </p:nvPicPr>
        <p:blipFill>
          <a:blip r:embed="rId3"/>
          <a:stretch>
            <a:fillRect/>
          </a:stretch>
        </p:blipFill>
        <p:spPr>
          <a:xfrm>
            <a:off x="7040880" y="817931"/>
            <a:ext cx="4206240" cy="4627778"/>
          </a:xfrm>
          <a:prstGeom prst="rect">
            <a:avLst/>
          </a:prstGeom>
        </p:spPr>
      </p:pic>
      <p:sp>
        <p:nvSpPr>
          <p:cNvPr id="11" name="t8"/>
          <p:cNvSpPr txBox="1"/>
          <p:nvPr/>
        </p:nvSpPr>
        <p:spPr>
          <a:xfrm>
            <a:off x="6812280" y="5669280"/>
            <a:ext cx="4663440" cy="457200"/>
          </a:xfrm>
          <a:prstGeom prst="rect">
            <a:avLst/>
          </a:prstGeom>
          <a:noFill/>
          <a:ln/>
        </p:spPr>
        <p:txBody>
          <a:bodyPr wrap="square" lIns="0" tIns="0" rIns="0" bIns="0" rtlCol="0" anchor="t"/>
          <a:lstStyle/>
          <a:p>
            <a:pPr marL="0" indent="0" algn="ctr">
              <a:buNone/>
            </a:pPr>
            <a:r>
              <a:rPr lang="en-US" sz="1100" i="1" dirty="0">
                <a:solidFill>
                  <a:schemeClr val="accent4"/>
                </a:solidFill>
              </a:rPr>
              <a:t>A real route from our planner: drive in, set up, reverse into the bay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dge18"/>
          <p:cNvSpPr/>
          <p:nvPr/>
        </p:nvSpPr>
        <p:spPr>
          <a:xfrm>
            <a:off x="548640" y="356616"/>
            <a:ext cx="256032" cy="256032"/>
          </a:xfrm>
          <a:prstGeom prst="ellipse">
            <a:avLst/>
          </a:prstGeom>
          <a:solidFill>
            <a:schemeClr val="accent1"/>
          </a:solidFill>
          <a:ln/>
        </p:spPr>
      </p:sp>
      <p:sp>
        <p:nvSpPr>
          <p:cNvPr id="3" name="t19"/>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0</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Introduction</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Why a Truck With a Trailer Is a Different Problem</a:t>
            </a:r>
            <a:endParaRPr lang="en-US" sz="2800" dirty="0"/>
          </a:p>
        </p:txBody>
      </p:sp>
      <p:sp>
        <p:nvSpPr>
          <p:cNvPr id="6" name="t20"/>
          <p:cNvSpPr txBox="1"/>
          <p:nvPr/>
        </p:nvSpPr>
        <p:spPr>
          <a:xfrm>
            <a:off x="731520" y="1527048"/>
            <a:ext cx="2697480" cy="658368"/>
          </a:xfrm>
          <a:prstGeom prst="rect">
            <a:avLst/>
          </a:prstGeom>
          <a:noFill/>
          <a:ln/>
        </p:spPr>
        <p:txBody>
          <a:bodyPr wrap="square" lIns="0" tIns="0" rIns="0" bIns="0" rtlCol="0" anchor="ctr"/>
          <a:lstStyle/>
          <a:p>
            <a:pPr marL="0" indent="0">
              <a:buNone/>
            </a:pPr>
            <a:endParaRPr lang="en-US" sz="1700" dirty="0"/>
          </a:p>
        </p:txBody>
      </p:sp>
      <p:sp>
        <p:nvSpPr>
          <p:cNvPr id="7" name="t21"/>
          <p:cNvSpPr txBox="1"/>
          <p:nvPr/>
        </p:nvSpPr>
        <p:spPr>
          <a:xfrm>
            <a:off x="3611880" y="1527048"/>
            <a:ext cx="960120" cy="658368"/>
          </a:xfrm>
          <a:prstGeom prst="rect">
            <a:avLst/>
          </a:prstGeom>
          <a:noFill/>
          <a:ln/>
        </p:spPr>
        <p:txBody>
          <a:bodyPr wrap="square" lIns="0" tIns="0" rIns="0" bIns="0" rtlCol="0" anchor="ctr"/>
          <a:lstStyle/>
          <a:p>
            <a:pPr marL="0" indent="0">
              <a:buNone/>
            </a:pPr>
            <a:r>
              <a:rPr lang="en-US" sz="1700" b="1" dirty="0">
                <a:solidFill>
                  <a:schemeClr val="accent1"/>
                </a:solidFill>
              </a:rPr>
              <a:t>Car</a:t>
            </a:r>
            <a:endParaRPr lang="en-US" sz="1700" dirty="0"/>
          </a:p>
        </p:txBody>
      </p:sp>
      <p:sp>
        <p:nvSpPr>
          <p:cNvPr id="8" name="t22"/>
          <p:cNvSpPr txBox="1"/>
          <p:nvPr/>
        </p:nvSpPr>
        <p:spPr>
          <a:xfrm>
            <a:off x="4754880" y="1527048"/>
            <a:ext cx="2560320" cy="658368"/>
          </a:xfrm>
          <a:prstGeom prst="rect">
            <a:avLst/>
          </a:prstGeom>
          <a:noFill/>
          <a:ln/>
        </p:spPr>
        <p:txBody>
          <a:bodyPr wrap="square" lIns="0" tIns="0" rIns="0" bIns="0" rtlCol="0" anchor="ctr"/>
          <a:lstStyle/>
          <a:p>
            <a:pPr marL="0" indent="0">
              <a:buNone/>
            </a:pPr>
            <a:r>
              <a:rPr lang="en-US" sz="1700" b="1" dirty="0">
                <a:solidFill>
                  <a:srgbClr val="F2B45A"/>
                </a:solidFill>
              </a:rPr>
              <a:t>Tractor-Trailer</a:t>
            </a:r>
            <a:endParaRPr lang="en-US" sz="1700" dirty="0"/>
          </a:p>
        </p:txBody>
      </p:sp>
      <p:sp>
        <p:nvSpPr>
          <p:cNvPr id="9" name="card23"/>
          <p:cNvSpPr/>
          <p:nvPr/>
        </p:nvSpPr>
        <p:spPr>
          <a:xfrm>
            <a:off x="548640" y="2240280"/>
            <a:ext cx="6766560" cy="548640"/>
          </a:xfrm>
          <a:prstGeom prst="roundRect">
            <a:avLst>
              <a:gd name="adj" fmla="val 20000"/>
            </a:avLst>
          </a:prstGeom>
          <a:solidFill>
            <a:schemeClr val="bg2"/>
          </a:solidFill>
          <a:ln/>
        </p:spPr>
      </p:sp>
      <p:sp>
        <p:nvSpPr>
          <p:cNvPr id="10" name="t24"/>
          <p:cNvSpPr txBox="1"/>
          <p:nvPr/>
        </p:nvSpPr>
        <p:spPr>
          <a:xfrm>
            <a:off x="731520" y="2185416"/>
            <a:ext cx="2697480" cy="658368"/>
          </a:xfrm>
          <a:prstGeom prst="rect">
            <a:avLst/>
          </a:prstGeom>
          <a:noFill/>
          <a:ln/>
        </p:spPr>
        <p:txBody>
          <a:bodyPr wrap="square" lIns="0" tIns="0" rIns="0" bIns="0" rtlCol="0" anchor="ctr"/>
          <a:lstStyle/>
          <a:p>
            <a:pPr marL="0" indent="0">
              <a:buNone/>
            </a:pPr>
            <a:r>
              <a:rPr lang="en-US" sz="1700" b="1" dirty="0">
                <a:solidFill>
                  <a:schemeClr val="tx1"/>
                </a:solidFill>
              </a:rPr>
              <a:t>Rigid Bodies</a:t>
            </a:r>
            <a:endParaRPr lang="en-US" sz="1700" dirty="0"/>
          </a:p>
        </p:txBody>
      </p:sp>
      <p:sp>
        <p:nvSpPr>
          <p:cNvPr id="11" name="t25"/>
          <p:cNvSpPr txBox="1"/>
          <p:nvPr/>
        </p:nvSpPr>
        <p:spPr>
          <a:xfrm>
            <a:off x="3611880" y="2185416"/>
            <a:ext cx="960120" cy="658368"/>
          </a:xfrm>
          <a:prstGeom prst="rect">
            <a:avLst/>
          </a:prstGeom>
          <a:noFill/>
          <a:ln/>
        </p:spPr>
        <p:txBody>
          <a:bodyPr wrap="square" lIns="0" tIns="0" rIns="0" bIns="0" rtlCol="0" anchor="ctr"/>
          <a:lstStyle/>
          <a:p>
            <a:pPr marL="0" indent="0">
              <a:buNone/>
            </a:pPr>
            <a:r>
              <a:rPr lang="en-US" sz="1700" dirty="0">
                <a:solidFill>
                  <a:schemeClr val="tx2"/>
                </a:solidFill>
              </a:rPr>
              <a:t>1</a:t>
            </a:r>
            <a:endParaRPr lang="en-US" sz="1700" dirty="0"/>
          </a:p>
        </p:txBody>
      </p:sp>
      <p:sp>
        <p:nvSpPr>
          <p:cNvPr id="12" name="t26"/>
          <p:cNvSpPr txBox="1"/>
          <p:nvPr/>
        </p:nvSpPr>
        <p:spPr>
          <a:xfrm>
            <a:off x="4754880" y="2185416"/>
            <a:ext cx="2560320" cy="658368"/>
          </a:xfrm>
          <a:prstGeom prst="rect">
            <a:avLst/>
          </a:prstGeom>
          <a:noFill/>
          <a:ln/>
        </p:spPr>
        <p:txBody>
          <a:bodyPr wrap="square" lIns="0" tIns="0" rIns="0" bIns="0" rtlCol="0" anchor="ctr"/>
          <a:lstStyle/>
          <a:p>
            <a:pPr marL="0" indent="0">
              <a:buNone/>
            </a:pPr>
            <a:r>
              <a:rPr lang="en-US" sz="1700" dirty="0">
                <a:solidFill>
                  <a:schemeClr val="tx2"/>
                </a:solidFill>
              </a:rPr>
              <a:t>2, joined at a hitch</a:t>
            </a:r>
            <a:endParaRPr lang="en-US" sz="1700" dirty="0"/>
          </a:p>
        </p:txBody>
      </p:sp>
      <p:sp>
        <p:nvSpPr>
          <p:cNvPr id="13" name="card27"/>
          <p:cNvSpPr/>
          <p:nvPr/>
        </p:nvSpPr>
        <p:spPr>
          <a:xfrm>
            <a:off x="548640" y="2898648"/>
            <a:ext cx="6766560" cy="548640"/>
          </a:xfrm>
          <a:prstGeom prst="roundRect">
            <a:avLst>
              <a:gd name="adj" fmla="val 20000"/>
            </a:avLst>
          </a:prstGeom>
          <a:solidFill>
            <a:schemeClr val="bg1"/>
          </a:solidFill>
          <a:ln/>
        </p:spPr>
      </p:sp>
      <p:sp>
        <p:nvSpPr>
          <p:cNvPr id="14" name="t28"/>
          <p:cNvSpPr txBox="1"/>
          <p:nvPr/>
        </p:nvSpPr>
        <p:spPr>
          <a:xfrm>
            <a:off x="731520" y="2843784"/>
            <a:ext cx="2697480" cy="658368"/>
          </a:xfrm>
          <a:prstGeom prst="rect">
            <a:avLst/>
          </a:prstGeom>
          <a:noFill/>
          <a:ln/>
        </p:spPr>
        <p:txBody>
          <a:bodyPr wrap="square" lIns="0" tIns="0" rIns="0" bIns="0" rtlCol="0" anchor="ctr"/>
          <a:lstStyle/>
          <a:p>
            <a:pPr marL="0" indent="0">
              <a:buNone/>
            </a:pPr>
            <a:r>
              <a:rPr lang="en-US" sz="1700" b="1" dirty="0">
                <a:solidFill>
                  <a:schemeClr val="tx1"/>
                </a:solidFill>
              </a:rPr>
              <a:t>State Variables</a:t>
            </a:r>
            <a:endParaRPr lang="en-US" sz="1700" dirty="0"/>
          </a:p>
        </p:txBody>
      </p:sp>
      <p:sp>
        <p:nvSpPr>
          <p:cNvPr id="15" name="t29"/>
          <p:cNvSpPr txBox="1"/>
          <p:nvPr/>
        </p:nvSpPr>
        <p:spPr>
          <a:xfrm>
            <a:off x="3611880" y="2843784"/>
            <a:ext cx="960120" cy="658368"/>
          </a:xfrm>
          <a:prstGeom prst="rect">
            <a:avLst/>
          </a:prstGeom>
          <a:noFill/>
          <a:ln/>
        </p:spPr>
        <p:txBody>
          <a:bodyPr wrap="square" lIns="0" tIns="0" rIns="0" bIns="0" rtlCol="0" anchor="ctr"/>
          <a:lstStyle/>
          <a:p>
            <a:pPr marL="0" indent="0">
              <a:buNone/>
            </a:pPr>
            <a:r>
              <a:rPr lang="en-US" sz="1700" dirty="0">
                <a:solidFill>
                  <a:schemeClr val="tx2"/>
                </a:solidFill>
              </a:rPr>
              <a:t>3</a:t>
            </a:r>
            <a:endParaRPr lang="en-US" sz="1700" dirty="0"/>
          </a:p>
        </p:txBody>
      </p:sp>
      <p:sp>
        <p:nvSpPr>
          <p:cNvPr id="16" name="t30"/>
          <p:cNvSpPr txBox="1"/>
          <p:nvPr/>
        </p:nvSpPr>
        <p:spPr>
          <a:xfrm>
            <a:off x="4754880" y="2843784"/>
            <a:ext cx="2560320" cy="658368"/>
          </a:xfrm>
          <a:prstGeom prst="rect">
            <a:avLst/>
          </a:prstGeom>
          <a:noFill/>
          <a:ln/>
        </p:spPr>
        <p:txBody>
          <a:bodyPr wrap="square" lIns="0" tIns="0" rIns="0" bIns="0" rtlCol="0" anchor="ctr"/>
          <a:lstStyle/>
          <a:p>
            <a:pPr marL="0" indent="0">
              <a:buNone/>
            </a:pPr>
            <a:r>
              <a:rPr lang="en-US" sz="1700" dirty="0">
                <a:solidFill>
                  <a:schemeClr val="tx2"/>
                </a:solidFill>
              </a:rPr>
              <a:t>4</a:t>
            </a:r>
            <a:endParaRPr lang="en-US" sz="1700" dirty="0"/>
          </a:p>
        </p:txBody>
      </p:sp>
      <p:sp>
        <p:nvSpPr>
          <p:cNvPr id="17" name="card31"/>
          <p:cNvSpPr/>
          <p:nvPr/>
        </p:nvSpPr>
        <p:spPr>
          <a:xfrm>
            <a:off x="548640" y="3557016"/>
            <a:ext cx="6766560" cy="548640"/>
          </a:xfrm>
          <a:prstGeom prst="roundRect">
            <a:avLst>
              <a:gd name="adj" fmla="val 20000"/>
            </a:avLst>
          </a:prstGeom>
          <a:solidFill>
            <a:schemeClr val="bg2"/>
          </a:solidFill>
          <a:ln/>
        </p:spPr>
      </p:sp>
      <p:sp>
        <p:nvSpPr>
          <p:cNvPr id="18" name="t32"/>
          <p:cNvSpPr txBox="1"/>
          <p:nvPr/>
        </p:nvSpPr>
        <p:spPr>
          <a:xfrm>
            <a:off x="731520" y="3502152"/>
            <a:ext cx="2697480" cy="658368"/>
          </a:xfrm>
          <a:prstGeom prst="rect">
            <a:avLst/>
          </a:prstGeom>
          <a:noFill/>
          <a:ln/>
        </p:spPr>
        <p:txBody>
          <a:bodyPr wrap="square" lIns="0" tIns="0" rIns="0" bIns="0" rtlCol="0" anchor="ctr"/>
          <a:lstStyle/>
          <a:p>
            <a:pPr marL="0" indent="0">
              <a:buNone/>
            </a:pPr>
            <a:r>
              <a:rPr lang="en-US" sz="1700" b="1" dirty="0">
                <a:solidFill>
                  <a:schemeClr val="tx1"/>
                </a:solidFill>
              </a:rPr>
              <a:t>Reversing</a:t>
            </a:r>
            <a:endParaRPr lang="en-US" sz="1700" dirty="0"/>
          </a:p>
        </p:txBody>
      </p:sp>
      <p:sp>
        <p:nvSpPr>
          <p:cNvPr id="19" name="t33"/>
          <p:cNvSpPr txBox="1"/>
          <p:nvPr/>
        </p:nvSpPr>
        <p:spPr>
          <a:xfrm>
            <a:off x="3611880" y="3502152"/>
            <a:ext cx="960120" cy="658368"/>
          </a:xfrm>
          <a:prstGeom prst="rect">
            <a:avLst/>
          </a:prstGeom>
          <a:noFill/>
          <a:ln/>
        </p:spPr>
        <p:txBody>
          <a:bodyPr wrap="square" lIns="0" tIns="0" rIns="0" bIns="0" rtlCol="0" anchor="ctr"/>
          <a:lstStyle/>
          <a:p>
            <a:pPr marL="0" indent="0">
              <a:buNone/>
            </a:pPr>
            <a:r>
              <a:rPr lang="en-US" sz="1700" dirty="0">
                <a:solidFill>
                  <a:schemeClr val="tx2"/>
                </a:solidFill>
              </a:rPr>
              <a:t>Stable</a:t>
            </a:r>
            <a:endParaRPr lang="en-US" sz="1700" dirty="0"/>
          </a:p>
        </p:txBody>
      </p:sp>
      <p:sp>
        <p:nvSpPr>
          <p:cNvPr id="20" name="t34"/>
          <p:cNvSpPr txBox="1"/>
          <p:nvPr/>
        </p:nvSpPr>
        <p:spPr>
          <a:xfrm>
            <a:off x="4754880" y="3502152"/>
            <a:ext cx="2560320" cy="658368"/>
          </a:xfrm>
          <a:prstGeom prst="rect">
            <a:avLst/>
          </a:prstGeom>
          <a:noFill/>
          <a:ln/>
        </p:spPr>
        <p:txBody>
          <a:bodyPr wrap="square" lIns="0" tIns="0" rIns="0" bIns="0" rtlCol="0" anchor="ctr"/>
          <a:lstStyle/>
          <a:p>
            <a:pPr marL="0" indent="0">
              <a:buNone/>
            </a:pPr>
            <a:r>
              <a:rPr lang="en-US" sz="1700" dirty="0">
                <a:solidFill>
                  <a:schemeClr val="accent3"/>
                </a:solidFill>
              </a:rPr>
              <a:t>Unstable: jackknifes</a:t>
            </a:r>
            <a:endParaRPr lang="en-US" sz="1700" dirty="0"/>
          </a:p>
        </p:txBody>
      </p:sp>
      <p:sp>
        <p:nvSpPr>
          <p:cNvPr id="21" name="card35"/>
          <p:cNvSpPr/>
          <p:nvPr/>
        </p:nvSpPr>
        <p:spPr>
          <a:xfrm>
            <a:off x="548640" y="4215384"/>
            <a:ext cx="6766560" cy="548640"/>
          </a:xfrm>
          <a:prstGeom prst="roundRect">
            <a:avLst>
              <a:gd name="adj" fmla="val 20000"/>
            </a:avLst>
          </a:prstGeom>
          <a:solidFill>
            <a:schemeClr val="bg1"/>
          </a:solidFill>
          <a:ln/>
        </p:spPr>
      </p:sp>
      <p:sp>
        <p:nvSpPr>
          <p:cNvPr id="22" name="t36"/>
          <p:cNvSpPr txBox="1"/>
          <p:nvPr/>
        </p:nvSpPr>
        <p:spPr>
          <a:xfrm>
            <a:off x="731520" y="4160520"/>
            <a:ext cx="2697480" cy="658368"/>
          </a:xfrm>
          <a:prstGeom prst="rect">
            <a:avLst/>
          </a:prstGeom>
          <a:noFill/>
          <a:ln/>
        </p:spPr>
        <p:txBody>
          <a:bodyPr wrap="square" lIns="0" tIns="0" rIns="0" bIns="0" rtlCol="0" anchor="ctr"/>
          <a:lstStyle/>
          <a:p>
            <a:pPr marL="0" indent="0">
              <a:buNone/>
            </a:pPr>
            <a:r>
              <a:rPr lang="en-US" sz="1700" b="1" dirty="0">
                <a:solidFill>
                  <a:schemeClr val="tx1"/>
                </a:solidFill>
              </a:rPr>
              <a:t>Self-Parking Today</a:t>
            </a:r>
            <a:endParaRPr lang="en-US" sz="1700" dirty="0"/>
          </a:p>
        </p:txBody>
      </p:sp>
      <p:sp>
        <p:nvSpPr>
          <p:cNvPr id="23" name="t37"/>
          <p:cNvSpPr txBox="1"/>
          <p:nvPr/>
        </p:nvSpPr>
        <p:spPr>
          <a:xfrm>
            <a:off x="3611880" y="4160520"/>
            <a:ext cx="960120" cy="658368"/>
          </a:xfrm>
          <a:prstGeom prst="rect">
            <a:avLst/>
          </a:prstGeom>
          <a:noFill/>
          <a:ln/>
        </p:spPr>
        <p:txBody>
          <a:bodyPr wrap="square" lIns="0" tIns="0" rIns="0" bIns="0" rtlCol="0" anchor="ctr"/>
          <a:lstStyle/>
          <a:p>
            <a:pPr marL="0" indent="0">
              <a:buNone/>
            </a:pPr>
            <a:r>
              <a:rPr lang="en-US" sz="1700" dirty="0">
                <a:solidFill>
                  <a:schemeClr val="tx2"/>
                </a:solidFill>
              </a:rPr>
              <a:t>Yes</a:t>
            </a:r>
            <a:endParaRPr lang="en-US" sz="1700" dirty="0"/>
          </a:p>
        </p:txBody>
      </p:sp>
      <p:sp>
        <p:nvSpPr>
          <p:cNvPr id="24" name="t38"/>
          <p:cNvSpPr txBox="1"/>
          <p:nvPr/>
        </p:nvSpPr>
        <p:spPr>
          <a:xfrm>
            <a:off x="4754880" y="4160520"/>
            <a:ext cx="2560320" cy="658368"/>
          </a:xfrm>
          <a:prstGeom prst="rect">
            <a:avLst/>
          </a:prstGeom>
          <a:noFill/>
          <a:ln/>
        </p:spPr>
        <p:txBody>
          <a:bodyPr wrap="square" lIns="0" tIns="0" rIns="0" bIns="0" rtlCol="0" anchor="ctr"/>
          <a:lstStyle/>
          <a:p>
            <a:pPr marL="0" indent="0">
              <a:buNone/>
            </a:pPr>
            <a:r>
              <a:rPr lang="en-US" sz="1700" dirty="0">
                <a:solidFill>
                  <a:schemeClr val="tx2"/>
                </a:solidFill>
              </a:rPr>
              <a:t>No</a:t>
            </a:r>
            <a:endParaRPr lang="en-US" sz="1700" dirty="0"/>
          </a:p>
        </p:txBody>
      </p:sp>
      <p:pic>
        <p:nvPicPr>
          <p:cNvPr id="25" name="img39" descr="Unaided reverse in our simulator: the trailer folds against the tractor"/>
          <p:cNvPicPr>
            <a:picLocks noChangeAspect="1"/>
          </p:cNvPicPr>
          <p:nvPr/>
        </p:nvPicPr>
        <p:blipFill>
          <a:blip r:embed="rId3"/>
          <a:stretch>
            <a:fillRect/>
          </a:stretch>
        </p:blipFill>
        <p:spPr>
          <a:xfrm>
            <a:off x="7543800" y="1527048"/>
            <a:ext cx="4114800" cy="2834126"/>
          </a:xfrm>
          <a:prstGeom prst="rect">
            <a:avLst/>
          </a:prstGeom>
        </p:spPr>
      </p:pic>
      <p:sp>
        <p:nvSpPr>
          <p:cNvPr id="26" name="t40"/>
          <p:cNvSpPr txBox="1"/>
          <p:nvPr/>
        </p:nvSpPr>
        <p:spPr>
          <a:xfrm>
            <a:off x="7543800" y="4407408"/>
            <a:ext cx="4114800" cy="365760"/>
          </a:xfrm>
          <a:prstGeom prst="rect">
            <a:avLst/>
          </a:prstGeom>
          <a:noFill/>
          <a:ln/>
        </p:spPr>
        <p:txBody>
          <a:bodyPr wrap="square" lIns="0" tIns="0" rIns="0" bIns="0" rtlCol="0" anchor="t"/>
          <a:lstStyle/>
          <a:p>
            <a:pPr marL="0" indent="0" algn="r">
              <a:buNone/>
            </a:pPr>
            <a:r>
              <a:rPr lang="en-US" sz="1100" i="1" dirty="0">
                <a:solidFill>
                  <a:schemeClr val="accent4"/>
                </a:solidFill>
              </a:rPr>
              <a:t>Unaided reverse in our simulator: the rig folds</a:t>
            </a:r>
            <a:endParaRPr lang="en-US" sz="1100" dirty="0"/>
          </a:p>
        </p:txBody>
      </p:sp>
      <p:sp>
        <p:nvSpPr>
          <p:cNvPr id="27" name="card41"/>
          <p:cNvSpPr/>
          <p:nvPr/>
        </p:nvSpPr>
        <p:spPr>
          <a:xfrm>
            <a:off x="548640" y="5120640"/>
            <a:ext cx="11094415" cy="960120"/>
          </a:xfrm>
          <a:prstGeom prst="roundRect">
            <a:avLst>
              <a:gd name="adj" fmla="val 11429"/>
            </a:avLst>
          </a:prstGeom>
          <a:solidFill>
            <a:schemeClr val="accent6"/>
          </a:solidFill>
          <a:ln/>
        </p:spPr>
      </p:sp>
      <p:sp>
        <p:nvSpPr>
          <p:cNvPr id="28" name="t42"/>
          <p:cNvSpPr txBox="1"/>
          <p:nvPr/>
        </p:nvSpPr>
        <p:spPr>
          <a:xfrm>
            <a:off x="822960" y="5120640"/>
            <a:ext cx="10545775" cy="960120"/>
          </a:xfrm>
          <a:prstGeom prst="rect">
            <a:avLst/>
          </a:prstGeom>
          <a:noFill/>
          <a:ln/>
        </p:spPr>
        <p:txBody>
          <a:bodyPr wrap="square" lIns="0" tIns="0" rIns="0" bIns="0" rtlCol="0" anchor="ctr"/>
          <a:lstStyle/>
          <a:p>
            <a:pPr marL="0" indent="0">
              <a:buNone/>
            </a:pPr>
            <a:r>
              <a:rPr lang="en-US" sz="1700" b="1" dirty="0">
                <a:solidFill>
                  <a:schemeClr val="tx1"/>
                </a:solidFill>
              </a:rPr>
              <a:t>Our Goal: </a:t>
            </a:r>
            <a:r>
              <a:rPr lang="en-US" sz="1700" dirty="0">
                <a:solidFill>
                  <a:schemeClr val="tx1"/>
                </a:solidFill>
              </a:rPr>
              <a:t>guide the truck from the gate into a chosen bay while the hitch angle never exceeds 60°</a:t>
            </a:r>
            <a:endParaRPr lang="en-US" sz="1700" dirty="0"/>
          </a:p>
        </p:txBody>
      </p:sp>
      <p:sp>
        <p:nvSpPr>
          <p:cNvPr id="29"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How This Presentation Is Organised</a:t>
            </a:r>
            <a:endParaRPr lang="en-US" sz="2800" dirty="0"/>
          </a:p>
        </p:txBody>
      </p:sp>
      <p:sp>
        <p:nvSpPr>
          <p:cNvPr id="4" name="card44"/>
          <p:cNvSpPr/>
          <p:nvPr/>
        </p:nvSpPr>
        <p:spPr>
          <a:xfrm>
            <a:off x="548640" y="1709928"/>
            <a:ext cx="2567864" cy="3566160"/>
          </a:xfrm>
          <a:prstGeom prst="roundRect">
            <a:avLst>
              <a:gd name="adj" fmla="val 4273"/>
            </a:avLst>
          </a:prstGeom>
          <a:solidFill>
            <a:schemeClr val="bg2"/>
          </a:solidFill>
          <a:ln/>
        </p:spPr>
      </p:sp>
      <p:sp>
        <p:nvSpPr>
          <p:cNvPr id="5" name="badge45"/>
          <p:cNvSpPr/>
          <p:nvPr/>
        </p:nvSpPr>
        <p:spPr>
          <a:xfrm>
            <a:off x="822960" y="2029968"/>
            <a:ext cx="731520" cy="731520"/>
          </a:xfrm>
          <a:prstGeom prst="ellipse">
            <a:avLst/>
          </a:prstGeom>
          <a:solidFill>
            <a:schemeClr val="accent1"/>
          </a:solidFill>
          <a:ln/>
        </p:spPr>
      </p:sp>
      <p:sp>
        <p:nvSpPr>
          <p:cNvPr id="6" name="t46"/>
          <p:cNvSpPr txBox="1"/>
          <p:nvPr/>
        </p:nvSpPr>
        <p:spPr>
          <a:xfrm>
            <a:off x="822960" y="2029968"/>
            <a:ext cx="731520" cy="731520"/>
          </a:xfrm>
          <a:prstGeom prst="rect">
            <a:avLst/>
          </a:prstGeom>
          <a:noFill/>
          <a:ln/>
        </p:spPr>
        <p:txBody>
          <a:bodyPr wrap="square" lIns="0" tIns="0" rIns="0" bIns="0" rtlCol="0" anchor="ctr"/>
          <a:lstStyle/>
          <a:p>
            <a:pPr marL="0" indent="0" algn="ctr">
              <a:buNone/>
            </a:pPr>
            <a:r>
              <a:rPr lang="en-US" sz="2100" b="1" dirty="0">
                <a:solidFill>
                  <a:schemeClr val="bg1"/>
                </a:solidFill>
              </a:rPr>
              <a:t>1</a:t>
            </a:r>
            <a:endParaRPr lang="en-US" sz="2100" dirty="0"/>
          </a:p>
        </p:txBody>
      </p:sp>
      <p:sp>
        <p:nvSpPr>
          <p:cNvPr id="7" name="t47"/>
          <p:cNvSpPr txBox="1"/>
          <p:nvPr/>
        </p:nvSpPr>
        <p:spPr>
          <a:xfrm>
            <a:off x="822960" y="2990088"/>
            <a:ext cx="2019224" cy="731520"/>
          </a:xfrm>
          <a:prstGeom prst="rect">
            <a:avLst/>
          </a:prstGeom>
          <a:noFill/>
          <a:ln/>
        </p:spPr>
        <p:txBody>
          <a:bodyPr wrap="square" lIns="0" tIns="0" rIns="0" bIns="0" rtlCol="0" anchor="t"/>
          <a:lstStyle/>
          <a:p>
            <a:pPr marL="0" indent="0">
              <a:buNone/>
            </a:pPr>
            <a:r>
              <a:rPr lang="en-US" sz="1800" b="1" dirty="0">
                <a:solidFill>
                  <a:schemeClr val="tx1"/>
                </a:solidFill>
              </a:rPr>
              <a:t>Modelling</a:t>
            </a:r>
            <a:endParaRPr lang="en-US" sz="1800" dirty="0"/>
          </a:p>
        </p:txBody>
      </p:sp>
      <p:sp>
        <p:nvSpPr>
          <p:cNvPr id="8" name="t48"/>
          <p:cNvSpPr txBox="1"/>
          <p:nvPr/>
        </p:nvSpPr>
        <p:spPr>
          <a:xfrm>
            <a:off x="822960" y="3813048"/>
            <a:ext cx="2019224" cy="1280160"/>
          </a:xfrm>
          <a:prstGeom prst="rect">
            <a:avLst/>
          </a:prstGeom>
          <a:noFill/>
          <a:ln/>
        </p:spPr>
        <p:txBody>
          <a:bodyPr wrap="square" lIns="0" tIns="0" rIns="0" bIns="0" rtlCol="0" anchor="t"/>
          <a:lstStyle/>
          <a:p>
            <a:pPr marL="0" indent="0">
              <a:buNone/>
            </a:pPr>
            <a:r>
              <a:rPr lang="en-US" sz="1600" dirty="0">
                <a:solidFill>
                  <a:schemeClr val="tx2"/>
                </a:solidFill>
              </a:rPr>
              <a:t>The truck as a robot: bodies, joint, states and inputs</a:t>
            </a:r>
            <a:endParaRPr lang="en-US" sz="1600" dirty="0"/>
          </a:p>
        </p:txBody>
      </p:sp>
      <p:sp>
        <p:nvSpPr>
          <p:cNvPr id="9" name="card49"/>
          <p:cNvSpPr/>
          <p:nvPr/>
        </p:nvSpPr>
        <p:spPr>
          <a:xfrm>
            <a:off x="3390824" y="1709928"/>
            <a:ext cx="2567864" cy="3566160"/>
          </a:xfrm>
          <a:prstGeom prst="roundRect">
            <a:avLst>
              <a:gd name="adj" fmla="val 4273"/>
            </a:avLst>
          </a:prstGeom>
          <a:solidFill>
            <a:schemeClr val="bg2"/>
          </a:solidFill>
          <a:ln/>
        </p:spPr>
      </p:sp>
      <p:sp>
        <p:nvSpPr>
          <p:cNvPr id="10" name="badge50"/>
          <p:cNvSpPr/>
          <p:nvPr/>
        </p:nvSpPr>
        <p:spPr>
          <a:xfrm>
            <a:off x="3665144" y="2029968"/>
            <a:ext cx="731520" cy="731520"/>
          </a:xfrm>
          <a:prstGeom prst="ellipse">
            <a:avLst/>
          </a:prstGeom>
          <a:solidFill>
            <a:schemeClr val="accent1"/>
          </a:solidFill>
          <a:ln/>
        </p:spPr>
      </p:sp>
      <p:sp>
        <p:nvSpPr>
          <p:cNvPr id="11" name="t51"/>
          <p:cNvSpPr txBox="1"/>
          <p:nvPr/>
        </p:nvSpPr>
        <p:spPr>
          <a:xfrm>
            <a:off x="3665144" y="2029968"/>
            <a:ext cx="731520" cy="731520"/>
          </a:xfrm>
          <a:prstGeom prst="rect">
            <a:avLst/>
          </a:prstGeom>
          <a:noFill/>
          <a:ln/>
        </p:spPr>
        <p:txBody>
          <a:bodyPr wrap="square" lIns="0" tIns="0" rIns="0" bIns="0" rtlCol="0" anchor="ctr"/>
          <a:lstStyle/>
          <a:p>
            <a:pPr marL="0" indent="0" algn="ctr">
              <a:buNone/>
            </a:pPr>
            <a:r>
              <a:rPr lang="en-US" sz="2100" b="1" dirty="0">
                <a:solidFill>
                  <a:schemeClr val="bg1"/>
                </a:solidFill>
              </a:rPr>
              <a:t>2</a:t>
            </a:r>
            <a:endParaRPr lang="en-US" sz="2100" dirty="0"/>
          </a:p>
        </p:txBody>
      </p:sp>
      <p:sp>
        <p:nvSpPr>
          <p:cNvPr id="12" name="t52"/>
          <p:cNvSpPr txBox="1"/>
          <p:nvPr/>
        </p:nvSpPr>
        <p:spPr>
          <a:xfrm>
            <a:off x="3665144" y="2990088"/>
            <a:ext cx="2019224" cy="731520"/>
          </a:xfrm>
          <a:prstGeom prst="rect">
            <a:avLst/>
          </a:prstGeom>
          <a:noFill/>
          <a:ln/>
        </p:spPr>
        <p:txBody>
          <a:bodyPr wrap="square" lIns="0" tIns="0" rIns="0" bIns="0" rtlCol="0" anchor="t"/>
          <a:lstStyle/>
          <a:p>
            <a:pPr marL="0" indent="0">
              <a:buNone/>
            </a:pPr>
            <a:r>
              <a:rPr lang="en-US" sz="1800" b="1" dirty="0">
                <a:solidFill>
                  <a:schemeClr val="tx1"/>
                </a:solidFill>
              </a:rPr>
              <a:t>Vehicle Kinematics</a:t>
            </a:r>
            <a:endParaRPr lang="en-US" sz="1800" dirty="0"/>
          </a:p>
        </p:txBody>
      </p:sp>
      <p:sp>
        <p:nvSpPr>
          <p:cNvPr id="13" name="t53"/>
          <p:cNvSpPr txBox="1"/>
          <p:nvPr/>
        </p:nvSpPr>
        <p:spPr>
          <a:xfrm>
            <a:off x="3665144" y="3813048"/>
            <a:ext cx="2019224" cy="1280160"/>
          </a:xfrm>
          <a:prstGeom prst="rect">
            <a:avLst/>
          </a:prstGeom>
          <a:noFill/>
          <a:ln/>
        </p:spPr>
        <p:txBody>
          <a:bodyPr wrap="square" lIns="0" tIns="0" rIns="0" bIns="0" rtlCol="0" anchor="t"/>
          <a:lstStyle/>
          <a:p>
            <a:pPr marL="0" indent="0">
              <a:buNone/>
            </a:pPr>
            <a:r>
              <a:rPr lang="en-US" sz="1600" dirty="0">
                <a:solidFill>
                  <a:schemeClr val="tx2"/>
                </a:solidFill>
              </a:rPr>
              <a:t>How it moves: the equations and where they come from</a:t>
            </a:r>
            <a:endParaRPr lang="en-US" sz="1600" dirty="0"/>
          </a:p>
        </p:txBody>
      </p:sp>
      <p:sp>
        <p:nvSpPr>
          <p:cNvPr id="14" name="card54"/>
          <p:cNvSpPr/>
          <p:nvPr/>
        </p:nvSpPr>
        <p:spPr>
          <a:xfrm>
            <a:off x="6233008" y="1709928"/>
            <a:ext cx="2567864" cy="3566160"/>
          </a:xfrm>
          <a:prstGeom prst="roundRect">
            <a:avLst>
              <a:gd name="adj" fmla="val 4273"/>
            </a:avLst>
          </a:prstGeom>
          <a:solidFill>
            <a:schemeClr val="bg2"/>
          </a:solidFill>
          <a:ln/>
        </p:spPr>
      </p:sp>
      <p:sp>
        <p:nvSpPr>
          <p:cNvPr id="15" name="badge55"/>
          <p:cNvSpPr/>
          <p:nvPr/>
        </p:nvSpPr>
        <p:spPr>
          <a:xfrm>
            <a:off x="6507328" y="2029968"/>
            <a:ext cx="731520" cy="731520"/>
          </a:xfrm>
          <a:prstGeom prst="ellipse">
            <a:avLst/>
          </a:prstGeom>
          <a:solidFill>
            <a:schemeClr val="accent1"/>
          </a:solidFill>
          <a:ln/>
        </p:spPr>
      </p:sp>
      <p:sp>
        <p:nvSpPr>
          <p:cNvPr id="16" name="t56"/>
          <p:cNvSpPr txBox="1"/>
          <p:nvPr/>
        </p:nvSpPr>
        <p:spPr>
          <a:xfrm>
            <a:off x="6507328" y="2029968"/>
            <a:ext cx="731520" cy="731520"/>
          </a:xfrm>
          <a:prstGeom prst="rect">
            <a:avLst/>
          </a:prstGeom>
          <a:noFill/>
          <a:ln/>
        </p:spPr>
        <p:txBody>
          <a:bodyPr wrap="square" lIns="0" tIns="0" rIns="0" bIns="0" rtlCol="0" anchor="ctr"/>
          <a:lstStyle/>
          <a:p>
            <a:pPr marL="0" indent="0" algn="ctr">
              <a:buNone/>
            </a:pPr>
            <a:r>
              <a:rPr lang="en-US" sz="2100" b="1" dirty="0">
                <a:solidFill>
                  <a:schemeClr val="bg1"/>
                </a:solidFill>
              </a:rPr>
              <a:t>3</a:t>
            </a:r>
            <a:endParaRPr lang="en-US" sz="2100" dirty="0"/>
          </a:p>
        </p:txBody>
      </p:sp>
      <p:sp>
        <p:nvSpPr>
          <p:cNvPr id="17" name="t57"/>
          <p:cNvSpPr txBox="1"/>
          <p:nvPr/>
        </p:nvSpPr>
        <p:spPr>
          <a:xfrm>
            <a:off x="6507328" y="2990088"/>
            <a:ext cx="2019224" cy="731520"/>
          </a:xfrm>
          <a:prstGeom prst="rect">
            <a:avLst/>
          </a:prstGeom>
          <a:noFill/>
          <a:ln/>
        </p:spPr>
        <p:txBody>
          <a:bodyPr wrap="square" lIns="0" tIns="0" rIns="0" bIns="0" rtlCol="0" anchor="t"/>
          <a:lstStyle/>
          <a:p>
            <a:pPr marL="0" indent="0">
              <a:buNone/>
            </a:pPr>
            <a:r>
              <a:rPr lang="en-US" sz="1800" b="1" dirty="0">
                <a:solidFill>
                  <a:schemeClr val="tx1"/>
                </a:solidFill>
              </a:rPr>
              <a:t>Hybrid A* and NMPC</a:t>
            </a:r>
            <a:endParaRPr lang="en-US" sz="1800" dirty="0"/>
          </a:p>
        </p:txBody>
      </p:sp>
      <p:sp>
        <p:nvSpPr>
          <p:cNvPr id="18" name="t58"/>
          <p:cNvSpPr txBox="1"/>
          <p:nvPr/>
        </p:nvSpPr>
        <p:spPr>
          <a:xfrm>
            <a:off x="6507328" y="3813048"/>
            <a:ext cx="2019224" cy="1280160"/>
          </a:xfrm>
          <a:prstGeom prst="rect">
            <a:avLst/>
          </a:prstGeom>
          <a:noFill/>
          <a:ln/>
        </p:spPr>
        <p:txBody>
          <a:bodyPr wrap="square" lIns="0" tIns="0" rIns="0" bIns="0" rtlCol="0" anchor="t"/>
          <a:lstStyle/>
          <a:p>
            <a:pPr marL="0" indent="0">
              <a:buNone/>
            </a:pPr>
            <a:r>
              <a:rPr lang="en-US" sz="1600" dirty="0">
                <a:solidFill>
                  <a:schemeClr val="tx2"/>
                </a:solidFill>
              </a:rPr>
              <a:t>How we plan the route and keep the trailer stable</a:t>
            </a:r>
            <a:endParaRPr lang="en-US" sz="1600" dirty="0"/>
          </a:p>
        </p:txBody>
      </p:sp>
      <p:sp>
        <p:nvSpPr>
          <p:cNvPr id="19" name="card59"/>
          <p:cNvSpPr/>
          <p:nvPr/>
        </p:nvSpPr>
        <p:spPr>
          <a:xfrm>
            <a:off x="9075191" y="1709928"/>
            <a:ext cx="2567864" cy="3566160"/>
          </a:xfrm>
          <a:prstGeom prst="roundRect">
            <a:avLst>
              <a:gd name="adj" fmla="val 4273"/>
            </a:avLst>
          </a:prstGeom>
          <a:solidFill>
            <a:schemeClr val="bg2"/>
          </a:solidFill>
          <a:ln/>
        </p:spPr>
      </p:sp>
      <p:sp>
        <p:nvSpPr>
          <p:cNvPr id="20" name="badge60"/>
          <p:cNvSpPr/>
          <p:nvPr/>
        </p:nvSpPr>
        <p:spPr>
          <a:xfrm>
            <a:off x="9349511" y="2029968"/>
            <a:ext cx="731520" cy="731520"/>
          </a:xfrm>
          <a:prstGeom prst="ellipse">
            <a:avLst/>
          </a:prstGeom>
          <a:solidFill>
            <a:schemeClr val="accent1"/>
          </a:solidFill>
          <a:ln/>
        </p:spPr>
      </p:sp>
      <p:sp>
        <p:nvSpPr>
          <p:cNvPr id="21" name="t61"/>
          <p:cNvSpPr txBox="1"/>
          <p:nvPr/>
        </p:nvSpPr>
        <p:spPr>
          <a:xfrm>
            <a:off x="9349511" y="2029968"/>
            <a:ext cx="731520" cy="731520"/>
          </a:xfrm>
          <a:prstGeom prst="rect">
            <a:avLst/>
          </a:prstGeom>
          <a:noFill/>
          <a:ln/>
        </p:spPr>
        <p:txBody>
          <a:bodyPr wrap="square" lIns="0" tIns="0" rIns="0" bIns="0" rtlCol="0" anchor="ctr"/>
          <a:lstStyle/>
          <a:p>
            <a:pPr marL="0" indent="0" algn="ctr">
              <a:buNone/>
            </a:pPr>
            <a:r>
              <a:rPr lang="en-US" sz="2100" b="1" dirty="0">
                <a:solidFill>
                  <a:schemeClr val="bg1"/>
                </a:solidFill>
              </a:rPr>
              <a:t>4</a:t>
            </a:r>
            <a:endParaRPr lang="en-US" sz="2100" dirty="0"/>
          </a:p>
        </p:txBody>
      </p:sp>
      <p:sp>
        <p:nvSpPr>
          <p:cNvPr id="22" name="t62"/>
          <p:cNvSpPr txBox="1"/>
          <p:nvPr/>
        </p:nvSpPr>
        <p:spPr>
          <a:xfrm>
            <a:off x="9349511" y="2990088"/>
            <a:ext cx="2019224" cy="731520"/>
          </a:xfrm>
          <a:prstGeom prst="rect">
            <a:avLst/>
          </a:prstGeom>
          <a:noFill/>
          <a:ln/>
        </p:spPr>
        <p:txBody>
          <a:bodyPr wrap="square" lIns="0" tIns="0" rIns="0" bIns="0" rtlCol="0" anchor="t"/>
          <a:lstStyle/>
          <a:p>
            <a:pPr marL="0" indent="0">
              <a:buNone/>
            </a:pPr>
            <a:r>
              <a:rPr lang="en-US" sz="1800" b="1" dirty="0">
                <a:solidFill>
                  <a:schemeClr val="tx1"/>
                </a:solidFill>
              </a:rPr>
              <a:t>Limitations and Future Scope</a:t>
            </a:r>
            <a:endParaRPr lang="en-US" sz="1800" dirty="0"/>
          </a:p>
        </p:txBody>
      </p:sp>
      <p:sp>
        <p:nvSpPr>
          <p:cNvPr id="23" name="t63"/>
          <p:cNvSpPr txBox="1"/>
          <p:nvPr/>
        </p:nvSpPr>
        <p:spPr>
          <a:xfrm>
            <a:off x="9349511" y="3813048"/>
            <a:ext cx="2019224" cy="1280160"/>
          </a:xfrm>
          <a:prstGeom prst="rect">
            <a:avLst/>
          </a:prstGeom>
          <a:noFill/>
          <a:ln/>
        </p:spPr>
        <p:txBody>
          <a:bodyPr wrap="square" lIns="0" tIns="0" rIns="0" bIns="0" rtlCol="0" anchor="t"/>
          <a:lstStyle/>
          <a:p>
            <a:pPr marL="0" indent="0">
              <a:buNone/>
            </a:pPr>
            <a:r>
              <a:rPr lang="en-US" sz="1600" dirty="0">
                <a:solidFill>
                  <a:schemeClr val="tx2"/>
                </a:solidFill>
              </a:rPr>
              <a:t>Results, what is still missing, what comes next</a:t>
            </a:r>
            <a:endParaRPr lang="en-US" sz="1600" dirty="0"/>
          </a:p>
        </p:txBody>
      </p:sp>
      <p:sp>
        <p:nvSpPr>
          <p:cNvPr id="24"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dge64"/>
          <p:cNvSpPr/>
          <p:nvPr/>
        </p:nvSpPr>
        <p:spPr>
          <a:xfrm>
            <a:off x="1371600" y="2331720"/>
            <a:ext cx="1828800" cy="1828800"/>
          </a:xfrm>
          <a:prstGeom prst="ellipse">
            <a:avLst/>
          </a:prstGeom>
          <a:solidFill>
            <a:schemeClr val="accent1"/>
          </a:solidFill>
          <a:ln/>
        </p:spPr>
      </p:sp>
      <p:sp>
        <p:nvSpPr>
          <p:cNvPr id="3" name="t65"/>
          <p:cNvSpPr txBox="1"/>
          <p:nvPr/>
        </p:nvSpPr>
        <p:spPr>
          <a:xfrm>
            <a:off x="1371600" y="2331720"/>
            <a:ext cx="1828800" cy="1828800"/>
          </a:xfrm>
          <a:prstGeom prst="rect">
            <a:avLst/>
          </a:prstGeom>
          <a:noFill/>
          <a:ln/>
        </p:spPr>
        <p:txBody>
          <a:bodyPr wrap="square" lIns="0" tIns="0" rIns="0" bIns="0" rtlCol="0" anchor="ctr"/>
          <a:lstStyle/>
          <a:p>
            <a:pPr marL="0" indent="0" algn="ctr">
              <a:buNone/>
            </a:pPr>
            <a:r>
              <a:rPr lang="en-US" sz="7200" b="1" dirty="0">
                <a:solidFill>
                  <a:schemeClr val="bg1"/>
                </a:solidFill>
              </a:rPr>
              <a:t>1</a:t>
            </a:r>
            <a:endParaRPr lang="en-US" sz="7200" dirty="0"/>
          </a:p>
        </p:txBody>
      </p:sp>
      <p:sp>
        <p:nvSpPr>
          <p:cNvPr id="4" name="Text 0"/>
          <p:cNvSpPr>
            <a:spLocks noGrp="1"/>
          </p:cNvSpPr>
          <p:nvPr>
            <p:ph type="body" idx="100" hasCustomPrompt="1"/>
          </p:nvPr>
        </p:nvSpPr>
        <p:spPr>
          <a:xfrm>
            <a:off x="3749040" y="2240280"/>
            <a:ext cx="7863840" cy="457200"/>
          </a:xfrm>
          <a:prstGeom prst="rect">
            <a:avLst/>
          </a:prstGeom>
          <a:noFill/>
          <a:ln/>
        </p:spPr>
        <p:txBody>
          <a:bodyPr wrap="square" lIns="0" tIns="0" rIns="0" bIns="0" rtlCol="0" anchor="ctr"/>
          <a:lstStyle/>
          <a:p>
            <a:pPr marL="0" indent="0">
              <a:buNone/>
            </a:pPr>
            <a:r>
              <a:rPr lang="en-US" sz="1800" b="1" dirty="0">
                <a:solidFill>
                  <a:schemeClr val="accent1"/>
                </a:solidFill>
              </a:rPr>
              <a:t>Part 1</a:t>
            </a:r>
            <a:endParaRPr lang="en-US" sz="1800" dirty="0"/>
          </a:p>
        </p:txBody>
      </p:sp>
      <p:sp>
        <p:nvSpPr>
          <p:cNvPr id="5" name="Text 0"/>
          <p:cNvSpPr>
            <a:spLocks noGrp="1"/>
          </p:cNvSpPr>
          <p:nvPr>
            <p:ph type="title" idx="101" hasCustomPrompt="1"/>
          </p:nvPr>
        </p:nvSpPr>
        <p:spPr>
          <a:xfrm>
            <a:off x="3749040" y="2697480"/>
            <a:ext cx="7863840" cy="1005840"/>
          </a:xfrm>
          <a:prstGeom prst="rect">
            <a:avLst/>
          </a:prstGeom>
          <a:noFill/>
          <a:ln/>
        </p:spPr>
        <p:txBody>
          <a:bodyPr wrap="square" lIns="0" tIns="0" rIns="0" bIns="0" rtlCol="0" anchor="ctr"/>
          <a:lstStyle/>
          <a:p>
            <a:pPr marL="0" indent="0" algn="l">
              <a:buNone/>
            </a:pPr>
            <a:r>
              <a:rPr lang="en-US" sz="3400" dirty="0">
                <a:solidFill>
                  <a:schemeClr val="tx1"/>
                </a:solidFill>
              </a:rPr>
              <a:t>Modelling the Tractor-Trailer</a:t>
            </a:r>
            <a:endParaRPr lang="en-US" sz="3400" dirty="0"/>
          </a:p>
        </p:txBody>
      </p:sp>
      <p:sp>
        <p:nvSpPr>
          <p:cNvPr id="6" name="Text 0"/>
          <p:cNvSpPr>
            <a:spLocks noGrp="1"/>
          </p:cNvSpPr>
          <p:nvPr>
            <p:ph type="body" idx="102" hasCustomPrompt="1"/>
          </p:nvPr>
        </p:nvSpPr>
        <p:spPr>
          <a:xfrm>
            <a:off x="3749040" y="3749040"/>
            <a:ext cx="7680960" cy="914400"/>
          </a:xfrm>
          <a:prstGeom prst="rect">
            <a:avLst/>
          </a:prstGeom>
          <a:noFill/>
          <a:ln/>
        </p:spPr>
        <p:txBody>
          <a:bodyPr wrap="square" lIns="0" tIns="0" rIns="0" bIns="0" rtlCol="0" anchor="t"/>
          <a:lstStyle/>
          <a:p>
            <a:pPr marL="0" indent="0">
              <a:buNone/>
            </a:pPr>
            <a:r>
              <a:rPr lang="en-US" sz="1800" dirty="0">
                <a:solidFill>
                  <a:schemeClr val="tx2"/>
                </a:solidFill>
              </a:rPr>
              <a:t>What kind of robot it is, which laws govern it, and how we describe its state</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dge66"/>
          <p:cNvSpPr/>
          <p:nvPr/>
        </p:nvSpPr>
        <p:spPr>
          <a:xfrm>
            <a:off x="548640" y="356616"/>
            <a:ext cx="256032" cy="256032"/>
          </a:xfrm>
          <a:prstGeom prst="ellipse">
            <a:avLst/>
          </a:prstGeom>
          <a:solidFill>
            <a:schemeClr val="accent1"/>
          </a:solidFill>
          <a:ln/>
        </p:spPr>
      </p:sp>
      <p:sp>
        <p:nvSpPr>
          <p:cNvPr id="3" name="t67"/>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1  ·  Modelling</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A Tractor-Trailer Is a Wheeled Mobile Robot</a:t>
            </a:r>
            <a:endParaRPr lang="en-US" sz="2800" dirty="0"/>
          </a:p>
        </p:txBody>
      </p:sp>
      <p:pic>
        <p:nvPicPr>
          <p:cNvPr id="6" name="img68" descr="Tractor and trailer as two rigid bodies with their own frames, joined by a passive revolute hitch, in a world frame"/>
          <p:cNvPicPr>
            <a:picLocks noChangeAspect="1"/>
          </p:cNvPicPr>
          <p:nvPr/>
        </p:nvPicPr>
        <p:blipFill>
          <a:blip r:embed="rId3"/>
          <a:stretch>
            <a:fillRect/>
          </a:stretch>
        </p:blipFill>
        <p:spPr>
          <a:xfrm>
            <a:off x="457200" y="1481328"/>
            <a:ext cx="6766560" cy="4480560"/>
          </a:xfrm>
          <a:prstGeom prst="rect">
            <a:avLst/>
          </a:prstGeom>
        </p:spPr>
      </p:pic>
      <p:sp>
        <p:nvSpPr>
          <p:cNvPr id="7" name="t69"/>
          <p:cNvSpPr txBox="1"/>
          <p:nvPr/>
        </p:nvSpPr>
        <p:spPr>
          <a:xfrm>
            <a:off x="7315200" y="1618488"/>
            <a:ext cx="4327855" cy="146304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chemeClr val="tx2"/>
                </a:solidFill>
              </a:rPr>
              <a:t>Two rigid bodies: the tractor and the trailer</a:t>
            </a:r>
            <a:endParaRPr lang="en-US" sz="1800" dirty="0"/>
          </a:p>
          <a:p>
            <a:pPr marL="203200" indent="-203200">
              <a:spcAft>
                <a:spcPts val="600"/>
              </a:spcAft>
              <a:buSzPct val="100000"/>
              <a:buChar char="•"/>
            </a:pPr>
            <a:r>
              <a:rPr lang="en-US" sz="1800" dirty="0">
                <a:solidFill>
                  <a:schemeClr val="tx2"/>
                </a:solidFill>
              </a:rPr>
              <a:t>Joined by one passive revolute joint, the hitch</a:t>
            </a:r>
            <a:endParaRPr lang="en-US" sz="1800" dirty="0"/>
          </a:p>
          <a:p>
            <a:pPr marL="203200" indent="-203200">
              <a:spcAft>
                <a:spcPts val="600"/>
              </a:spcAft>
              <a:buSzPct val="100000"/>
              <a:buChar char="•"/>
            </a:pPr>
            <a:r>
              <a:rPr lang="en-US" sz="1800" dirty="0">
                <a:solidFill>
                  <a:schemeClr val="tx2"/>
                </a:solidFill>
              </a:rPr>
              <a:t>Its configuration needs four numbers:</a:t>
            </a:r>
            <a:endParaRPr lang="en-US" sz="1800" dirty="0"/>
          </a:p>
        </p:txBody>
      </p:sp>
      <p:pic>
        <p:nvPicPr>
          <p:cNvPr id="8" name="img70" descr="q equals x1, y1, theta0, theta1"/>
          <p:cNvPicPr>
            <a:picLocks noChangeAspect="1"/>
          </p:cNvPicPr>
          <p:nvPr/>
        </p:nvPicPr>
        <p:blipFill>
          <a:blip r:embed="rId4"/>
          <a:stretch>
            <a:fillRect/>
          </a:stretch>
        </p:blipFill>
        <p:spPr>
          <a:xfrm>
            <a:off x="7589520" y="3127248"/>
            <a:ext cx="2355494" cy="365760"/>
          </a:xfrm>
          <a:prstGeom prst="rect">
            <a:avLst/>
          </a:prstGeom>
        </p:spPr>
      </p:pic>
      <p:sp>
        <p:nvSpPr>
          <p:cNvPr id="9" name="card71"/>
          <p:cNvSpPr/>
          <p:nvPr/>
        </p:nvSpPr>
        <p:spPr>
          <a:xfrm>
            <a:off x="7315200" y="3995928"/>
            <a:ext cx="4327855" cy="914400"/>
          </a:xfrm>
          <a:prstGeom prst="roundRect">
            <a:avLst>
              <a:gd name="adj" fmla="val 12000"/>
            </a:avLst>
          </a:prstGeom>
          <a:solidFill>
            <a:schemeClr val="accent6"/>
          </a:solidFill>
          <a:ln/>
        </p:spPr>
      </p:sp>
      <p:sp>
        <p:nvSpPr>
          <p:cNvPr id="10" name="t72"/>
          <p:cNvSpPr txBox="1"/>
          <p:nvPr/>
        </p:nvSpPr>
        <p:spPr>
          <a:xfrm>
            <a:off x="7543800" y="3995928"/>
            <a:ext cx="3870655" cy="914400"/>
          </a:xfrm>
          <a:prstGeom prst="rect">
            <a:avLst/>
          </a:prstGeom>
          <a:noFill/>
          <a:ln/>
        </p:spPr>
        <p:txBody>
          <a:bodyPr wrap="square" lIns="0" tIns="0" rIns="0" bIns="0" rtlCol="0" anchor="ctr"/>
          <a:lstStyle/>
          <a:p>
            <a:pPr marL="0" indent="0">
              <a:buNone/>
            </a:pPr>
            <a:r>
              <a:rPr lang="en-US" sz="1600" dirty="0">
                <a:solidFill>
                  <a:schemeClr val="tx1"/>
                </a:solidFill>
              </a:rPr>
              <a:t>Only two inputs are driven: speed and steering. The hitch just follows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dge73"/>
          <p:cNvSpPr/>
          <p:nvPr/>
        </p:nvSpPr>
        <p:spPr>
          <a:xfrm>
            <a:off x="548640" y="356616"/>
            <a:ext cx="256032" cy="256032"/>
          </a:xfrm>
          <a:prstGeom prst="ellipse">
            <a:avLst/>
          </a:prstGeom>
          <a:solidFill>
            <a:schemeClr val="accent1"/>
          </a:solidFill>
          <a:ln/>
        </p:spPr>
      </p:sp>
      <p:sp>
        <p:nvSpPr>
          <p:cNvPr id="3" name="t74"/>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1  ·  Modelling</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Three Robotics Principles Behind the Model</a:t>
            </a:r>
            <a:endParaRPr lang="en-US" sz="2800" dirty="0"/>
          </a:p>
        </p:txBody>
      </p:sp>
      <p:sp>
        <p:nvSpPr>
          <p:cNvPr id="6" name="badge75"/>
          <p:cNvSpPr/>
          <p:nvPr/>
        </p:nvSpPr>
        <p:spPr>
          <a:xfrm>
            <a:off x="548640" y="1572768"/>
            <a:ext cx="548640" cy="548640"/>
          </a:xfrm>
          <a:prstGeom prst="ellipse">
            <a:avLst/>
          </a:prstGeom>
          <a:solidFill>
            <a:schemeClr val="accent1"/>
          </a:solidFill>
          <a:ln/>
        </p:spPr>
      </p:sp>
      <p:sp>
        <p:nvSpPr>
          <p:cNvPr id="7" name="t76"/>
          <p:cNvSpPr txBox="1"/>
          <p:nvPr/>
        </p:nvSpPr>
        <p:spPr>
          <a:xfrm>
            <a:off x="548640" y="1572768"/>
            <a:ext cx="548640" cy="54864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8" name="t77"/>
          <p:cNvSpPr txBox="1"/>
          <p:nvPr/>
        </p:nvSpPr>
        <p:spPr>
          <a:xfrm>
            <a:off x="1325880" y="1527048"/>
            <a:ext cx="5623560" cy="457200"/>
          </a:xfrm>
          <a:prstGeom prst="rect">
            <a:avLst/>
          </a:prstGeom>
          <a:noFill/>
          <a:ln/>
        </p:spPr>
        <p:txBody>
          <a:bodyPr wrap="square" lIns="0" tIns="0" rIns="0" bIns="0" rtlCol="0" anchor="t"/>
          <a:lstStyle/>
          <a:p>
            <a:pPr marL="0" indent="0">
              <a:buNone/>
            </a:pPr>
            <a:r>
              <a:rPr lang="en-US" sz="1800" b="1" dirty="0">
                <a:solidFill>
                  <a:schemeClr val="tx1"/>
                </a:solidFill>
              </a:rPr>
              <a:t>Rigid-Body Transforms</a:t>
            </a:r>
            <a:endParaRPr lang="en-US" sz="1800" dirty="0"/>
          </a:p>
        </p:txBody>
      </p:sp>
      <p:sp>
        <p:nvSpPr>
          <p:cNvPr id="9" name="t78"/>
          <p:cNvSpPr txBox="1"/>
          <p:nvPr/>
        </p:nvSpPr>
        <p:spPr>
          <a:xfrm>
            <a:off x="1325880" y="2002536"/>
            <a:ext cx="5623560" cy="914400"/>
          </a:xfrm>
          <a:prstGeom prst="rect">
            <a:avLst/>
          </a:prstGeom>
          <a:noFill/>
          <a:ln/>
        </p:spPr>
        <p:txBody>
          <a:bodyPr wrap="square" lIns="0" tIns="0" rIns="0" bIns="0" rtlCol="0" anchor="t"/>
          <a:lstStyle/>
          <a:p>
            <a:pPr marL="0" indent="0">
              <a:buNone/>
            </a:pPr>
            <a:r>
              <a:rPr lang="en-US" sz="1500" dirty="0">
                <a:solidFill>
                  <a:schemeClr val="tx2"/>
                </a:solidFill>
              </a:rPr>
              <a:t>Hitch and trailer poses follow from the tractor pose: a chain of frames, like a 2-link arm</a:t>
            </a:r>
            <a:endParaRPr lang="en-US" sz="1500" dirty="0"/>
          </a:p>
        </p:txBody>
      </p:sp>
      <p:sp>
        <p:nvSpPr>
          <p:cNvPr id="10" name="badge79"/>
          <p:cNvSpPr/>
          <p:nvPr/>
        </p:nvSpPr>
        <p:spPr>
          <a:xfrm>
            <a:off x="548640" y="3054096"/>
            <a:ext cx="548640" cy="548640"/>
          </a:xfrm>
          <a:prstGeom prst="ellipse">
            <a:avLst/>
          </a:prstGeom>
          <a:solidFill>
            <a:schemeClr val="accent1"/>
          </a:solidFill>
          <a:ln/>
        </p:spPr>
      </p:sp>
      <p:sp>
        <p:nvSpPr>
          <p:cNvPr id="11" name="t80"/>
          <p:cNvSpPr txBox="1"/>
          <p:nvPr/>
        </p:nvSpPr>
        <p:spPr>
          <a:xfrm>
            <a:off x="548640" y="3054096"/>
            <a:ext cx="548640" cy="54864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12" name="t81"/>
          <p:cNvSpPr txBox="1"/>
          <p:nvPr/>
        </p:nvSpPr>
        <p:spPr>
          <a:xfrm>
            <a:off x="1325880" y="3008376"/>
            <a:ext cx="5623560" cy="457200"/>
          </a:xfrm>
          <a:prstGeom prst="rect">
            <a:avLst/>
          </a:prstGeom>
          <a:noFill/>
          <a:ln/>
        </p:spPr>
        <p:txBody>
          <a:bodyPr wrap="square" lIns="0" tIns="0" rIns="0" bIns="0" rtlCol="0" anchor="t"/>
          <a:lstStyle/>
          <a:p>
            <a:pPr marL="0" indent="0">
              <a:buNone/>
            </a:pPr>
            <a:r>
              <a:rPr lang="en-US" sz="1800" b="1" dirty="0">
                <a:solidFill>
                  <a:schemeClr val="tx1"/>
                </a:solidFill>
              </a:rPr>
              <a:t>Rolling Without Slipping</a:t>
            </a:r>
            <a:endParaRPr lang="en-US" sz="1800" dirty="0"/>
          </a:p>
        </p:txBody>
      </p:sp>
      <p:sp>
        <p:nvSpPr>
          <p:cNvPr id="13" name="t82"/>
          <p:cNvSpPr txBox="1"/>
          <p:nvPr/>
        </p:nvSpPr>
        <p:spPr>
          <a:xfrm>
            <a:off x="1325880" y="3483864"/>
            <a:ext cx="5623560" cy="914400"/>
          </a:xfrm>
          <a:prstGeom prst="rect">
            <a:avLst/>
          </a:prstGeom>
          <a:noFill/>
          <a:ln/>
        </p:spPr>
        <p:txBody>
          <a:bodyPr wrap="square" lIns="0" tIns="0" rIns="0" bIns="0" rtlCol="0" anchor="t"/>
          <a:lstStyle/>
          <a:p>
            <a:pPr marL="0" indent="0">
              <a:buNone/>
            </a:pPr>
            <a:r>
              <a:rPr lang="en-US" sz="1500" dirty="0">
                <a:solidFill>
                  <a:schemeClr val="tx2"/>
                </a:solidFill>
              </a:rPr>
              <a:t>Each axle moves only along its own heading, never sideways</a:t>
            </a:r>
            <a:endParaRPr lang="en-US" sz="1500" dirty="0"/>
          </a:p>
        </p:txBody>
      </p:sp>
      <p:sp>
        <p:nvSpPr>
          <p:cNvPr id="14" name="badge83"/>
          <p:cNvSpPr/>
          <p:nvPr/>
        </p:nvSpPr>
        <p:spPr>
          <a:xfrm>
            <a:off x="548640" y="4535424"/>
            <a:ext cx="548640" cy="548640"/>
          </a:xfrm>
          <a:prstGeom prst="ellipse">
            <a:avLst/>
          </a:prstGeom>
          <a:solidFill>
            <a:schemeClr val="accent1"/>
          </a:solidFill>
          <a:ln/>
        </p:spPr>
      </p:sp>
      <p:sp>
        <p:nvSpPr>
          <p:cNvPr id="15" name="t84"/>
          <p:cNvSpPr txBox="1"/>
          <p:nvPr/>
        </p:nvSpPr>
        <p:spPr>
          <a:xfrm>
            <a:off x="548640" y="4535424"/>
            <a:ext cx="548640" cy="54864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16" name="t85"/>
          <p:cNvSpPr txBox="1"/>
          <p:nvPr/>
        </p:nvSpPr>
        <p:spPr>
          <a:xfrm>
            <a:off x="1325880" y="4489704"/>
            <a:ext cx="5623560" cy="457200"/>
          </a:xfrm>
          <a:prstGeom prst="rect">
            <a:avLst/>
          </a:prstGeom>
          <a:noFill/>
          <a:ln/>
        </p:spPr>
        <p:txBody>
          <a:bodyPr wrap="square" lIns="0" tIns="0" rIns="0" bIns="0" rtlCol="0" anchor="t"/>
          <a:lstStyle/>
          <a:p>
            <a:pPr marL="0" indent="0">
              <a:buNone/>
            </a:pPr>
            <a:r>
              <a:rPr lang="en-US" sz="1800" b="1" dirty="0">
                <a:solidFill>
                  <a:schemeClr val="tx1"/>
                </a:solidFill>
              </a:rPr>
              <a:t>Nonholonomic but Controllable</a:t>
            </a:r>
            <a:endParaRPr lang="en-US" sz="1800" dirty="0"/>
          </a:p>
        </p:txBody>
      </p:sp>
      <p:sp>
        <p:nvSpPr>
          <p:cNvPr id="17" name="t86"/>
          <p:cNvSpPr txBox="1"/>
          <p:nvPr/>
        </p:nvSpPr>
        <p:spPr>
          <a:xfrm>
            <a:off x="1325880" y="4965192"/>
            <a:ext cx="5623560" cy="914400"/>
          </a:xfrm>
          <a:prstGeom prst="rect">
            <a:avLst/>
          </a:prstGeom>
          <a:noFill/>
          <a:ln/>
        </p:spPr>
        <p:txBody>
          <a:bodyPr wrap="square" lIns="0" tIns="0" rIns="0" bIns="0" rtlCol="0" anchor="t"/>
          <a:lstStyle/>
          <a:p>
            <a:pPr marL="0" indent="0">
              <a:buNone/>
            </a:pPr>
            <a:r>
              <a:rPr lang="en-US" sz="1500" dirty="0">
                <a:solidFill>
                  <a:schemeClr val="tx2"/>
                </a:solidFill>
              </a:rPr>
              <a:t>2 inputs still reach all 4 states: that is why parking manoeuvres work </a:t>
            </a:r>
            <a:endParaRPr lang="en-US" sz="1500" dirty="0"/>
          </a:p>
        </p:txBody>
      </p:sp>
      <p:pic>
        <p:nvPicPr>
          <p:cNvPr id="18" name="img87" descr="A wheel can roll along its heading but cannot slide sideways"/>
          <p:cNvPicPr>
            <a:picLocks noChangeAspect="1"/>
          </p:cNvPicPr>
          <p:nvPr/>
        </p:nvPicPr>
        <p:blipFill>
          <a:blip r:embed="rId3"/>
          <a:stretch>
            <a:fillRect/>
          </a:stretch>
        </p:blipFill>
        <p:spPr>
          <a:xfrm>
            <a:off x="7318466" y="1389888"/>
            <a:ext cx="4291149" cy="3337560"/>
          </a:xfrm>
          <a:prstGeom prst="rect">
            <a:avLst/>
          </a:prstGeom>
        </p:spPr>
      </p:pic>
      <p:sp>
        <p:nvSpPr>
          <p:cNvPr id="19" name="card88"/>
          <p:cNvSpPr/>
          <p:nvPr/>
        </p:nvSpPr>
        <p:spPr>
          <a:xfrm>
            <a:off x="7269480" y="4818888"/>
            <a:ext cx="4373575" cy="1325880"/>
          </a:xfrm>
          <a:prstGeom prst="roundRect">
            <a:avLst>
              <a:gd name="adj" fmla="val 8276"/>
            </a:avLst>
          </a:prstGeom>
          <a:solidFill>
            <a:schemeClr val="bg2"/>
          </a:solidFill>
          <a:ln/>
        </p:spPr>
      </p:sp>
      <p:sp>
        <p:nvSpPr>
          <p:cNvPr id="20" name="t89"/>
          <p:cNvSpPr txBox="1"/>
          <p:nvPr/>
        </p:nvSpPr>
        <p:spPr>
          <a:xfrm>
            <a:off x="8168640" y="5022044"/>
            <a:ext cx="4023360" cy="365760"/>
          </a:xfrm>
          <a:prstGeom prst="rect">
            <a:avLst/>
          </a:prstGeom>
          <a:noFill/>
          <a:ln/>
        </p:spPr>
        <p:txBody>
          <a:bodyPr wrap="square" lIns="0" tIns="0" rIns="0" bIns="0" rtlCol="0" anchor="t"/>
          <a:lstStyle/>
          <a:p>
            <a:pPr marL="0" indent="0">
              <a:buNone/>
            </a:pPr>
            <a:r>
              <a:rPr lang="en-US" sz="1400" dirty="0">
                <a:solidFill>
                  <a:schemeClr val="tx2"/>
                </a:solidFill>
              </a:rPr>
              <a:t>No-Slip Constraint, One per Axle</a:t>
            </a:r>
            <a:endParaRPr lang="en-US" sz="1400" dirty="0"/>
          </a:p>
        </p:txBody>
      </p:sp>
      <p:pic>
        <p:nvPicPr>
          <p:cNvPr id="21" name="img90" descr="x-dot sin theta minus y-dot cos theta equals zero"/>
          <p:cNvPicPr>
            <a:picLocks noChangeAspect="1"/>
          </p:cNvPicPr>
          <p:nvPr/>
        </p:nvPicPr>
        <p:blipFill>
          <a:blip r:embed="rId4"/>
          <a:stretch>
            <a:fillRect/>
          </a:stretch>
        </p:blipFill>
        <p:spPr>
          <a:xfrm>
            <a:off x="8349386" y="5367528"/>
            <a:ext cx="2275027" cy="343814"/>
          </a:xfrm>
          <a:prstGeom prst="rect">
            <a:avLst/>
          </a:prstGeom>
        </p:spPr>
      </p:pic>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5" name="Text 0"/>
          <p:cNvSpPr>
            <a:spLocks noGrp="1"/>
          </p:cNvSpPr>
          <p:nvPr>
            <p:ph type="title" idx="101" hasCustomPrompt="1"/>
          </p:nvPr>
        </p:nvSpPr>
        <p:spPr>
          <a:xfrm>
            <a:off x="548640" y="35661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State Variables and Control Inputs</a:t>
            </a:r>
            <a:endParaRPr lang="en-US" sz="2800" dirty="0"/>
          </a:p>
        </p:txBody>
      </p:sp>
      <p:pic>
        <p:nvPicPr>
          <p:cNvPr id="6" name="img93" descr="Geometry of the rig: rear axle (x1, y1), headings theta0 and theta1, hitch angle psi, steering delta, wheelbases L1 and L2"/>
          <p:cNvPicPr>
            <a:picLocks noChangeAspect="1"/>
          </p:cNvPicPr>
          <p:nvPr/>
        </p:nvPicPr>
        <p:blipFill>
          <a:blip r:embed="rId3"/>
          <a:stretch>
            <a:fillRect/>
          </a:stretch>
        </p:blipFill>
        <p:spPr>
          <a:xfrm>
            <a:off x="365760" y="1527048"/>
            <a:ext cx="6492240" cy="3844089"/>
          </a:xfrm>
          <a:prstGeom prst="rect">
            <a:avLst/>
          </a:prstGeom>
        </p:spPr>
      </p:pic>
      <p:sp>
        <p:nvSpPr>
          <p:cNvPr id="7" name="t94"/>
          <p:cNvSpPr txBox="1"/>
          <p:nvPr/>
        </p:nvSpPr>
        <p:spPr>
          <a:xfrm>
            <a:off x="6949439" y="1049175"/>
            <a:ext cx="4693615" cy="365760"/>
          </a:xfrm>
          <a:prstGeom prst="rect">
            <a:avLst/>
          </a:prstGeom>
          <a:noFill/>
          <a:ln/>
        </p:spPr>
        <p:txBody>
          <a:bodyPr wrap="square" lIns="0" tIns="0" rIns="0" bIns="0" rtlCol="0" anchor="t"/>
          <a:lstStyle/>
          <a:p>
            <a:pPr marL="0" indent="0">
              <a:buNone/>
            </a:pPr>
            <a:r>
              <a:rPr lang="en-US" sz="1500" b="1" dirty="0">
                <a:solidFill>
                  <a:schemeClr val="accent1"/>
                </a:solidFill>
              </a:rPr>
              <a:t>State</a:t>
            </a:r>
            <a:endParaRPr lang="en-US" sz="1500" dirty="0"/>
          </a:p>
        </p:txBody>
      </p:sp>
      <p:pic>
        <p:nvPicPr>
          <p:cNvPr id="8" name="img95" descr="X equals x1, y1, theta0, psi, transposed"/>
          <p:cNvPicPr>
            <a:picLocks noChangeAspect="1"/>
          </p:cNvPicPr>
          <p:nvPr/>
        </p:nvPicPr>
        <p:blipFill>
          <a:blip r:embed="rId4"/>
          <a:stretch>
            <a:fillRect/>
          </a:stretch>
        </p:blipFill>
        <p:spPr>
          <a:xfrm>
            <a:off x="6949440" y="1465028"/>
            <a:ext cx="2706624" cy="420624"/>
          </a:xfrm>
          <a:prstGeom prst="rect">
            <a:avLst/>
          </a:prstGeom>
        </p:spPr>
      </p:pic>
      <p:sp>
        <p:nvSpPr>
          <p:cNvPr id="9" name="t96"/>
          <p:cNvSpPr txBox="1"/>
          <p:nvPr/>
        </p:nvSpPr>
        <p:spPr>
          <a:xfrm>
            <a:off x="6949440" y="2084832"/>
            <a:ext cx="1600200" cy="384048"/>
          </a:xfrm>
          <a:prstGeom prst="rect">
            <a:avLst/>
          </a:prstGeom>
          <a:noFill/>
          <a:ln/>
        </p:spPr>
        <p:txBody>
          <a:bodyPr wrap="square" lIns="0" tIns="0" rIns="0" bIns="0" rtlCol="0" anchor="ctr"/>
          <a:lstStyle/>
          <a:p>
            <a:pPr marL="0" indent="0">
              <a:buNone/>
            </a:pPr>
            <a:r>
              <a:rPr lang="en-US" sz="1500" i="1" dirty="0">
                <a:solidFill>
                  <a:schemeClr val="tx1"/>
                </a:solidFill>
                <a:latin typeface="Cambria Math" pitchFamily="34" charset="0"/>
                <a:ea typeface="Cambria Math" pitchFamily="34" charset="-122"/>
                <a:cs typeface="Cambria Math" pitchFamily="34" charset="-120"/>
              </a:rPr>
              <a:t>x₁, y₁</a:t>
            </a:r>
            <a:endParaRPr lang="en-US" sz="1500" dirty="0"/>
          </a:p>
        </p:txBody>
      </p:sp>
      <p:sp>
        <p:nvSpPr>
          <p:cNvPr id="10" name="t97"/>
          <p:cNvSpPr txBox="1"/>
          <p:nvPr/>
        </p:nvSpPr>
        <p:spPr>
          <a:xfrm>
            <a:off x="8549639" y="2084832"/>
            <a:ext cx="3093415" cy="384048"/>
          </a:xfrm>
          <a:prstGeom prst="rect">
            <a:avLst/>
          </a:prstGeom>
          <a:noFill/>
          <a:ln/>
        </p:spPr>
        <p:txBody>
          <a:bodyPr wrap="square" lIns="0" tIns="0" rIns="0" bIns="0" rtlCol="0" anchor="ctr"/>
          <a:lstStyle/>
          <a:p>
            <a:pPr marL="0" indent="0">
              <a:buNone/>
            </a:pPr>
            <a:r>
              <a:rPr lang="en-US" sz="1500" dirty="0">
                <a:solidFill>
                  <a:schemeClr val="tx2"/>
                </a:solidFill>
              </a:rPr>
              <a:t>Rear-Axle Position</a:t>
            </a:r>
            <a:endParaRPr lang="en-US" sz="1500" dirty="0"/>
          </a:p>
        </p:txBody>
      </p:sp>
      <p:sp>
        <p:nvSpPr>
          <p:cNvPr id="11" name="t98"/>
          <p:cNvSpPr txBox="1"/>
          <p:nvPr/>
        </p:nvSpPr>
        <p:spPr>
          <a:xfrm>
            <a:off x="6949440" y="2478024"/>
            <a:ext cx="1600200" cy="384048"/>
          </a:xfrm>
          <a:prstGeom prst="rect">
            <a:avLst/>
          </a:prstGeom>
          <a:noFill/>
          <a:ln/>
        </p:spPr>
        <p:txBody>
          <a:bodyPr wrap="square" lIns="0" tIns="0" rIns="0" bIns="0" rtlCol="0" anchor="ctr"/>
          <a:lstStyle/>
          <a:p>
            <a:pPr marL="0" indent="0">
              <a:buNone/>
            </a:pPr>
            <a:r>
              <a:rPr lang="en-US" sz="1500" i="1" dirty="0">
                <a:solidFill>
                  <a:schemeClr val="tx1"/>
                </a:solidFill>
                <a:latin typeface="Cambria Math" pitchFamily="34" charset="0"/>
                <a:ea typeface="Cambria Math" pitchFamily="34" charset="-122"/>
                <a:cs typeface="Cambria Math" pitchFamily="34" charset="-120"/>
              </a:rPr>
              <a:t>θ₀</a:t>
            </a:r>
            <a:endParaRPr lang="en-US" sz="1500" dirty="0"/>
          </a:p>
        </p:txBody>
      </p:sp>
      <p:sp>
        <p:nvSpPr>
          <p:cNvPr id="12" name="t99"/>
          <p:cNvSpPr txBox="1"/>
          <p:nvPr/>
        </p:nvSpPr>
        <p:spPr>
          <a:xfrm>
            <a:off x="8549638" y="2450592"/>
            <a:ext cx="3093415" cy="384048"/>
          </a:xfrm>
          <a:prstGeom prst="rect">
            <a:avLst/>
          </a:prstGeom>
          <a:noFill/>
          <a:ln/>
        </p:spPr>
        <p:txBody>
          <a:bodyPr wrap="square" lIns="0" tIns="0" rIns="0" bIns="0" rtlCol="0" anchor="ctr"/>
          <a:lstStyle/>
          <a:p>
            <a:pPr marL="0" indent="0">
              <a:buNone/>
            </a:pPr>
            <a:r>
              <a:rPr lang="en-US" sz="1500" dirty="0">
                <a:solidFill>
                  <a:schemeClr val="tx2"/>
                </a:solidFill>
              </a:rPr>
              <a:t>Tractor Heading</a:t>
            </a:r>
            <a:endParaRPr lang="en-US" sz="1500" dirty="0"/>
          </a:p>
        </p:txBody>
      </p:sp>
      <p:sp>
        <p:nvSpPr>
          <p:cNvPr id="13" name="t100"/>
          <p:cNvSpPr txBox="1"/>
          <p:nvPr/>
        </p:nvSpPr>
        <p:spPr>
          <a:xfrm>
            <a:off x="6949440" y="2862072"/>
            <a:ext cx="1600200" cy="384048"/>
          </a:xfrm>
          <a:prstGeom prst="rect">
            <a:avLst/>
          </a:prstGeom>
          <a:noFill/>
          <a:ln/>
        </p:spPr>
        <p:txBody>
          <a:bodyPr wrap="square" lIns="0" tIns="0" rIns="0" bIns="0" rtlCol="0" anchor="ctr"/>
          <a:lstStyle/>
          <a:p>
            <a:pPr marL="0" indent="0">
              <a:buNone/>
            </a:pPr>
            <a:r>
              <a:rPr lang="en-US" sz="1500" i="1" dirty="0">
                <a:solidFill>
                  <a:schemeClr val="tx1"/>
                </a:solidFill>
                <a:latin typeface="Cambria Math" pitchFamily="34" charset="0"/>
                <a:ea typeface="Cambria Math" pitchFamily="34" charset="-122"/>
                <a:cs typeface="Cambria Math" pitchFamily="34" charset="-120"/>
              </a:rPr>
              <a:t>ψ = θ₀ − θ₁</a:t>
            </a:r>
            <a:endParaRPr lang="en-US" sz="1500" dirty="0"/>
          </a:p>
        </p:txBody>
      </p:sp>
      <p:sp>
        <p:nvSpPr>
          <p:cNvPr id="14" name="t101"/>
          <p:cNvSpPr txBox="1"/>
          <p:nvPr/>
        </p:nvSpPr>
        <p:spPr>
          <a:xfrm>
            <a:off x="8549637" y="2884733"/>
            <a:ext cx="3093415" cy="384048"/>
          </a:xfrm>
          <a:prstGeom prst="rect">
            <a:avLst/>
          </a:prstGeom>
          <a:noFill/>
          <a:ln/>
        </p:spPr>
        <p:txBody>
          <a:bodyPr wrap="square" lIns="0" tIns="0" rIns="0" bIns="0" rtlCol="0" anchor="ctr"/>
          <a:lstStyle/>
          <a:p>
            <a:pPr marL="0" indent="0">
              <a:buNone/>
            </a:pPr>
            <a:r>
              <a:rPr lang="en-US" sz="1500" dirty="0">
                <a:solidFill>
                  <a:schemeClr val="tx2"/>
                </a:solidFill>
              </a:rPr>
              <a:t>Hitch angle</a:t>
            </a:r>
            <a:endParaRPr lang="en-US" sz="1500" dirty="0"/>
          </a:p>
        </p:txBody>
      </p:sp>
      <p:sp>
        <p:nvSpPr>
          <p:cNvPr id="15" name="t102"/>
          <p:cNvSpPr txBox="1"/>
          <p:nvPr/>
        </p:nvSpPr>
        <p:spPr>
          <a:xfrm>
            <a:off x="7035622" y="3552659"/>
            <a:ext cx="4693615" cy="365760"/>
          </a:xfrm>
          <a:prstGeom prst="rect">
            <a:avLst/>
          </a:prstGeom>
          <a:noFill/>
          <a:ln/>
        </p:spPr>
        <p:txBody>
          <a:bodyPr wrap="square" lIns="0" tIns="0" rIns="0" bIns="0" rtlCol="0" anchor="t"/>
          <a:lstStyle/>
          <a:p>
            <a:pPr marL="0" indent="0">
              <a:buNone/>
            </a:pPr>
            <a:r>
              <a:rPr lang="en-US" sz="1500" b="1" dirty="0">
                <a:solidFill>
                  <a:schemeClr val="accent1"/>
                </a:solidFill>
              </a:rPr>
              <a:t>Inputs</a:t>
            </a:r>
            <a:endParaRPr lang="en-US" sz="1500" dirty="0"/>
          </a:p>
        </p:txBody>
      </p:sp>
      <p:pic>
        <p:nvPicPr>
          <p:cNvPr id="16" name="img103" descr="U equals v, delta, transposed"/>
          <p:cNvPicPr>
            <a:picLocks noChangeAspect="1"/>
          </p:cNvPicPr>
          <p:nvPr/>
        </p:nvPicPr>
        <p:blipFill>
          <a:blip r:embed="rId5"/>
          <a:stretch>
            <a:fillRect/>
          </a:stretch>
        </p:blipFill>
        <p:spPr>
          <a:xfrm>
            <a:off x="8066837" y="4002703"/>
            <a:ext cx="1499616" cy="420624"/>
          </a:xfrm>
          <a:prstGeom prst="rect">
            <a:avLst/>
          </a:prstGeom>
        </p:spPr>
      </p:pic>
      <p:sp>
        <p:nvSpPr>
          <p:cNvPr id="17" name="t104"/>
          <p:cNvSpPr txBox="1"/>
          <p:nvPr/>
        </p:nvSpPr>
        <p:spPr>
          <a:xfrm>
            <a:off x="7314971" y="4780340"/>
            <a:ext cx="1600200" cy="384048"/>
          </a:xfrm>
          <a:prstGeom prst="rect">
            <a:avLst/>
          </a:prstGeom>
          <a:noFill/>
          <a:ln/>
        </p:spPr>
        <p:txBody>
          <a:bodyPr wrap="square" lIns="0" tIns="0" rIns="0" bIns="0" rtlCol="0" anchor="ctr"/>
          <a:lstStyle/>
          <a:p>
            <a:pPr marL="0" indent="0">
              <a:buNone/>
            </a:pPr>
            <a:r>
              <a:rPr lang="en-US" sz="1500" i="1" dirty="0">
                <a:solidFill>
                  <a:schemeClr val="tx1"/>
                </a:solidFill>
                <a:latin typeface="Cambria Math" pitchFamily="34" charset="0"/>
                <a:ea typeface="Cambria Math" pitchFamily="34" charset="-122"/>
                <a:cs typeface="Cambria Math" pitchFamily="34" charset="-120"/>
              </a:rPr>
              <a:t>v</a:t>
            </a:r>
            <a:endParaRPr lang="en-US" sz="1500" dirty="0"/>
          </a:p>
        </p:txBody>
      </p:sp>
      <p:sp>
        <p:nvSpPr>
          <p:cNvPr id="18" name="t105"/>
          <p:cNvSpPr txBox="1"/>
          <p:nvPr/>
        </p:nvSpPr>
        <p:spPr>
          <a:xfrm>
            <a:off x="8302752" y="4787910"/>
            <a:ext cx="3093415" cy="384048"/>
          </a:xfrm>
          <a:prstGeom prst="rect">
            <a:avLst/>
          </a:prstGeom>
          <a:noFill/>
          <a:ln/>
        </p:spPr>
        <p:txBody>
          <a:bodyPr wrap="square" lIns="0" tIns="0" rIns="0" bIns="0" rtlCol="0" anchor="ctr"/>
          <a:lstStyle/>
          <a:p>
            <a:pPr marL="0" indent="0">
              <a:buNone/>
            </a:pPr>
            <a:r>
              <a:rPr lang="en-US" sz="1500" dirty="0">
                <a:solidFill>
                  <a:schemeClr val="tx2"/>
                </a:solidFill>
              </a:rPr>
              <a:t>Speed (&lt; 0 in reverse)</a:t>
            </a:r>
            <a:endParaRPr lang="en-US" sz="1500" dirty="0"/>
          </a:p>
        </p:txBody>
      </p:sp>
      <p:sp>
        <p:nvSpPr>
          <p:cNvPr id="19" name="t106"/>
          <p:cNvSpPr txBox="1"/>
          <p:nvPr/>
        </p:nvSpPr>
        <p:spPr>
          <a:xfrm>
            <a:off x="7292569" y="5162814"/>
            <a:ext cx="1600200" cy="384048"/>
          </a:xfrm>
          <a:prstGeom prst="rect">
            <a:avLst/>
          </a:prstGeom>
          <a:noFill/>
          <a:ln/>
        </p:spPr>
        <p:txBody>
          <a:bodyPr wrap="square" lIns="0" tIns="0" rIns="0" bIns="0" rtlCol="0" anchor="ctr"/>
          <a:lstStyle/>
          <a:p>
            <a:pPr marL="0" indent="0">
              <a:buNone/>
            </a:pPr>
            <a:r>
              <a:rPr lang="en-US" sz="1500" i="1" dirty="0">
                <a:solidFill>
                  <a:schemeClr val="tx1"/>
                </a:solidFill>
                <a:latin typeface="Cambria Math" pitchFamily="34" charset="0"/>
                <a:ea typeface="Cambria Math" pitchFamily="34" charset="-122"/>
                <a:cs typeface="Cambria Math" pitchFamily="34" charset="-120"/>
              </a:rPr>
              <a:t>δ</a:t>
            </a:r>
            <a:endParaRPr lang="en-US" sz="1500" dirty="0"/>
          </a:p>
        </p:txBody>
      </p:sp>
      <p:sp>
        <p:nvSpPr>
          <p:cNvPr id="20" name="t107"/>
          <p:cNvSpPr txBox="1"/>
          <p:nvPr/>
        </p:nvSpPr>
        <p:spPr>
          <a:xfrm>
            <a:off x="8302752" y="5191820"/>
            <a:ext cx="3093415" cy="384048"/>
          </a:xfrm>
          <a:prstGeom prst="rect">
            <a:avLst/>
          </a:prstGeom>
          <a:noFill/>
          <a:ln/>
        </p:spPr>
        <p:txBody>
          <a:bodyPr wrap="square" lIns="0" tIns="0" rIns="0" bIns="0" rtlCol="0" anchor="ctr"/>
          <a:lstStyle/>
          <a:p>
            <a:pPr marL="0" indent="0">
              <a:buNone/>
            </a:pPr>
            <a:r>
              <a:rPr lang="en-US" sz="1500" dirty="0">
                <a:solidFill>
                  <a:schemeClr val="tx2"/>
                </a:solidFill>
              </a:rPr>
              <a:t>Steering Angle</a:t>
            </a:r>
            <a:endParaRPr lang="en-US" sz="1500" dirty="0"/>
          </a:p>
        </p:txBody>
      </p:sp>
      <p:sp>
        <p:nvSpPr>
          <p:cNvPr id="21" name="card108"/>
          <p:cNvSpPr/>
          <p:nvPr/>
        </p:nvSpPr>
        <p:spPr>
          <a:xfrm>
            <a:off x="548640" y="5669280"/>
            <a:ext cx="1696669" cy="502920"/>
          </a:xfrm>
          <a:prstGeom prst="roundRect">
            <a:avLst>
              <a:gd name="adj" fmla="val 21818"/>
            </a:avLst>
          </a:prstGeom>
          <a:solidFill>
            <a:schemeClr val="bg2"/>
          </a:solidFill>
          <a:ln/>
        </p:spPr>
      </p:sp>
      <p:sp>
        <p:nvSpPr>
          <p:cNvPr id="22" name="t109"/>
          <p:cNvSpPr txBox="1"/>
          <p:nvPr/>
        </p:nvSpPr>
        <p:spPr>
          <a:xfrm>
            <a:off x="548640" y="5669280"/>
            <a:ext cx="1696669" cy="502920"/>
          </a:xfrm>
          <a:prstGeom prst="rect">
            <a:avLst/>
          </a:prstGeom>
          <a:noFill/>
          <a:ln/>
        </p:spPr>
        <p:txBody>
          <a:bodyPr wrap="square" lIns="0" tIns="0" rIns="0" bIns="0" rtlCol="0" anchor="ctr"/>
          <a:lstStyle/>
          <a:p>
            <a:pPr marL="0" indent="0" algn="ctr">
              <a:buNone/>
            </a:pPr>
            <a:r>
              <a:rPr lang="en-US" sz="1500" dirty="0">
                <a:solidFill>
                  <a:schemeClr val="tx1"/>
                </a:solidFill>
                <a:latin typeface="Cambria Math" pitchFamily="34" charset="0"/>
                <a:ea typeface="Cambria Math" pitchFamily="34" charset="-122"/>
                <a:cs typeface="Cambria Math" pitchFamily="34" charset="-120"/>
              </a:rPr>
              <a:t>L₁ = 4 m</a:t>
            </a:r>
            <a:endParaRPr lang="en-US" sz="1500" dirty="0"/>
          </a:p>
        </p:txBody>
      </p:sp>
      <p:sp>
        <p:nvSpPr>
          <p:cNvPr id="23" name="card110"/>
          <p:cNvSpPr/>
          <p:nvPr/>
        </p:nvSpPr>
        <p:spPr>
          <a:xfrm>
            <a:off x="2428189" y="5669280"/>
            <a:ext cx="1696669" cy="502920"/>
          </a:xfrm>
          <a:prstGeom prst="roundRect">
            <a:avLst>
              <a:gd name="adj" fmla="val 21818"/>
            </a:avLst>
          </a:prstGeom>
          <a:solidFill>
            <a:schemeClr val="bg2"/>
          </a:solidFill>
          <a:ln/>
        </p:spPr>
      </p:sp>
      <p:sp>
        <p:nvSpPr>
          <p:cNvPr id="24" name="t111"/>
          <p:cNvSpPr txBox="1"/>
          <p:nvPr/>
        </p:nvSpPr>
        <p:spPr>
          <a:xfrm>
            <a:off x="2428189" y="5669280"/>
            <a:ext cx="1696669" cy="502920"/>
          </a:xfrm>
          <a:prstGeom prst="rect">
            <a:avLst/>
          </a:prstGeom>
          <a:noFill/>
          <a:ln/>
        </p:spPr>
        <p:txBody>
          <a:bodyPr wrap="square" lIns="0" tIns="0" rIns="0" bIns="0" rtlCol="0" anchor="ctr"/>
          <a:lstStyle/>
          <a:p>
            <a:pPr marL="0" indent="0" algn="ctr">
              <a:buNone/>
            </a:pPr>
            <a:r>
              <a:rPr lang="en-US" sz="1500" dirty="0">
                <a:solidFill>
                  <a:schemeClr val="tx1"/>
                </a:solidFill>
                <a:latin typeface="Cambria Math" pitchFamily="34" charset="0"/>
                <a:ea typeface="Cambria Math" pitchFamily="34" charset="-122"/>
                <a:cs typeface="Cambria Math" pitchFamily="34" charset="-120"/>
              </a:rPr>
              <a:t>L₂ = 8 m</a:t>
            </a:r>
            <a:endParaRPr lang="en-US" sz="1500" dirty="0"/>
          </a:p>
        </p:txBody>
      </p:sp>
      <p:sp>
        <p:nvSpPr>
          <p:cNvPr id="25" name="card112"/>
          <p:cNvSpPr/>
          <p:nvPr/>
        </p:nvSpPr>
        <p:spPr>
          <a:xfrm>
            <a:off x="4307738" y="5669280"/>
            <a:ext cx="1696669" cy="502920"/>
          </a:xfrm>
          <a:prstGeom prst="roundRect">
            <a:avLst>
              <a:gd name="adj" fmla="val 21818"/>
            </a:avLst>
          </a:prstGeom>
          <a:solidFill>
            <a:schemeClr val="bg2"/>
          </a:solidFill>
          <a:ln/>
        </p:spPr>
      </p:sp>
      <p:sp>
        <p:nvSpPr>
          <p:cNvPr id="26" name="t113"/>
          <p:cNvSpPr txBox="1"/>
          <p:nvPr/>
        </p:nvSpPr>
        <p:spPr>
          <a:xfrm>
            <a:off x="4307738" y="5669280"/>
            <a:ext cx="1696669" cy="502920"/>
          </a:xfrm>
          <a:prstGeom prst="rect">
            <a:avLst/>
          </a:prstGeom>
          <a:noFill/>
          <a:ln/>
        </p:spPr>
        <p:txBody>
          <a:bodyPr wrap="square" lIns="0" tIns="0" rIns="0" bIns="0" rtlCol="0" anchor="ctr"/>
          <a:lstStyle/>
          <a:p>
            <a:pPr marL="0" indent="0" algn="ctr">
              <a:buNone/>
            </a:pPr>
            <a:r>
              <a:rPr lang="en-US" sz="1500" dirty="0">
                <a:solidFill>
                  <a:schemeClr val="tx1"/>
                </a:solidFill>
                <a:latin typeface="Cambria Math" pitchFamily="34" charset="0"/>
                <a:ea typeface="Cambria Math" pitchFamily="34" charset="-122"/>
                <a:cs typeface="Cambria Math" pitchFamily="34" charset="-120"/>
              </a:rPr>
              <a:t>d = 0.5 m</a:t>
            </a:r>
            <a:endParaRPr lang="en-US" sz="1500" dirty="0"/>
          </a:p>
        </p:txBody>
      </p:sp>
      <p:sp>
        <p:nvSpPr>
          <p:cNvPr id="27" name="card114"/>
          <p:cNvSpPr/>
          <p:nvPr/>
        </p:nvSpPr>
        <p:spPr>
          <a:xfrm>
            <a:off x="6187288" y="5669280"/>
            <a:ext cx="1696669" cy="502920"/>
          </a:xfrm>
          <a:prstGeom prst="roundRect">
            <a:avLst>
              <a:gd name="adj" fmla="val 21818"/>
            </a:avLst>
          </a:prstGeom>
          <a:solidFill>
            <a:schemeClr val="accent5"/>
          </a:solidFill>
          <a:ln/>
        </p:spPr>
      </p:sp>
      <p:sp>
        <p:nvSpPr>
          <p:cNvPr id="28" name="t115"/>
          <p:cNvSpPr txBox="1"/>
          <p:nvPr/>
        </p:nvSpPr>
        <p:spPr>
          <a:xfrm>
            <a:off x="6187288" y="5669280"/>
            <a:ext cx="1696669" cy="502920"/>
          </a:xfrm>
          <a:prstGeom prst="rect">
            <a:avLst/>
          </a:prstGeom>
          <a:noFill/>
          <a:ln/>
        </p:spPr>
        <p:txBody>
          <a:bodyPr wrap="square" lIns="0" tIns="0" rIns="0" bIns="0" rtlCol="0" anchor="ctr"/>
          <a:lstStyle/>
          <a:p>
            <a:pPr marL="0" indent="0" algn="ctr">
              <a:buNone/>
            </a:pPr>
            <a:r>
              <a:rPr lang="en-US" sz="1500" dirty="0">
                <a:solidFill>
                  <a:schemeClr val="tx1"/>
                </a:solidFill>
                <a:latin typeface="Cambria Math" pitchFamily="34" charset="0"/>
                <a:ea typeface="Cambria Math" pitchFamily="34" charset="-122"/>
                <a:cs typeface="Cambria Math" pitchFamily="34" charset="-120"/>
              </a:rPr>
              <a:t>|δ| ≤ 35°</a:t>
            </a:r>
            <a:endParaRPr lang="en-US" sz="1500" dirty="0"/>
          </a:p>
        </p:txBody>
      </p:sp>
      <p:sp>
        <p:nvSpPr>
          <p:cNvPr id="29" name="card116"/>
          <p:cNvSpPr/>
          <p:nvPr/>
        </p:nvSpPr>
        <p:spPr>
          <a:xfrm>
            <a:off x="8066837" y="5669280"/>
            <a:ext cx="1696669" cy="502920"/>
          </a:xfrm>
          <a:prstGeom prst="roundRect">
            <a:avLst>
              <a:gd name="adj" fmla="val 21818"/>
            </a:avLst>
          </a:prstGeom>
          <a:solidFill>
            <a:schemeClr val="accent5"/>
          </a:solidFill>
          <a:ln/>
        </p:spPr>
      </p:sp>
      <p:sp>
        <p:nvSpPr>
          <p:cNvPr id="30" name="t117"/>
          <p:cNvSpPr txBox="1"/>
          <p:nvPr/>
        </p:nvSpPr>
        <p:spPr>
          <a:xfrm>
            <a:off x="8066837" y="5669280"/>
            <a:ext cx="1696669" cy="502920"/>
          </a:xfrm>
          <a:prstGeom prst="rect">
            <a:avLst/>
          </a:prstGeom>
          <a:noFill/>
          <a:ln/>
        </p:spPr>
        <p:txBody>
          <a:bodyPr wrap="square" lIns="0" tIns="0" rIns="0" bIns="0" rtlCol="0" anchor="ctr"/>
          <a:lstStyle/>
          <a:p>
            <a:pPr marL="0" indent="0" algn="ctr">
              <a:buNone/>
            </a:pPr>
            <a:r>
              <a:rPr lang="en-US" sz="1500" dirty="0">
                <a:solidFill>
                  <a:schemeClr val="tx1"/>
                </a:solidFill>
                <a:latin typeface="Cambria Math" pitchFamily="34" charset="0"/>
                <a:ea typeface="Cambria Math" pitchFamily="34" charset="-122"/>
                <a:cs typeface="Cambria Math" pitchFamily="34" charset="-120"/>
              </a:rPr>
              <a:t>|ψ| ≤ 60°</a:t>
            </a:r>
            <a:endParaRPr lang="en-US" sz="1500" dirty="0"/>
          </a:p>
        </p:txBody>
      </p:sp>
      <p:sp>
        <p:nvSpPr>
          <p:cNvPr id="31" name="card118"/>
          <p:cNvSpPr/>
          <p:nvPr/>
        </p:nvSpPr>
        <p:spPr>
          <a:xfrm>
            <a:off x="9946386" y="5669280"/>
            <a:ext cx="1696669" cy="502920"/>
          </a:xfrm>
          <a:prstGeom prst="roundRect">
            <a:avLst>
              <a:gd name="adj" fmla="val 21818"/>
            </a:avLst>
          </a:prstGeom>
          <a:solidFill>
            <a:schemeClr val="accent5"/>
          </a:solidFill>
          <a:ln/>
        </p:spPr>
      </p:sp>
      <p:sp>
        <p:nvSpPr>
          <p:cNvPr id="32" name="t119"/>
          <p:cNvSpPr txBox="1"/>
          <p:nvPr/>
        </p:nvSpPr>
        <p:spPr>
          <a:xfrm>
            <a:off x="9946386" y="5669280"/>
            <a:ext cx="1696669" cy="502920"/>
          </a:xfrm>
          <a:prstGeom prst="rect">
            <a:avLst/>
          </a:prstGeom>
          <a:noFill/>
          <a:ln/>
        </p:spPr>
        <p:txBody>
          <a:bodyPr wrap="square" lIns="0" tIns="0" rIns="0" bIns="0" rtlCol="0" anchor="ctr"/>
          <a:lstStyle/>
          <a:p>
            <a:pPr marL="0" indent="0" algn="ctr">
              <a:buNone/>
            </a:pPr>
            <a:r>
              <a:rPr lang="en-US" sz="1500" dirty="0">
                <a:solidFill>
                  <a:schemeClr val="tx1"/>
                </a:solidFill>
                <a:latin typeface="Cambria Math" pitchFamily="34" charset="0"/>
                <a:ea typeface="Cambria Math" pitchFamily="34" charset="-122"/>
                <a:cs typeface="Cambria Math" pitchFamily="34" charset="-120"/>
              </a:rPr>
              <a:t>|v| ≤ 2 m/s</a:t>
            </a:r>
            <a:endParaRPr lang="en-US" sz="15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dge120"/>
          <p:cNvSpPr/>
          <p:nvPr/>
        </p:nvSpPr>
        <p:spPr>
          <a:xfrm>
            <a:off x="1371600" y="2331720"/>
            <a:ext cx="1828800" cy="1828800"/>
          </a:xfrm>
          <a:prstGeom prst="ellipse">
            <a:avLst/>
          </a:prstGeom>
          <a:solidFill>
            <a:schemeClr val="accent1"/>
          </a:solidFill>
          <a:ln/>
        </p:spPr>
      </p:sp>
      <p:sp>
        <p:nvSpPr>
          <p:cNvPr id="3" name="t121"/>
          <p:cNvSpPr txBox="1"/>
          <p:nvPr/>
        </p:nvSpPr>
        <p:spPr>
          <a:xfrm>
            <a:off x="1371600" y="2331720"/>
            <a:ext cx="1828800" cy="1828800"/>
          </a:xfrm>
          <a:prstGeom prst="rect">
            <a:avLst/>
          </a:prstGeom>
          <a:noFill/>
          <a:ln/>
        </p:spPr>
        <p:txBody>
          <a:bodyPr wrap="square" lIns="0" tIns="0" rIns="0" bIns="0" rtlCol="0" anchor="ctr"/>
          <a:lstStyle/>
          <a:p>
            <a:pPr marL="0" indent="0" algn="ctr">
              <a:buNone/>
            </a:pPr>
            <a:r>
              <a:rPr lang="en-US" sz="7200" b="1" dirty="0">
                <a:solidFill>
                  <a:schemeClr val="bg1"/>
                </a:solidFill>
              </a:rPr>
              <a:t>2</a:t>
            </a:r>
            <a:endParaRPr lang="en-US" sz="7200" dirty="0"/>
          </a:p>
        </p:txBody>
      </p:sp>
      <p:sp>
        <p:nvSpPr>
          <p:cNvPr id="4" name="Text 0"/>
          <p:cNvSpPr>
            <a:spLocks noGrp="1"/>
          </p:cNvSpPr>
          <p:nvPr>
            <p:ph type="body" idx="100" hasCustomPrompt="1"/>
          </p:nvPr>
        </p:nvSpPr>
        <p:spPr>
          <a:xfrm>
            <a:off x="3749040" y="2240280"/>
            <a:ext cx="7863840" cy="457200"/>
          </a:xfrm>
          <a:prstGeom prst="rect">
            <a:avLst/>
          </a:prstGeom>
          <a:noFill/>
          <a:ln/>
        </p:spPr>
        <p:txBody>
          <a:bodyPr wrap="square" lIns="0" tIns="0" rIns="0" bIns="0" rtlCol="0" anchor="ctr"/>
          <a:lstStyle/>
          <a:p>
            <a:pPr marL="0" indent="0">
              <a:buNone/>
            </a:pPr>
            <a:r>
              <a:rPr lang="en-US" sz="1800" b="1" dirty="0">
                <a:solidFill>
                  <a:schemeClr val="accent1"/>
                </a:solidFill>
              </a:rPr>
              <a:t>Part 2</a:t>
            </a:r>
            <a:endParaRPr lang="en-US" sz="1800" dirty="0"/>
          </a:p>
        </p:txBody>
      </p:sp>
      <p:sp>
        <p:nvSpPr>
          <p:cNvPr id="5" name="Text 0"/>
          <p:cNvSpPr>
            <a:spLocks noGrp="1"/>
          </p:cNvSpPr>
          <p:nvPr>
            <p:ph type="title" idx="101" hasCustomPrompt="1"/>
          </p:nvPr>
        </p:nvSpPr>
        <p:spPr>
          <a:xfrm>
            <a:off x="3749040" y="2697480"/>
            <a:ext cx="7863840" cy="1005840"/>
          </a:xfrm>
          <a:prstGeom prst="rect">
            <a:avLst/>
          </a:prstGeom>
          <a:noFill/>
          <a:ln/>
        </p:spPr>
        <p:txBody>
          <a:bodyPr wrap="square" lIns="0" tIns="0" rIns="0" bIns="0" rtlCol="0" anchor="ctr"/>
          <a:lstStyle/>
          <a:p>
            <a:pPr marL="0" indent="0" algn="l">
              <a:buNone/>
            </a:pPr>
            <a:r>
              <a:rPr lang="en-US" sz="3400" dirty="0">
                <a:solidFill>
                  <a:schemeClr val="tx1"/>
                </a:solidFill>
              </a:rPr>
              <a:t>Vehicle Kinematics</a:t>
            </a:r>
            <a:endParaRPr lang="en-US" sz="3400" dirty="0"/>
          </a:p>
        </p:txBody>
      </p:sp>
      <p:sp>
        <p:nvSpPr>
          <p:cNvPr id="6" name="Text 0"/>
          <p:cNvSpPr>
            <a:spLocks noGrp="1"/>
          </p:cNvSpPr>
          <p:nvPr>
            <p:ph type="body" idx="102" hasCustomPrompt="1"/>
          </p:nvPr>
        </p:nvSpPr>
        <p:spPr>
          <a:xfrm>
            <a:off x="3749040" y="3749040"/>
            <a:ext cx="7680960" cy="914400"/>
          </a:xfrm>
          <a:prstGeom prst="rect">
            <a:avLst/>
          </a:prstGeom>
          <a:noFill/>
          <a:ln/>
        </p:spPr>
        <p:txBody>
          <a:bodyPr wrap="square" lIns="0" tIns="0" rIns="0" bIns="0" rtlCol="0" anchor="t"/>
          <a:lstStyle/>
          <a:p>
            <a:pPr marL="0" indent="0">
              <a:buNone/>
            </a:pPr>
            <a:r>
              <a:rPr lang="en-US" sz="1800" dirty="0">
                <a:solidFill>
                  <a:schemeClr val="tx2"/>
                </a:solidFill>
              </a:rPr>
              <a:t>How the rig moves for a given speed and steering angle, and why reversing is unstable</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dge122"/>
          <p:cNvSpPr/>
          <p:nvPr/>
        </p:nvSpPr>
        <p:spPr>
          <a:xfrm>
            <a:off x="548640" y="356616"/>
            <a:ext cx="256032" cy="256032"/>
          </a:xfrm>
          <a:prstGeom prst="ellipse">
            <a:avLst/>
          </a:prstGeom>
          <a:solidFill>
            <a:schemeClr val="accent1"/>
          </a:solidFill>
          <a:ln/>
        </p:spPr>
      </p:sp>
      <p:sp>
        <p:nvSpPr>
          <p:cNvPr id="3" name="t123"/>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2  ·  Vehicle Kinematics</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The Tractor: Kinematic Bicycle Model</a:t>
            </a:r>
            <a:endParaRPr lang="en-US" sz="2800" dirty="0"/>
          </a:p>
        </p:txBody>
      </p:sp>
      <p:pic>
        <p:nvPicPr>
          <p:cNvPr id="6" name="img124" descr="Bicycle model: rear and front wheel, steering angle delta, both wheel axes meeting at the instantaneous centre of rotation at radius R"/>
          <p:cNvPicPr>
            <a:picLocks noChangeAspect="1"/>
          </p:cNvPicPr>
          <p:nvPr/>
        </p:nvPicPr>
        <p:blipFill>
          <a:blip r:embed="rId3"/>
          <a:stretch>
            <a:fillRect/>
          </a:stretch>
        </p:blipFill>
        <p:spPr>
          <a:xfrm>
            <a:off x="457200" y="1344168"/>
            <a:ext cx="4928461" cy="4846320"/>
          </a:xfrm>
          <a:prstGeom prst="rect">
            <a:avLst/>
          </a:prstGeom>
        </p:spPr>
      </p:pic>
      <p:sp>
        <p:nvSpPr>
          <p:cNvPr id="7" name="t125"/>
          <p:cNvSpPr txBox="1"/>
          <p:nvPr/>
        </p:nvSpPr>
        <p:spPr>
          <a:xfrm>
            <a:off x="5989320" y="1481328"/>
            <a:ext cx="5653735" cy="155448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chemeClr val="tx2"/>
                </a:solidFill>
              </a:rPr>
              <a:t>Front wheels lumped into one, rear wheels into one</a:t>
            </a:r>
            <a:endParaRPr lang="en-US" sz="1700" dirty="0"/>
          </a:p>
          <a:p>
            <a:pPr marL="203200" indent="-203200">
              <a:spcAft>
                <a:spcPts val="600"/>
              </a:spcAft>
              <a:buSzPct val="100000"/>
              <a:buChar char="•"/>
            </a:pPr>
            <a:r>
              <a:rPr lang="en-US" sz="1700" dirty="0">
                <a:solidFill>
                  <a:schemeClr val="tx2"/>
                </a:solidFill>
              </a:rPr>
              <a:t>Both wheel axes meet at the instantaneous centre of rotation (ICR)</a:t>
            </a:r>
            <a:endParaRPr lang="en-US" sz="1700" dirty="0"/>
          </a:p>
        </p:txBody>
      </p:sp>
      <p:pic>
        <p:nvPicPr>
          <p:cNvPr id="8" name="img126" descr="R equals L1 over tan delta"/>
          <p:cNvPicPr>
            <a:picLocks noChangeAspect="1"/>
          </p:cNvPicPr>
          <p:nvPr/>
        </p:nvPicPr>
        <p:blipFill>
          <a:blip r:embed="rId4"/>
          <a:stretch>
            <a:fillRect/>
          </a:stretch>
        </p:blipFill>
        <p:spPr>
          <a:xfrm>
            <a:off x="6309360" y="2532888"/>
            <a:ext cx="1225296" cy="636422"/>
          </a:xfrm>
          <a:prstGeom prst="rect">
            <a:avLst/>
          </a:prstGeom>
        </p:spPr>
      </p:pic>
      <p:sp>
        <p:nvSpPr>
          <p:cNvPr id="9" name="card127"/>
          <p:cNvSpPr/>
          <p:nvPr/>
        </p:nvSpPr>
        <p:spPr>
          <a:xfrm>
            <a:off x="5989320" y="3630168"/>
            <a:ext cx="5653735" cy="1965960"/>
          </a:xfrm>
          <a:prstGeom prst="roundRect">
            <a:avLst>
              <a:gd name="adj" fmla="val 5581"/>
            </a:avLst>
          </a:prstGeom>
          <a:solidFill>
            <a:schemeClr val="accent5"/>
          </a:solidFill>
          <a:ln/>
        </p:spPr>
      </p:sp>
      <p:sp>
        <p:nvSpPr>
          <p:cNvPr id="10" name="t128"/>
          <p:cNvSpPr txBox="1"/>
          <p:nvPr/>
        </p:nvSpPr>
        <p:spPr>
          <a:xfrm>
            <a:off x="6263640" y="3721608"/>
            <a:ext cx="5105095" cy="365760"/>
          </a:xfrm>
          <a:prstGeom prst="rect">
            <a:avLst/>
          </a:prstGeom>
          <a:noFill/>
          <a:ln/>
        </p:spPr>
        <p:txBody>
          <a:bodyPr wrap="square" lIns="0" tIns="0" rIns="0" bIns="0" rtlCol="0" anchor="t"/>
          <a:lstStyle/>
          <a:p>
            <a:pPr marL="0" indent="0">
              <a:buNone/>
            </a:pPr>
            <a:r>
              <a:rPr lang="en-US" sz="1400" b="1" dirty="0">
                <a:solidFill>
                  <a:schemeClr val="accent1"/>
                </a:solidFill>
              </a:rPr>
              <a:t>Rear-Axle Motion</a:t>
            </a:r>
            <a:endParaRPr lang="en-US" sz="1400" dirty="0"/>
          </a:p>
        </p:txBody>
      </p:sp>
      <p:pic>
        <p:nvPicPr>
          <p:cNvPr id="11" name="img129" descr="x1 dot equals v cos theta0"/>
          <p:cNvPicPr>
            <a:picLocks noChangeAspect="1"/>
          </p:cNvPicPr>
          <p:nvPr/>
        </p:nvPicPr>
        <p:blipFill>
          <a:blip r:embed="rId5"/>
          <a:stretch>
            <a:fillRect/>
          </a:stretch>
        </p:blipFill>
        <p:spPr>
          <a:xfrm>
            <a:off x="6263640" y="4178808"/>
            <a:ext cx="1558138" cy="354787"/>
          </a:xfrm>
          <a:prstGeom prst="rect">
            <a:avLst/>
          </a:prstGeom>
        </p:spPr>
      </p:pic>
      <p:pic>
        <p:nvPicPr>
          <p:cNvPr id="12" name="img130" descr="y1 dot equals v sin theta0"/>
          <p:cNvPicPr>
            <a:picLocks noChangeAspect="1"/>
          </p:cNvPicPr>
          <p:nvPr/>
        </p:nvPicPr>
        <p:blipFill>
          <a:blip r:embed="rId6"/>
          <a:stretch>
            <a:fillRect/>
          </a:stretch>
        </p:blipFill>
        <p:spPr>
          <a:xfrm>
            <a:off x="6263640" y="4818888"/>
            <a:ext cx="1499616" cy="354787"/>
          </a:xfrm>
          <a:prstGeom prst="rect">
            <a:avLst/>
          </a:prstGeom>
        </p:spPr>
      </p:pic>
      <p:pic>
        <p:nvPicPr>
          <p:cNvPr id="13" name="img131" descr="theta0 dot equals v over R equals v over L1 tan delta"/>
          <p:cNvPicPr>
            <a:picLocks noChangeAspect="1"/>
          </p:cNvPicPr>
          <p:nvPr/>
        </p:nvPicPr>
        <p:blipFill>
          <a:blip r:embed="rId7"/>
          <a:stretch>
            <a:fillRect/>
          </a:stretch>
        </p:blipFill>
        <p:spPr>
          <a:xfrm>
            <a:off x="8732520" y="4478731"/>
            <a:ext cx="2260397" cy="588874"/>
          </a:xfrm>
          <a:prstGeom prst="rect">
            <a:avLst/>
          </a:prstGeom>
        </p:spPr>
      </p:pic>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dge132"/>
          <p:cNvSpPr/>
          <p:nvPr/>
        </p:nvSpPr>
        <p:spPr>
          <a:xfrm>
            <a:off x="548640" y="356616"/>
            <a:ext cx="256032" cy="256032"/>
          </a:xfrm>
          <a:prstGeom prst="ellipse">
            <a:avLst/>
          </a:prstGeom>
          <a:solidFill>
            <a:schemeClr val="accent1"/>
          </a:solidFill>
          <a:ln/>
        </p:spPr>
      </p:sp>
      <p:sp>
        <p:nvSpPr>
          <p:cNvPr id="3" name="t133"/>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2  ·  Vehicle Kinematics</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The Trailer: Hitch Geometry and No-Slip Constraint</a:t>
            </a:r>
            <a:endParaRPr lang="en-US" sz="2800" dirty="0"/>
          </a:p>
        </p:txBody>
      </p:sp>
      <p:pic>
        <p:nvPicPr>
          <p:cNvPr id="6" name="img134" descr="Hitch velocity v_h split into a component along the trailer and a component v-perpendicular across it; the trailer axle has no sideways slip"/>
          <p:cNvPicPr>
            <a:picLocks noChangeAspect="1"/>
          </p:cNvPicPr>
          <p:nvPr/>
        </p:nvPicPr>
        <p:blipFill>
          <a:blip r:embed="rId3"/>
          <a:stretch>
            <a:fillRect/>
          </a:stretch>
        </p:blipFill>
        <p:spPr>
          <a:xfrm>
            <a:off x="365760" y="1389888"/>
            <a:ext cx="6583680" cy="4297680"/>
          </a:xfrm>
          <a:prstGeom prst="rect">
            <a:avLst/>
          </a:prstGeom>
        </p:spPr>
      </p:pic>
      <p:sp>
        <p:nvSpPr>
          <p:cNvPr id="7" name="badge135"/>
          <p:cNvSpPr/>
          <p:nvPr/>
        </p:nvSpPr>
        <p:spPr>
          <a:xfrm>
            <a:off x="6903720" y="1453896"/>
            <a:ext cx="384048" cy="384048"/>
          </a:xfrm>
          <a:prstGeom prst="ellipse">
            <a:avLst/>
          </a:prstGeom>
          <a:solidFill>
            <a:srgbClr val="F2B45A"/>
          </a:solidFill>
          <a:ln/>
        </p:spPr>
      </p:sp>
      <p:sp>
        <p:nvSpPr>
          <p:cNvPr id="8" name="t136"/>
          <p:cNvSpPr txBox="1"/>
          <p:nvPr/>
        </p:nvSpPr>
        <p:spPr>
          <a:xfrm>
            <a:off x="6903720" y="1453896"/>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9" name="t137"/>
          <p:cNvSpPr txBox="1"/>
          <p:nvPr/>
        </p:nvSpPr>
        <p:spPr>
          <a:xfrm>
            <a:off x="7452360" y="1435608"/>
            <a:ext cx="4190695" cy="411480"/>
          </a:xfrm>
          <a:prstGeom prst="rect">
            <a:avLst/>
          </a:prstGeom>
          <a:noFill/>
          <a:ln/>
        </p:spPr>
        <p:txBody>
          <a:bodyPr wrap="square" lIns="0" tIns="0" rIns="0" bIns="0" rtlCol="0" anchor="t"/>
          <a:lstStyle/>
          <a:p>
            <a:pPr marL="0" indent="0">
              <a:buNone/>
            </a:pPr>
            <a:r>
              <a:rPr lang="en-US" sz="1700" b="1" dirty="0">
                <a:solidFill>
                  <a:schemeClr val="tx1"/>
                </a:solidFill>
              </a:rPr>
              <a:t>Hitch Position</a:t>
            </a:r>
            <a:endParaRPr lang="en-US" sz="1700" dirty="0"/>
          </a:p>
        </p:txBody>
      </p:sp>
      <p:pic>
        <p:nvPicPr>
          <p:cNvPr id="10" name="img138" descr="Hitch Position"/>
          <p:cNvPicPr>
            <a:picLocks noChangeAspect="1"/>
          </p:cNvPicPr>
          <p:nvPr/>
        </p:nvPicPr>
        <p:blipFill>
          <a:blip r:embed="rId4"/>
          <a:stretch>
            <a:fillRect/>
          </a:stretch>
        </p:blipFill>
        <p:spPr>
          <a:xfrm>
            <a:off x="7452360" y="1938528"/>
            <a:ext cx="2845613" cy="340157"/>
          </a:xfrm>
          <a:prstGeom prst="rect">
            <a:avLst/>
          </a:prstGeom>
        </p:spPr>
      </p:pic>
      <p:sp>
        <p:nvSpPr>
          <p:cNvPr id="11" name="badge139"/>
          <p:cNvSpPr/>
          <p:nvPr/>
        </p:nvSpPr>
        <p:spPr>
          <a:xfrm>
            <a:off x="6903720" y="2761488"/>
            <a:ext cx="384048" cy="384048"/>
          </a:xfrm>
          <a:prstGeom prst="ellipse">
            <a:avLst/>
          </a:prstGeom>
          <a:solidFill>
            <a:srgbClr val="F2B45A"/>
          </a:solidFill>
          <a:ln/>
        </p:spPr>
      </p:sp>
      <p:sp>
        <p:nvSpPr>
          <p:cNvPr id="12" name="t140"/>
          <p:cNvSpPr txBox="1"/>
          <p:nvPr/>
        </p:nvSpPr>
        <p:spPr>
          <a:xfrm>
            <a:off x="6903720" y="2761488"/>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3" name="t141"/>
          <p:cNvSpPr txBox="1"/>
          <p:nvPr/>
        </p:nvSpPr>
        <p:spPr>
          <a:xfrm>
            <a:off x="7452360" y="2743200"/>
            <a:ext cx="4190695" cy="411480"/>
          </a:xfrm>
          <a:prstGeom prst="rect">
            <a:avLst/>
          </a:prstGeom>
          <a:noFill/>
          <a:ln/>
        </p:spPr>
        <p:txBody>
          <a:bodyPr wrap="square" lIns="0" tIns="0" rIns="0" bIns="0" rtlCol="0" anchor="t"/>
          <a:lstStyle/>
          <a:p>
            <a:pPr marL="0" indent="0">
              <a:buNone/>
            </a:pPr>
            <a:r>
              <a:rPr lang="en-US" sz="1700" b="1" dirty="0">
                <a:solidFill>
                  <a:schemeClr val="tx1"/>
                </a:solidFill>
              </a:rPr>
              <a:t>Trailer-Axle Position</a:t>
            </a:r>
            <a:endParaRPr lang="en-US" sz="1700" dirty="0"/>
          </a:p>
        </p:txBody>
      </p:sp>
      <p:pic>
        <p:nvPicPr>
          <p:cNvPr id="14" name="img142" descr="Trailer-Axle Position"/>
          <p:cNvPicPr>
            <a:picLocks noChangeAspect="1"/>
          </p:cNvPicPr>
          <p:nvPr/>
        </p:nvPicPr>
        <p:blipFill>
          <a:blip r:embed="rId5"/>
          <a:stretch>
            <a:fillRect/>
          </a:stretch>
        </p:blipFill>
        <p:spPr>
          <a:xfrm>
            <a:off x="7452360" y="3246120"/>
            <a:ext cx="2988259" cy="340157"/>
          </a:xfrm>
          <a:prstGeom prst="rect">
            <a:avLst/>
          </a:prstGeom>
        </p:spPr>
      </p:pic>
      <p:sp>
        <p:nvSpPr>
          <p:cNvPr id="15" name="badge143"/>
          <p:cNvSpPr/>
          <p:nvPr/>
        </p:nvSpPr>
        <p:spPr>
          <a:xfrm>
            <a:off x="6903720" y="4069080"/>
            <a:ext cx="384048" cy="384048"/>
          </a:xfrm>
          <a:prstGeom prst="ellipse">
            <a:avLst/>
          </a:prstGeom>
          <a:solidFill>
            <a:srgbClr val="F2B45A"/>
          </a:solidFill>
          <a:ln/>
        </p:spPr>
      </p:sp>
      <p:sp>
        <p:nvSpPr>
          <p:cNvPr id="16" name="t144"/>
          <p:cNvSpPr txBox="1"/>
          <p:nvPr/>
        </p:nvSpPr>
        <p:spPr>
          <a:xfrm>
            <a:off x="6903720" y="40690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7" name="t145"/>
          <p:cNvSpPr txBox="1"/>
          <p:nvPr/>
        </p:nvSpPr>
        <p:spPr>
          <a:xfrm>
            <a:off x="7452360" y="4050792"/>
            <a:ext cx="4190695" cy="411480"/>
          </a:xfrm>
          <a:prstGeom prst="rect">
            <a:avLst/>
          </a:prstGeom>
          <a:noFill/>
          <a:ln/>
        </p:spPr>
        <p:txBody>
          <a:bodyPr wrap="square" lIns="0" tIns="0" rIns="0" bIns="0" rtlCol="0" anchor="t"/>
          <a:lstStyle/>
          <a:p>
            <a:pPr marL="0" indent="0">
              <a:buNone/>
            </a:pPr>
            <a:r>
              <a:rPr lang="en-US" sz="1700" b="1" dirty="0">
                <a:solidFill>
                  <a:schemeClr val="tx1"/>
                </a:solidFill>
              </a:rPr>
              <a:t>Only v⊥ Turns the Trailer</a:t>
            </a:r>
            <a:endParaRPr lang="en-US" sz="1700" dirty="0"/>
          </a:p>
        </p:txBody>
      </p:sp>
      <p:pic>
        <p:nvPicPr>
          <p:cNvPr id="18" name="img146" descr="Only v⊥ Turns the Trailer"/>
          <p:cNvPicPr>
            <a:picLocks noChangeAspect="1"/>
          </p:cNvPicPr>
          <p:nvPr/>
        </p:nvPicPr>
        <p:blipFill>
          <a:blip r:embed="rId6"/>
          <a:stretch>
            <a:fillRect/>
          </a:stretch>
        </p:blipFill>
        <p:spPr>
          <a:xfrm>
            <a:off x="7452360" y="4553712"/>
            <a:ext cx="3460090" cy="735178"/>
          </a:xfrm>
          <a:prstGeom prst="rect">
            <a:avLst/>
          </a:prstGeom>
        </p:spPr>
      </p:pic>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adge147"/>
          <p:cNvSpPr/>
          <p:nvPr/>
        </p:nvSpPr>
        <p:spPr>
          <a:xfrm>
            <a:off x="548640" y="356616"/>
            <a:ext cx="256032" cy="256032"/>
          </a:xfrm>
          <a:prstGeom prst="ellipse">
            <a:avLst/>
          </a:prstGeom>
          <a:solidFill>
            <a:schemeClr val="accent1"/>
          </a:solidFill>
          <a:ln/>
        </p:spPr>
      </p:sp>
      <p:sp>
        <p:nvSpPr>
          <p:cNvPr id="3" name="t148"/>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2  ·  Vehicle Kinematics</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The Complete Four-State Model</a:t>
            </a:r>
            <a:endParaRPr lang="en-US" sz="2800" dirty="0"/>
          </a:p>
        </p:txBody>
      </p:sp>
      <p:sp>
        <p:nvSpPr>
          <p:cNvPr id="6" name="card149"/>
          <p:cNvSpPr/>
          <p:nvPr/>
        </p:nvSpPr>
        <p:spPr>
          <a:xfrm>
            <a:off x="548640" y="1481328"/>
            <a:ext cx="3657600" cy="2834640"/>
          </a:xfrm>
          <a:prstGeom prst="roundRect">
            <a:avLst>
              <a:gd name="adj" fmla="val 3871"/>
            </a:avLst>
          </a:prstGeom>
          <a:solidFill>
            <a:schemeClr val="accent5"/>
          </a:solidFill>
          <a:ln/>
        </p:spPr>
      </p:sp>
      <p:sp>
        <p:nvSpPr>
          <p:cNvPr id="7" name="t150"/>
          <p:cNvSpPr txBox="1"/>
          <p:nvPr/>
        </p:nvSpPr>
        <p:spPr>
          <a:xfrm>
            <a:off x="822960" y="1618488"/>
            <a:ext cx="3108960" cy="365760"/>
          </a:xfrm>
          <a:prstGeom prst="rect">
            <a:avLst/>
          </a:prstGeom>
          <a:noFill/>
          <a:ln/>
        </p:spPr>
        <p:txBody>
          <a:bodyPr wrap="square" lIns="0" tIns="0" rIns="0" bIns="0" rtlCol="0" anchor="t"/>
          <a:lstStyle/>
          <a:p>
            <a:pPr marL="0" indent="0">
              <a:buNone/>
            </a:pPr>
            <a:r>
              <a:rPr lang="en-US" sz="1500" b="1" dirty="0">
                <a:solidFill>
                  <a:schemeClr val="accent1"/>
                </a:solidFill>
              </a:rPr>
              <a:t>Tractor</a:t>
            </a:r>
            <a:endParaRPr lang="en-US" sz="1500" dirty="0"/>
          </a:p>
        </p:txBody>
      </p:sp>
      <p:pic>
        <p:nvPicPr>
          <p:cNvPr id="8" name="img151" descr="x1 dot equals v cos theta0"/>
          <p:cNvPicPr>
            <a:picLocks noChangeAspect="1"/>
          </p:cNvPicPr>
          <p:nvPr/>
        </p:nvPicPr>
        <p:blipFill>
          <a:blip r:embed="rId3"/>
          <a:stretch>
            <a:fillRect/>
          </a:stretch>
        </p:blipFill>
        <p:spPr>
          <a:xfrm>
            <a:off x="822960" y="2121408"/>
            <a:ext cx="1558138" cy="354787"/>
          </a:xfrm>
          <a:prstGeom prst="rect">
            <a:avLst/>
          </a:prstGeom>
        </p:spPr>
      </p:pic>
      <p:pic>
        <p:nvPicPr>
          <p:cNvPr id="9" name="img152" descr="y1 dot equals v sin theta0"/>
          <p:cNvPicPr>
            <a:picLocks noChangeAspect="1"/>
          </p:cNvPicPr>
          <p:nvPr/>
        </p:nvPicPr>
        <p:blipFill>
          <a:blip r:embed="rId4"/>
          <a:stretch>
            <a:fillRect/>
          </a:stretch>
        </p:blipFill>
        <p:spPr>
          <a:xfrm>
            <a:off x="822960" y="2715768"/>
            <a:ext cx="1499616" cy="354787"/>
          </a:xfrm>
          <a:prstGeom prst="rect">
            <a:avLst/>
          </a:prstGeom>
        </p:spPr>
      </p:pic>
      <p:pic>
        <p:nvPicPr>
          <p:cNvPr id="10" name="img153" descr="theta0 dot equals v over L1 tan delta"/>
          <p:cNvPicPr>
            <a:picLocks noChangeAspect="1"/>
          </p:cNvPicPr>
          <p:nvPr/>
        </p:nvPicPr>
        <p:blipFill>
          <a:blip r:embed="rId5"/>
          <a:stretch>
            <a:fillRect/>
          </a:stretch>
        </p:blipFill>
        <p:spPr>
          <a:xfrm>
            <a:off x="822960" y="3310128"/>
            <a:ext cx="2079565" cy="541764"/>
          </a:xfrm>
          <a:prstGeom prst="rect">
            <a:avLst/>
          </a:prstGeom>
        </p:spPr>
      </p:pic>
      <p:sp>
        <p:nvSpPr>
          <p:cNvPr id="11" name="card154"/>
          <p:cNvSpPr/>
          <p:nvPr/>
        </p:nvSpPr>
        <p:spPr>
          <a:xfrm>
            <a:off x="4480560" y="1481328"/>
            <a:ext cx="7162495" cy="2834640"/>
          </a:xfrm>
          <a:prstGeom prst="roundRect">
            <a:avLst>
              <a:gd name="adj" fmla="val 3871"/>
            </a:avLst>
          </a:prstGeom>
          <a:solidFill>
            <a:schemeClr val="bg2"/>
          </a:solidFill>
          <a:ln/>
        </p:spPr>
      </p:sp>
      <p:sp>
        <p:nvSpPr>
          <p:cNvPr id="12" name="t155"/>
          <p:cNvSpPr txBox="1"/>
          <p:nvPr/>
        </p:nvSpPr>
        <p:spPr>
          <a:xfrm>
            <a:off x="4754880" y="1618488"/>
            <a:ext cx="2743200" cy="365760"/>
          </a:xfrm>
          <a:prstGeom prst="rect">
            <a:avLst/>
          </a:prstGeom>
          <a:noFill/>
          <a:ln/>
        </p:spPr>
        <p:txBody>
          <a:bodyPr wrap="square" lIns="0" tIns="0" rIns="0" bIns="0" rtlCol="0" anchor="t"/>
          <a:lstStyle/>
          <a:p>
            <a:pPr marL="0" indent="0">
              <a:buNone/>
            </a:pPr>
            <a:r>
              <a:rPr lang="en-US" sz="1500" b="1" dirty="0">
                <a:solidFill>
                  <a:schemeClr val="tx1"/>
                </a:solidFill>
              </a:rPr>
              <a:t>Hitch Angle</a:t>
            </a:r>
            <a:endParaRPr lang="en-US" sz="1500" dirty="0"/>
          </a:p>
        </p:txBody>
      </p:sp>
      <p:pic>
        <p:nvPicPr>
          <p:cNvPr id="13" name="img156" descr="psi dot equals theta0 dot minus theta1 dot"/>
          <p:cNvPicPr>
            <a:picLocks noChangeAspect="1"/>
          </p:cNvPicPr>
          <p:nvPr/>
        </p:nvPicPr>
        <p:blipFill>
          <a:blip r:embed="rId6"/>
          <a:stretch>
            <a:fillRect/>
          </a:stretch>
        </p:blipFill>
        <p:spPr>
          <a:xfrm>
            <a:off x="4754880" y="2121408"/>
            <a:ext cx="1375258" cy="405994"/>
          </a:xfrm>
          <a:prstGeom prst="rect">
            <a:avLst/>
          </a:prstGeom>
        </p:spPr>
      </p:pic>
      <p:pic>
        <p:nvPicPr>
          <p:cNvPr id="14" name="img157" descr="psi dot equals v times: tan delta over L1, minus sin psi over L2, minus d tan delta cos psi over L1 L2"/>
          <p:cNvPicPr>
            <a:picLocks noChangeAspect="1"/>
          </p:cNvPicPr>
          <p:nvPr/>
        </p:nvPicPr>
        <p:blipFill>
          <a:blip r:embed="rId7"/>
          <a:stretch>
            <a:fillRect/>
          </a:stretch>
        </p:blipFill>
        <p:spPr>
          <a:xfrm>
            <a:off x="4806544" y="2944368"/>
            <a:ext cx="6510528" cy="983894"/>
          </a:xfrm>
          <a:prstGeom prst="rect">
            <a:avLst/>
          </a:prstGeom>
        </p:spPr>
      </p:pic>
      <p:sp>
        <p:nvSpPr>
          <p:cNvPr id="15" name="card158"/>
          <p:cNvSpPr/>
          <p:nvPr/>
        </p:nvSpPr>
        <p:spPr>
          <a:xfrm>
            <a:off x="548640" y="4544568"/>
            <a:ext cx="3515258" cy="1188720"/>
          </a:xfrm>
          <a:prstGeom prst="roundRect">
            <a:avLst>
              <a:gd name="adj" fmla="val 9231"/>
            </a:avLst>
          </a:prstGeom>
          <a:solidFill>
            <a:schemeClr val="accent5"/>
          </a:solidFill>
          <a:ln/>
        </p:spPr>
      </p:sp>
      <p:sp>
        <p:nvSpPr>
          <p:cNvPr id="16" name="t159"/>
          <p:cNvSpPr txBox="1"/>
          <p:nvPr/>
        </p:nvSpPr>
        <p:spPr>
          <a:xfrm>
            <a:off x="777240" y="4681728"/>
            <a:ext cx="3058058" cy="411480"/>
          </a:xfrm>
          <a:prstGeom prst="rect">
            <a:avLst/>
          </a:prstGeom>
          <a:noFill/>
          <a:ln/>
        </p:spPr>
        <p:txBody>
          <a:bodyPr wrap="square" lIns="0" tIns="0" rIns="0" bIns="0" rtlCol="0" anchor="t"/>
          <a:lstStyle/>
          <a:p>
            <a:pPr marL="0" indent="0">
              <a:buNone/>
            </a:pPr>
            <a:r>
              <a:rPr lang="en-US" sz="1700" b="1" dirty="0">
                <a:solidFill>
                  <a:schemeClr val="accent1"/>
                </a:solidFill>
              </a:rPr>
              <a:t>Steering Term</a:t>
            </a:r>
            <a:endParaRPr lang="en-US" sz="1700" dirty="0"/>
          </a:p>
        </p:txBody>
      </p:sp>
      <p:sp>
        <p:nvSpPr>
          <p:cNvPr id="17" name="t160"/>
          <p:cNvSpPr txBox="1"/>
          <p:nvPr/>
        </p:nvSpPr>
        <p:spPr>
          <a:xfrm>
            <a:off x="777240" y="5138928"/>
            <a:ext cx="3058058" cy="914400"/>
          </a:xfrm>
          <a:prstGeom prst="rect">
            <a:avLst/>
          </a:prstGeom>
          <a:noFill/>
          <a:ln/>
        </p:spPr>
        <p:txBody>
          <a:bodyPr wrap="square" lIns="0" tIns="0" rIns="0" bIns="0" rtlCol="0" anchor="t"/>
          <a:lstStyle/>
          <a:p>
            <a:pPr marL="0" indent="0">
              <a:buNone/>
            </a:pPr>
            <a:r>
              <a:rPr lang="en-US" sz="1500" dirty="0">
                <a:solidFill>
                  <a:schemeClr val="tx1"/>
                </a:solidFill>
              </a:rPr>
              <a:t>The only input that acts on the hitch</a:t>
            </a:r>
            <a:endParaRPr lang="en-US" sz="1500" dirty="0"/>
          </a:p>
        </p:txBody>
      </p:sp>
      <p:sp>
        <p:nvSpPr>
          <p:cNvPr id="18" name="card161"/>
          <p:cNvSpPr/>
          <p:nvPr/>
        </p:nvSpPr>
        <p:spPr>
          <a:xfrm>
            <a:off x="4338218" y="4544568"/>
            <a:ext cx="3515258" cy="1188720"/>
          </a:xfrm>
          <a:prstGeom prst="roundRect">
            <a:avLst>
              <a:gd name="adj" fmla="val 9231"/>
            </a:avLst>
          </a:prstGeom>
          <a:solidFill>
            <a:srgbClr val="3A1F1F"/>
          </a:solidFill>
          <a:ln/>
        </p:spPr>
      </p:sp>
      <p:sp>
        <p:nvSpPr>
          <p:cNvPr id="19" name="t162"/>
          <p:cNvSpPr txBox="1"/>
          <p:nvPr/>
        </p:nvSpPr>
        <p:spPr>
          <a:xfrm>
            <a:off x="4566818" y="4681728"/>
            <a:ext cx="3058058" cy="411480"/>
          </a:xfrm>
          <a:prstGeom prst="rect">
            <a:avLst/>
          </a:prstGeom>
          <a:noFill/>
          <a:ln/>
        </p:spPr>
        <p:txBody>
          <a:bodyPr wrap="square" lIns="0" tIns="0" rIns="0" bIns="0" rtlCol="0" anchor="t"/>
          <a:lstStyle/>
          <a:p>
            <a:pPr marL="0" indent="0">
              <a:buNone/>
            </a:pPr>
            <a:r>
              <a:rPr lang="en-US" sz="1700" b="1" dirty="0">
                <a:solidFill>
                  <a:schemeClr val="accent3"/>
                </a:solidFill>
              </a:rPr>
              <a:t>Hitch Term</a:t>
            </a:r>
            <a:endParaRPr lang="en-US" sz="1700" dirty="0"/>
          </a:p>
        </p:txBody>
      </p:sp>
      <p:sp>
        <p:nvSpPr>
          <p:cNvPr id="20" name="t163"/>
          <p:cNvSpPr txBox="1"/>
          <p:nvPr/>
        </p:nvSpPr>
        <p:spPr>
          <a:xfrm>
            <a:off x="4566818" y="5138928"/>
            <a:ext cx="3058058" cy="914400"/>
          </a:xfrm>
          <a:prstGeom prst="rect">
            <a:avLst/>
          </a:prstGeom>
          <a:noFill/>
          <a:ln/>
        </p:spPr>
        <p:txBody>
          <a:bodyPr wrap="square" lIns="0" tIns="0" rIns="0" bIns="0" rtlCol="0" anchor="t"/>
          <a:lstStyle/>
          <a:p>
            <a:pPr marL="0" indent="0">
              <a:buNone/>
            </a:pPr>
            <a:r>
              <a:rPr lang="en-US" sz="1500" dirty="0">
                <a:solidFill>
                  <a:schemeClr val="tx1"/>
                </a:solidFill>
              </a:rPr>
              <a:t>Restores ψ going forward, destabilises it in reverse</a:t>
            </a:r>
            <a:endParaRPr lang="en-US" sz="1500" dirty="0"/>
          </a:p>
        </p:txBody>
      </p:sp>
      <p:sp>
        <p:nvSpPr>
          <p:cNvPr id="21" name="card164"/>
          <p:cNvSpPr/>
          <p:nvPr/>
        </p:nvSpPr>
        <p:spPr>
          <a:xfrm>
            <a:off x="8127797" y="4544568"/>
            <a:ext cx="3515258" cy="1188720"/>
          </a:xfrm>
          <a:prstGeom prst="roundRect">
            <a:avLst>
              <a:gd name="adj" fmla="val 9231"/>
            </a:avLst>
          </a:prstGeom>
          <a:solidFill>
            <a:schemeClr val="bg2"/>
          </a:solidFill>
          <a:ln/>
        </p:spPr>
      </p:sp>
      <p:sp>
        <p:nvSpPr>
          <p:cNvPr id="22" name="t165"/>
          <p:cNvSpPr txBox="1"/>
          <p:nvPr/>
        </p:nvSpPr>
        <p:spPr>
          <a:xfrm>
            <a:off x="8356397" y="4681728"/>
            <a:ext cx="3058058" cy="411480"/>
          </a:xfrm>
          <a:prstGeom prst="rect">
            <a:avLst/>
          </a:prstGeom>
          <a:noFill/>
          <a:ln/>
        </p:spPr>
        <p:txBody>
          <a:bodyPr wrap="square" lIns="0" tIns="0" rIns="0" bIns="0" rtlCol="0" anchor="t"/>
          <a:lstStyle/>
          <a:p>
            <a:pPr marL="0" indent="0">
              <a:buNone/>
            </a:pPr>
            <a:r>
              <a:rPr lang="en-US" sz="1700" b="1" dirty="0">
                <a:solidFill>
                  <a:schemeClr val="accent4"/>
                </a:solidFill>
              </a:rPr>
              <a:t>Offset Term</a:t>
            </a:r>
            <a:endParaRPr lang="en-US" sz="1700" dirty="0"/>
          </a:p>
        </p:txBody>
      </p:sp>
      <p:sp>
        <p:nvSpPr>
          <p:cNvPr id="23" name="t166"/>
          <p:cNvSpPr txBox="1"/>
          <p:nvPr/>
        </p:nvSpPr>
        <p:spPr>
          <a:xfrm>
            <a:off x="8356397" y="5138928"/>
            <a:ext cx="3058058" cy="914400"/>
          </a:xfrm>
          <a:prstGeom prst="rect">
            <a:avLst/>
          </a:prstGeom>
          <a:noFill/>
          <a:ln/>
        </p:spPr>
        <p:txBody>
          <a:bodyPr wrap="square" lIns="0" tIns="0" rIns="0" bIns="0" rtlCol="0" anchor="t"/>
          <a:lstStyle/>
          <a:p>
            <a:pPr marL="0" indent="0">
              <a:buNone/>
            </a:pPr>
            <a:r>
              <a:rPr lang="en-US" sz="1500" dirty="0">
                <a:solidFill>
                  <a:schemeClr val="tx1"/>
                </a:solidFill>
              </a:rPr>
              <a:t>Hitch 0.5 m ahead of the axle: a small correction</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dge176"/>
          <p:cNvSpPr/>
          <p:nvPr/>
        </p:nvSpPr>
        <p:spPr>
          <a:xfrm>
            <a:off x="1371600" y="2331720"/>
            <a:ext cx="1828800" cy="1828800"/>
          </a:xfrm>
          <a:prstGeom prst="ellipse">
            <a:avLst/>
          </a:prstGeom>
          <a:solidFill>
            <a:schemeClr val="accent1"/>
          </a:solidFill>
          <a:ln/>
        </p:spPr>
      </p:sp>
      <p:sp>
        <p:nvSpPr>
          <p:cNvPr id="3" name="t177"/>
          <p:cNvSpPr txBox="1"/>
          <p:nvPr/>
        </p:nvSpPr>
        <p:spPr>
          <a:xfrm>
            <a:off x="1371600" y="2331720"/>
            <a:ext cx="1828800" cy="1828800"/>
          </a:xfrm>
          <a:prstGeom prst="rect">
            <a:avLst/>
          </a:prstGeom>
          <a:noFill/>
          <a:ln/>
        </p:spPr>
        <p:txBody>
          <a:bodyPr wrap="square" lIns="0" tIns="0" rIns="0" bIns="0" rtlCol="0" anchor="ctr"/>
          <a:lstStyle/>
          <a:p>
            <a:pPr marL="0" indent="0" algn="ctr">
              <a:buNone/>
            </a:pPr>
            <a:r>
              <a:rPr lang="en-US" sz="7200" b="1" dirty="0">
                <a:solidFill>
                  <a:schemeClr val="bg1"/>
                </a:solidFill>
              </a:rPr>
              <a:t>3</a:t>
            </a:r>
            <a:endParaRPr lang="en-US" sz="7200" dirty="0"/>
          </a:p>
        </p:txBody>
      </p:sp>
      <p:sp>
        <p:nvSpPr>
          <p:cNvPr id="4" name="Text 0"/>
          <p:cNvSpPr>
            <a:spLocks noGrp="1"/>
          </p:cNvSpPr>
          <p:nvPr>
            <p:ph type="body" idx="100" hasCustomPrompt="1"/>
          </p:nvPr>
        </p:nvSpPr>
        <p:spPr>
          <a:xfrm>
            <a:off x="3749040" y="2240280"/>
            <a:ext cx="7863840" cy="457200"/>
          </a:xfrm>
          <a:prstGeom prst="rect">
            <a:avLst/>
          </a:prstGeom>
          <a:noFill/>
          <a:ln/>
        </p:spPr>
        <p:txBody>
          <a:bodyPr wrap="square" lIns="0" tIns="0" rIns="0" bIns="0" rtlCol="0" anchor="ctr"/>
          <a:lstStyle/>
          <a:p>
            <a:pPr marL="0" indent="0">
              <a:buNone/>
            </a:pPr>
            <a:r>
              <a:rPr lang="en-US" sz="1800" b="1" dirty="0">
                <a:solidFill>
                  <a:schemeClr val="accent1"/>
                </a:solidFill>
              </a:rPr>
              <a:t>Part 3</a:t>
            </a:r>
            <a:endParaRPr lang="en-US" sz="1800" dirty="0"/>
          </a:p>
        </p:txBody>
      </p:sp>
      <p:sp>
        <p:nvSpPr>
          <p:cNvPr id="5" name="Text 0"/>
          <p:cNvSpPr>
            <a:spLocks noGrp="1"/>
          </p:cNvSpPr>
          <p:nvPr>
            <p:ph type="title" idx="101" hasCustomPrompt="1"/>
          </p:nvPr>
        </p:nvSpPr>
        <p:spPr>
          <a:xfrm>
            <a:off x="3749040" y="2697480"/>
            <a:ext cx="7863840" cy="1005840"/>
          </a:xfrm>
          <a:prstGeom prst="rect">
            <a:avLst/>
          </a:prstGeom>
          <a:noFill/>
          <a:ln/>
        </p:spPr>
        <p:txBody>
          <a:bodyPr wrap="square" lIns="0" tIns="0" rIns="0" bIns="0" rtlCol="0" anchor="ctr"/>
          <a:lstStyle/>
          <a:p>
            <a:pPr marL="0" indent="0" algn="l">
              <a:buNone/>
            </a:pPr>
            <a:r>
              <a:rPr lang="en-US" sz="3400" dirty="0">
                <a:solidFill>
                  <a:schemeClr val="tx1"/>
                </a:solidFill>
              </a:rPr>
              <a:t>Hybrid A* and NMPC</a:t>
            </a:r>
            <a:endParaRPr lang="en-US" sz="3400" dirty="0"/>
          </a:p>
        </p:txBody>
      </p:sp>
      <p:sp>
        <p:nvSpPr>
          <p:cNvPr id="6" name="Text 0"/>
          <p:cNvSpPr>
            <a:spLocks noGrp="1"/>
          </p:cNvSpPr>
          <p:nvPr>
            <p:ph type="body" idx="102" hasCustomPrompt="1"/>
          </p:nvPr>
        </p:nvSpPr>
        <p:spPr>
          <a:xfrm>
            <a:off x="3749040" y="3749040"/>
            <a:ext cx="7680960" cy="914400"/>
          </a:xfrm>
          <a:prstGeom prst="rect">
            <a:avLst/>
          </a:prstGeom>
          <a:noFill/>
          <a:ln/>
        </p:spPr>
        <p:txBody>
          <a:bodyPr wrap="square" lIns="0" tIns="0" rIns="0" bIns="0" rtlCol="0" anchor="t"/>
          <a:lstStyle/>
          <a:p>
            <a:pPr marL="0" indent="0">
              <a:buNone/>
            </a:pPr>
            <a:r>
              <a:rPr lang="en-US" sz="1800" dirty="0">
                <a:solidFill>
                  <a:schemeClr val="tx2"/>
                </a:solidFill>
              </a:rPr>
              <a:t>Hybrid A* plans a route the truck can drive; NMPC follows it without breaking the hitch limit</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Why Reversing Is Unstable</a:t>
            </a:r>
            <a:endParaRPr lang="en-US" sz="2800" dirty="0"/>
          </a:p>
        </p:txBody>
      </p:sp>
      <p:pic>
        <p:nvPicPr>
          <p:cNvPr id="6" name="img169" descr="Hitch angle from a 2 degree start: forward it decays, in reverse it grows past 60 degrees after 28 metres"/>
          <p:cNvPicPr>
            <a:picLocks noChangeAspect="1"/>
          </p:cNvPicPr>
          <p:nvPr/>
        </p:nvPicPr>
        <p:blipFill>
          <a:blip r:embed="rId3"/>
          <a:stretch>
            <a:fillRect/>
          </a:stretch>
        </p:blipFill>
        <p:spPr>
          <a:xfrm>
            <a:off x="320040" y="1389888"/>
            <a:ext cx="6035040" cy="4480560"/>
          </a:xfrm>
          <a:prstGeom prst="rect">
            <a:avLst/>
          </a:prstGeom>
        </p:spPr>
      </p:pic>
      <p:sp>
        <p:nvSpPr>
          <p:cNvPr id="7" name="t170"/>
          <p:cNvSpPr txBox="1"/>
          <p:nvPr/>
        </p:nvSpPr>
        <p:spPr>
          <a:xfrm>
            <a:off x="6400800" y="1481328"/>
            <a:ext cx="5242255" cy="411480"/>
          </a:xfrm>
          <a:prstGeom prst="rect">
            <a:avLst/>
          </a:prstGeom>
          <a:noFill/>
          <a:ln/>
        </p:spPr>
        <p:txBody>
          <a:bodyPr wrap="square" lIns="0" tIns="0" rIns="0" bIns="0" rtlCol="0" anchor="t"/>
          <a:lstStyle/>
          <a:p>
            <a:pPr marL="0" indent="0">
              <a:buNone/>
            </a:pPr>
            <a:r>
              <a:rPr lang="en-US" sz="1700" dirty="0">
                <a:solidFill>
                  <a:schemeClr val="tx2"/>
                </a:solidFill>
              </a:rPr>
              <a:t>Linearise at ψ ≈ 0 and δ = 0:</a:t>
            </a:r>
            <a:endParaRPr lang="en-US" sz="1700" dirty="0"/>
          </a:p>
        </p:txBody>
      </p:sp>
      <p:pic>
        <p:nvPicPr>
          <p:cNvPr id="8" name="img171" descr="psi dot is approximately minus v over L2 times psi, so lambda equals minus v over L2"/>
          <p:cNvPicPr>
            <a:picLocks noChangeAspect="1"/>
          </p:cNvPicPr>
          <p:nvPr/>
        </p:nvPicPr>
        <p:blipFill>
          <a:blip r:embed="rId4"/>
          <a:stretch>
            <a:fillRect/>
          </a:stretch>
        </p:blipFill>
        <p:spPr>
          <a:xfrm>
            <a:off x="6400800" y="1984248"/>
            <a:ext cx="3471062" cy="585216"/>
          </a:xfrm>
          <a:prstGeom prst="rect">
            <a:avLst/>
          </a:prstGeom>
        </p:spPr>
      </p:pic>
      <p:sp>
        <p:nvSpPr>
          <p:cNvPr id="9" name="t172"/>
          <p:cNvSpPr txBox="1"/>
          <p:nvPr/>
        </p:nvSpPr>
        <p:spPr>
          <a:xfrm>
            <a:off x="6400800" y="2990088"/>
            <a:ext cx="5242255" cy="160020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4CC38A"/>
                </a:solidFill>
              </a:rPr>
              <a:t>Forward, v &gt; 0: λ &lt; 0, ψ decays</a:t>
            </a:r>
            <a:endParaRPr lang="en-US" sz="1700" dirty="0"/>
          </a:p>
          <a:p>
            <a:pPr marL="203200" indent="-203200">
              <a:spcAft>
                <a:spcPts val="600"/>
              </a:spcAft>
              <a:buSzPct val="100000"/>
              <a:buChar char="•"/>
            </a:pPr>
            <a:r>
              <a:rPr lang="en-US" sz="1700" dirty="0">
                <a:solidFill>
                  <a:schemeClr val="accent3"/>
                </a:solidFill>
              </a:rPr>
              <a:t>Reverse, v &lt; 0: λ &gt; 0, ψ grows</a:t>
            </a:r>
            <a:endParaRPr lang="en-US" sz="1700" dirty="0"/>
          </a:p>
          <a:p>
            <a:pPr marL="203200" indent="-203200">
              <a:spcAft>
                <a:spcPts val="600"/>
              </a:spcAft>
              <a:buSzPct val="100000"/>
              <a:buChar char="•"/>
            </a:pPr>
            <a:r>
              <a:rPr lang="en-US" sz="1700" dirty="0">
                <a:solidFill>
                  <a:schemeClr val="tx1"/>
                </a:solidFill>
              </a:rPr>
              <a:t>It grows ×e every L₂ = 8 m of travel</a:t>
            </a:r>
            <a:endParaRPr lang="en-US" sz="1700" dirty="0"/>
          </a:p>
        </p:txBody>
      </p:sp>
      <p:sp>
        <p:nvSpPr>
          <p:cNvPr id="10" name="card173"/>
          <p:cNvSpPr/>
          <p:nvPr/>
        </p:nvSpPr>
        <p:spPr>
          <a:xfrm>
            <a:off x="6400800" y="4773168"/>
            <a:ext cx="5242255" cy="1325880"/>
          </a:xfrm>
          <a:prstGeom prst="roundRect">
            <a:avLst>
              <a:gd name="adj" fmla="val 8276"/>
            </a:avLst>
          </a:prstGeom>
          <a:solidFill>
            <a:srgbClr val="3A1F1F"/>
          </a:solidFill>
          <a:ln/>
        </p:spPr>
      </p:sp>
      <p:sp>
        <p:nvSpPr>
          <p:cNvPr id="11" name="t174"/>
          <p:cNvSpPr txBox="1"/>
          <p:nvPr/>
        </p:nvSpPr>
        <p:spPr>
          <a:xfrm>
            <a:off x="6675120" y="4773168"/>
            <a:ext cx="2103120" cy="1325880"/>
          </a:xfrm>
          <a:prstGeom prst="rect">
            <a:avLst/>
          </a:prstGeom>
          <a:noFill/>
          <a:ln/>
        </p:spPr>
        <p:txBody>
          <a:bodyPr wrap="square" lIns="0" tIns="0" rIns="0" bIns="0" rtlCol="0" anchor="ctr"/>
          <a:lstStyle/>
          <a:p>
            <a:pPr marL="0" indent="0">
              <a:buNone/>
            </a:pPr>
            <a:r>
              <a:rPr lang="en-US" sz="4100" b="1" dirty="0">
                <a:solidFill>
                  <a:schemeClr val="accent3"/>
                </a:solidFill>
              </a:rPr>
              <a:t>28 m</a:t>
            </a:r>
            <a:endParaRPr lang="en-US" sz="4100" dirty="0"/>
          </a:p>
        </p:txBody>
      </p:sp>
      <p:sp>
        <p:nvSpPr>
          <p:cNvPr id="12" name="t175"/>
          <p:cNvSpPr txBox="1"/>
          <p:nvPr/>
        </p:nvSpPr>
        <p:spPr>
          <a:xfrm>
            <a:off x="8778240" y="4773168"/>
            <a:ext cx="2636215" cy="1325880"/>
          </a:xfrm>
          <a:prstGeom prst="rect">
            <a:avLst/>
          </a:prstGeom>
          <a:noFill/>
          <a:ln/>
        </p:spPr>
        <p:txBody>
          <a:bodyPr wrap="square" lIns="0" tIns="0" rIns="0" bIns="0" rtlCol="0" anchor="ctr"/>
          <a:lstStyle/>
          <a:p>
            <a:pPr marL="0" indent="0">
              <a:buNone/>
            </a:pPr>
            <a:r>
              <a:rPr lang="en-US" sz="1500" dirty="0">
                <a:solidFill>
                  <a:schemeClr val="tx1"/>
                </a:solidFill>
              </a:rPr>
              <a:t>From a 2° error to the 60° limit, in reverse</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dge178"/>
          <p:cNvSpPr/>
          <p:nvPr/>
        </p:nvSpPr>
        <p:spPr>
          <a:xfrm>
            <a:off x="548640" y="356616"/>
            <a:ext cx="256032" cy="256032"/>
          </a:xfrm>
          <a:prstGeom prst="ellipse">
            <a:avLst/>
          </a:prstGeom>
          <a:solidFill>
            <a:schemeClr val="accent1"/>
          </a:solidFill>
          <a:ln/>
        </p:spPr>
      </p:sp>
      <p:sp>
        <p:nvSpPr>
          <p:cNvPr id="3" name="t179"/>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3  ·  Hybrid A* and NMPC</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Hybrid A*: Planning a Path the Truck Can Drive</a:t>
            </a:r>
            <a:endParaRPr lang="en-US" sz="2800" dirty="0"/>
          </a:p>
        </p:txBody>
      </p:sp>
      <p:sp>
        <p:nvSpPr>
          <p:cNvPr id="6" name="card180"/>
          <p:cNvSpPr/>
          <p:nvPr/>
        </p:nvSpPr>
        <p:spPr>
          <a:xfrm>
            <a:off x="548640" y="1481328"/>
            <a:ext cx="5364328" cy="4663440"/>
          </a:xfrm>
          <a:prstGeom prst="roundRect">
            <a:avLst>
              <a:gd name="adj" fmla="val 2353"/>
            </a:avLst>
          </a:prstGeom>
          <a:solidFill>
            <a:schemeClr val="bg2"/>
          </a:solidFill>
          <a:ln/>
        </p:spPr>
      </p:sp>
      <p:sp>
        <p:nvSpPr>
          <p:cNvPr id="7" name="t181"/>
          <p:cNvSpPr txBox="1"/>
          <p:nvPr/>
        </p:nvSpPr>
        <p:spPr>
          <a:xfrm>
            <a:off x="822960" y="1618488"/>
            <a:ext cx="4815688" cy="411480"/>
          </a:xfrm>
          <a:prstGeom prst="rect">
            <a:avLst/>
          </a:prstGeom>
          <a:noFill/>
          <a:ln/>
        </p:spPr>
        <p:txBody>
          <a:bodyPr wrap="square" lIns="0" tIns="0" rIns="0" bIns="0" rtlCol="0" anchor="t"/>
          <a:lstStyle/>
          <a:p>
            <a:pPr marL="0" indent="0">
              <a:buNone/>
            </a:pPr>
            <a:r>
              <a:rPr lang="en-US" sz="1700" b="1" dirty="0">
                <a:solidFill>
                  <a:schemeClr val="tx1"/>
                </a:solidFill>
              </a:rPr>
              <a:t>In General</a:t>
            </a:r>
            <a:endParaRPr lang="en-US" sz="1700" dirty="0"/>
          </a:p>
        </p:txBody>
      </p:sp>
      <p:sp>
        <p:nvSpPr>
          <p:cNvPr id="8" name="card182"/>
          <p:cNvSpPr/>
          <p:nvPr/>
        </p:nvSpPr>
        <p:spPr>
          <a:xfrm>
            <a:off x="6278728" y="1481328"/>
            <a:ext cx="5364328" cy="4663440"/>
          </a:xfrm>
          <a:prstGeom prst="roundRect">
            <a:avLst>
              <a:gd name="adj" fmla="val 2353"/>
            </a:avLst>
          </a:prstGeom>
          <a:solidFill>
            <a:schemeClr val="accent5"/>
          </a:solidFill>
          <a:ln/>
        </p:spPr>
      </p:sp>
      <p:sp>
        <p:nvSpPr>
          <p:cNvPr id="9" name="t183"/>
          <p:cNvSpPr txBox="1"/>
          <p:nvPr/>
        </p:nvSpPr>
        <p:spPr>
          <a:xfrm>
            <a:off x="6553048" y="1618488"/>
            <a:ext cx="4815688" cy="411480"/>
          </a:xfrm>
          <a:prstGeom prst="rect">
            <a:avLst/>
          </a:prstGeom>
          <a:noFill/>
          <a:ln/>
        </p:spPr>
        <p:txBody>
          <a:bodyPr wrap="square" lIns="0" tIns="0" rIns="0" bIns="0" rtlCol="0" anchor="t"/>
          <a:lstStyle/>
          <a:p>
            <a:pPr marL="0" indent="0">
              <a:buNone/>
            </a:pPr>
            <a:r>
              <a:rPr lang="en-US" sz="1700" b="1" dirty="0">
                <a:solidFill>
                  <a:schemeClr val="accent1"/>
                </a:solidFill>
              </a:rPr>
              <a:t>In Our Project</a:t>
            </a:r>
            <a:endParaRPr lang="en-US" sz="1700" dirty="0"/>
          </a:p>
        </p:txBody>
      </p:sp>
      <p:pic>
        <p:nvPicPr>
          <p:cNvPr id="10" name="img184" descr="Grid A* path with sharp corners against a smooth drivable Hybrid A* path around an obstacle"/>
          <p:cNvPicPr>
            <a:picLocks noChangeAspect="1"/>
          </p:cNvPicPr>
          <p:nvPr/>
        </p:nvPicPr>
        <p:blipFill>
          <a:blip r:embed="rId3"/>
          <a:stretch>
            <a:fillRect/>
          </a:stretch>
        </p:blipFill>
        <p:spPr>
          <a:xfrm>
            <a:off x="1488364" y="2167128"/>
            <a:ext cx="3484880" cy="2240280"/>
          </a:xfrm>
          <a:prstGeom prst="rect">
            <a:avLst/>
          </a:prstGeom>
        </p:spPr>
      </p:pic>
      <p:sp>
        <p:nvSpPr>
          <p:cNvPr id="11" name="t185"/>
          <p:cNvSpPr txBox="1"/>
          <p:nvPr/>
        </p:nvSpPr>
        <p:spPr>
          <a:xfrm>
            <a:off x="822960" y="4572000"/>
            <a:ext cx="4815688" cy="15087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chemeClr val="tx2"/>
                </a:solidFill>
              </a:rPr>
              <a:t>A* always expands the lowest f = g + h</a:t>
            </a:r>
            <a:endParaRPr lang="en-US" sz="1500" dirty="0"/>
          </a:p>
          <a:p>
            <a:pPr marL="203200" indent="-203200">
              <a:spcAft>
                <a:spcPts val="400"/>
              </a:spcAft>
              <a:buSzPct val="100000"/>
              <a:buChar char="•"/>
            </a:pPr>
            <a:r>
              <a:rPr lang="en-US" sz="1500" dirty="0">
                <a:solidFill>
                  <a:schemeClr val="tx2"/>
                </a:solidFill>
              </a:rPr>
              <a:t>Grid paths have corners no truck can drive</a:t>
            </a:r>
            <a:endParaRPr lang="en-US" sz="1500" dirty="0"/>
          </a:p>
          <a:p>
            <a:pPr marL="203200" indent="-203200">
              <a:spcAft>
                <a:spcPts val="400"/>
              </a:spcAft>
              <a:buSzPct val="100000"/>
              <a:buChar char="•"/>
            </a:pPr>
            <a:r>
              <a:rPr lang="en-US" sz="1500" dirty="0">
                <a:solidFill>
                  <a:schemeClr val="tx2"/>
                </a:solidFill>
              </a:rPr>
              <a:t>Hybrid A* keeps the exact pose and grows the tree with short drivable arcs</a:t>
            </a:r>
            <a:endParaRPr lang="en-US" sz="1500" dirty="0"/>
          </a:p>
        </p:txBody>
      </p:sp>
      <p:pic>
        <p:nvPicPr>
          <p:cNvPr id="12" name="img186" descr="Ten motion primitives from one pose: five forward, five reverse"/>
          <p:cNvPicPr>
            <a:picLocks noChangeAspect="1"/>
          </p:cNvPicPr>
          <p:nvPr/>
        </p:nvPicPr>
        <p:blipFill>
          <a:blip r:embed="rId4"/>
          <a:stretch>
            <a:fillRect/>
          </a:stretch>
        </p:blipFill>
        <p:spPr>
          <a:xfrm>
            <a:off x="6965006" y="2167128"/>
            <a:ext cx="3991772" cy="2240280"/>
          </a:xfrm>
          <a:prstGeom prst="rect">
            <a:avLst/>
          </a:prstGeom>
        </p:spPr>
      </p:pic>
      <p:sp>
        <p:nvSpPr>
          <p:cNvPr id="13" name="t187"/>
          <p:cNvSpPr txBox="1"/>
          <p:nvPr/>
        </p:nvSpPr>
        <p:spPr>
          <a:xfrm>
            <a:off x="6553048" y="4572000"/>
            <a:ext cx="4815688" cy="15087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chemeClr val="tx2"/>
                </a:solidFill>
              </a:rPr>
              <a:t>State (x, y, θ₀, ψ); 10 arcs of 2 m per node, forward and reverse</a:t>
            </a:r>
            <a:endParaRPr lang="en-US" sz="1500" dirty="0"/>
          </a:p>
          <a:p>
            <a:pPr marL="203200" indent="-203200">
              <a:spcAft>
                <a:spcPts val="400"/>
              </a:spcAft>
              <a:buSzPct val="100000"/>
              <a:buChar char="•"/>
            </a:pPr>
            <a:r>
              <a:rPr lang="en-US" sz="1500" dirty="0">
                <a:solidFill>
                  <a:schemeClr val="tx2"/>
                </a:solidFill>
              </a:rPr>
              <a:t>Arcs with |ψ| &gt; 52° or under 0.35 m clearance are dropped</a:t>
            </a:r>
            <a:endParaRPr lang="en-US" sz="1500" dirty="0"/>
          </a:p>
          <a:p>
            <a:pPr marL="203200" indent="-203200">
              <a:spcAft>
                <a:spcPts val="400"/>
              </a:spcAft>
              <a:buSzPct val="100000"/>
              <a:buChar char="•"/>
            </a:pPr>
            <a:r>
              <a:rPr lang="en-US" sz="1500" dirty="0">
                <a:solidFill>
                  <a:schemeClr val="tx2"/>
                </a:solidFill>
              </a:rPr>
              <a:t>Heuristic: trailer-axle Dubins path [4], [5]</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adge188"/>
          <p:cNvSpPr/>
          <p:nvPr/>
        </p:nvSpPr>
        <p:spPr>
          <a:xfrm>
            <a:off x="548640" y="356616"/>
            <a:ext cx="256032" cy="256032"/>
          </a:xfrm>
          <a:prstGeom prst="ellipse">
            <a:avLst/>
          </a:prstGeom>
          <a:solidFill>
            <a:schemeClr val="accent1"/>
          </a:solidFill>
          <a:ln/>
        </p:spPr>
      </p:sp>
      <p:sp>
        <p:nvSpPr>
          <p:cNvPr id="3" name="t189"/>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3  ·  Hybrid A* and NMPC</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NMPC: Predict, Optimise, Apply, Repeat</a:t>
            </a:r>
            <a:endParaRPr lang="en-US" sz="2800" dirty="0"/>
          </a:p>
        </p:txBody>
      </p:sp>
      <p:pic>
        <p:nvPicPr>
          <p:cNvPr id="6" name="img190" descr="Receding horizon: measured hitch angle up to now, predicted angle over the next 9.6 seconds below the 60 degree limit, and eight steering moves of which only the first is applied"/>
          <p:cNvPicPr>
            <a:picLocks noChangeAspect="1"/>
          </p:cNvPicPr>
          <p:nvPr/>
        </p:nvPicPr>
        <p:blipFill>
          <a:blip r:embed="rId3"/>
          <a:stretch>
            <a:fillRect/>
          </a:stretch>
        </p:blipFill>
        <p:spPr>
          <a:xfrm>
            <a:off x="365760" y="1389888"/>
            <a:ext cx="5464454" cy="3794760"/>
          </a:xfrm>
          <a:prstGeom prst="rect">
            <a:avLst/>
          </a:prstGeom>
        </p:spPr>
      </p:pic>
      <p:sp>
        <p:nvSpPr>
          <p:cNvPr id="7" name="t191"/>
          <p:cNvSpPr txBox="1"/>
          <p:nvPr/>
        </p:nvSpPr>
        <p:spPr>
          <a:xfrm>
            <a:off x="6355080" y="1435608"/>
            <a:ext cx="5287975" cy="365760"/>
          </a:xfrm>
          <a:prstGeom prst="rect">
            <a:avLst/>
          </a:prstGeom>
          <a:noFill/>
          <a:ln/>
        </p:spPr>
        <p:txBody>
          <a:bodyPr wrap="square" lIns="0" tIns="0" rIns="0" bIns="0" rtlCol="0" anchor="t"/>
          <a:lstStyle/>
          <a:p>
            <a:pPr marL="0" indent="0">
              <a:buNone/>
            </a:pPr>
            <a:r>
              <a:rPr lang="en-US" sz="1500" b="1" dirty="0">
                <a:solidFill>
                  <a:schemeClr val="tx1"/>
                </a:solidFill>
              </a:rPr>
              <a:t>In General</a:t>
            </a:r>
            <a:endParaRPr lang="en-US" sz="1500" dirty="0"/>
          </a:p>
        </p:txBody>
      </p:sp>
      <p:sp>
        <p:nvSpPr>
          <p:cNvPr id="8" name="badge192"/>
          <p:cNvSpPr/>
          <p:nvPr/>
        </p:nvSpPr>
        <p:spPr>
          <a:xfrm>
            <a:off x="6355080" y="1938528"/>
            <a:ext cx="347472" cy="347472"/>
          </a:xfrm>
          <a:prstGeom prst="ellipse">
            <a:avLst/>
          </a:prstGeom>
          <a:solidFill>
            <a:schemeClr val="tx2"/>
          </a:solidFill>
          <a:ln/>
        </p:spPr>
      </p:sp>
      <p:sp>
        <p:nvSpPr>
          <p:cNvPr id="9" name="t193"/>
          <p:cNvSpPr txBox="1"/>
          <p:nvPr/>
        </p:nvSpPr>
        <p:spPr>
          <a:xfrm>
            <a:off x="6355080" y="1938528"/>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0" name="t194"/>
          <p:cNvSpPr txBox="1"/>
          <p:nvPr/>
        </p:nvSpPr>
        <p:spPr>
          <a:xfrm>
            <a:off x="6885432" y="1892808"/>
            <a:ext cx="4757623" cy="438912"/>
          </a:xfrm>
          <a:prstGeom prst="rect">
            <a:avLst/>
          </a:prstGeom>
          <a:noFill/>
          <a:ln/>
        </p:spPr>
        <p:txBody>
          <a:bodyPr wrap="square" lIns="0" tIns="0" rIns="0" bIns="0" rtlCol="0" anchor="ctr"/>
          <a:lstStyle/>
          <a:p>
            <a:pPr marL="0" indent="0">
              <a:buNone/>
            </a:pPr>
            <a:r>
              <a:rPr lang="en-US" sz="1400" dirty="0">
                <a:solidFill>
                  <a:schemeClr val="tx2"/>
                </a:solidFill>
              </a:rPr>
              <a:t>Predict the next seconds with the model</a:t>
            </a:r>
            <a:endParaRPr lang="en-US" sz="1400" dirty="0"/>
          </a:p>
        </p:txBody>
      </p:sp>
      <p:sp>
        <p:nvSpPr>
          <p:cNvPr id="11" name="badge195"/>
          <p:cNvSpPr/>
          <p:nvPr/>
        </p:nvSpPr>
        <p:spPr>
          <a:xfrm>
            <a:off x="6355080" y="2441448"/>
            <a:ext cx="347472" cy="347472"/>
          </a:xfrm>
          <a:prstGeom prst="ellipse">
            <a:avLst/>
          </a:prstGeom>
          <a:solidFill>
            <a:schemeClr val="tx2"/>
          </a:solidFill>
          <a:ln/>
        </p:spPr>
      </p:sp>
      <p:sp>
        <p:nvSpPr>
          <p:cNvPr id="12" name="t196"/>
          <p:cNvSpPr txBox="1"/>
          <p:nvPr/>
        </p:nvSpPr>
        <p:spPr>
          <a:xfrm>
            <a:off x="6355080" y="2441448"/>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3" name="t197"/>
          <p:cNvSpPr txBox="1"/>
          <p:nvPr/>
        </p:nvSpPr>
        <p:spPr>
          <a:xfrm>
            <a:off x="6885432" y="2395728"/>
            <a:ext cx="4757623" cy="438912"/>
          </a:xfrm>
          <a:prstGeom prst="rect">
            <a:avLst/>
          </a:prstGeom>
          <a:noFill/>
          <a:ln/>
        </p:spPr>
        <p:txBody>
          <a:bodyPr wrap="square" lIns="0" tIns="0" rIns="0" bIns="0" rtlCol="0" anchor="ctr"/>
          <a:lstStyle/>
          <a:p>
            <a:pPr marL="0" indent="0">
              <a:buNone/>
            </a:pPr>
            <a:r>
              <a:rPr lang="en-US" sz="1400" dirty="0">
                <a:solidFill>
                  <a:schemeClr val="tx2"/>
                </a:solidFill>
              </a:rPr>
              <a:t>Minimise a cost under hard limits</a:t>
            </a:r>
            <a:endParaRPr lang="en-US" sz="1400" dirty="0"/>
          </a:p>
        </p:txBody>
      </p:sp>
      <p:sp>
        <p:nvSpPr>
          <p:cNvPr id="14" name="badge198"/>
          <p:cNvSpPr/>
          <p:nvPr/>
        </p:nvSpPr>
        <p:spPr>
          <a:xfrm>
            <a:off x="6355080" y="2944368"/>
            <a:ext cx="347472" cy="347472"/>
          </a:xfrm>
          <a:prstGeom prst="ellipse">
            <a:avLst/>
          </a:prstGeom>
          <a:solidFill>
            <a:schemeClr val="tx2"/>
          </a:solidFill>
          <a:ln/>
        </p:spPr>
      </p:sp>
      <p:sp>
        <p:nvSpPr>
          <p:cNvPr id="15" name="t199"/>
          <p:cNvSpPr txBox="1"/>
          <p:nvPr/>
        </p:nvSpPr>
        <p:spPr>
          <a:xfrm>
            <a:off x="6355080" y="2944368"/>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6" name="t200"/>
          <p:cNvSpPr txBox="1"/>
          <p:nvPr/>
        </p:nvSpPr>
        <p:spPr>
          <a:xfrm>
            <a:off x="6885432" y="2898648"/>
            <a:ext cx="4757623" cy="438912"/>
          </a:xfrm>
          <a:prstGeom prst="rect">
            <a:avLst/>
          </a:prstGeom>
          <a:noFill/>
          <a:ln/>
        </p:spPr>
        <p:txBody>
          <a:bodyPr wrap="square" lIns="0" tIns="0" rIns="0" bIns="0" rtlCol="0" anchor="ctr"/>
          <a:lstStyle/>
          <a:p>
            <a:pPr marL="0" indent="0">
              <a:buNone/>
            </a:pPr>
            <a:r>
              <a:rPr lang="en-US" sz="1400" dirty="0">
                <a:solidFill>
                  <a:schemeClr val="tx2"/>
                </a:solidFill>
              </a:rPr>
              <a:t>Apply the first input, then repeat</a:t>
            </a:r>
            <a:endParaRPr lang="en-US" sz="1400" dirty="0"/>
          </a:p>
        </p:txBody>
      </p:sp>
      <p:sp>
        <p:nvSpPr>
          <p:cNvPr id="17" name="t201"/>
          <p:cNvSpPr txBox="1"/>
          <p:nvPr/>
        </p:nvSpPr>
        <p:spPr>
          <a:xfrm>
            <a:off x="6355080" y="3538728"/>
            <a:ext cx="5287975" cy="365760"/>
          </a:xfrm>
          <a:prstGeom prst="rect">
            <a:avLst/>
          </a:prstGeom>
          <a:noFill/>
          <a:ln/>
        </p:spPr>
        <p:txBody>
          <a:bodyPr wrap="square" lIns="0" tIns="0" rIns="0" bIns="0" rtlCol="0" anchor="t"/>
          <a:lstStyle/>
          <a:p>
            <a:pPr marL="0" indent="0">
              <a:buNone/>
            </a:pPr>
            <a:r>
              <a:rPr lang="en-US" sz="1500" b="1" dirty="0">
                <a:solidFill>
                  <a:schemeClr val="accent1"/>
                </a:solidFill>
              </a:rPr>
              <a:t>In Our Project</a:t>
            </a:r>
            <a:endParaRPr lang="en-US" sz="1500" dirty="0"/>
          </a:p>
        </p:txBody>
      </p:sp>
      <p:sp>
        <p:nvSpPr>
          <p:cNvPr id="18" name="t202"/>
          <p:cNvSpPr txBox="1"/>
          <p:nvPr/>
        </p:nvSpPr>
        <p:spPr>
          <a:xfrm>
            <a:off x="6355080" y="3950208"/>
            <a:ext cx="5287975"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2"/>
                </a:solidFill>
              </a:rPr>
              <a:t>Horizon 9.6 s, 8 steering moves</a:t>
            </a:r>
            <a:endParaRPr lang="en-US" sz="1400" dirty="0"/>
          </a:p>
          <a:p>
            <a:pPr marL="203200" indent="-203200">
              <a:spcAft>
                <a:spcPts val="600"/>
              </a:spcAft>
              <a:buSzPct val="100000"/>
              <a:buChar char="•"/>
            </a:pPr>
            <a:r>
              <a:rPr lang="en-US" sz="1400" dirty="0">
                <a:solidFill>
                  <a:schemeClr val="tx2"/>
                </a:solidFill>
              </a:rPr>
              <a:t>Hard limits on ψ (60°), δ (35°) and clearance</a:t>
            </a:r>
            <a:endParaRPr lang="en-US" sz="1400" dirty="0"/>
          </a:p>
          <a:p>
            <a:pPr marL="203200" indent="-203200">
              <a:spcAft>
                <a:spcPts val="600"/>
              </a:spcAft>
              <a:buSzPct val="100000"/>
              <a:buChar char="•"/>
            </a:pPr>
            <a:r>
              <a:rPr lang="en-US" sz="1400" dirty="0">
                <a:solidFill>
                  <a:schemeClr val="tx2"/>
                </a:solidFill>
              </a:rPr>
              <a:t>Re-solved every 0.25 s in 19–42 ms (SLSQP [6])</a:t>
            </a:r>
            <a:endParaRPr lang="en-US" sz="1400" dirty="0"/>
          </a:p>
        </p:txBody>
      </p:sp>
      <p:sp>
        <p:nvSpPr>
          <p:cNvPr id="19" name="card203"/>
          <p:cNvSpPr/>
          <p:nvPr/>
        </p:nvSpPr>
        <p:spPr>
          <a:xfrm>
            <a:off x="548640" y="5285232"/>
            <a:ext cx="11094415" cy="914400"/>
          </a:xfrm>
          <a:prstGeom prst="roundRect">
            <a:avLst>
              <a:gd name="adj" fmla="val 12000"/>
            </a:avLst>
          </a:prstGeom>
          <a:solidFill>
            <a:schemeClr val="bg2"/>
          </a:solidFill>
          <a:ln/>
        </p:spPr>
      </p:sp>
      <p:sp>
        <p:nvSpPr>
          <p:cNvPr id="20" name="t204"/>
          <p:cNvSpPr txBox="1"/>
          <p:nvPr/>
        </p:nvSpPr>
        <p:spPr>
          <a:xfrm>
            <a:off x="822960" y="5285232"/>
            <a:ext cx="1097280" cy="914400"/>
          </a:xfrm>
          <a:prstGeom prst="rect">
            <a:avLst/>
          </a:prstGeom>
          <a:noFill/>
          <a:ln/>
        </p:spPr>
        <p:txBody>
          <a:bodyPr wrap="square" lIns="0" tIns="0" rIns="0" bIns="0" rtlCol="0" anchor="ctr"/>
          <a:lstStyle/>
          <a:p>
            <a:pPr marL="0" indent="0">
              <a:buNone/>
            </a:pPr>
            <a:r>
              <a:rPr lang="en-US" sz="1400" b="1" dirty="0">
                <a:solidFill>
                  <a:schemeClr val="tx2"/>
                </a:solidFill>
              </a:rPr>
              <a:t>Cost:</a:t>
            </a:r>
            <a:endParaRPr lang="en-US" sz="1400" dirty="0"/>
          </a:p>
        </p:txBody>
      </p:sp>
      <p:pic>
        <p:nvPicPr>
          <p:cNvPr id="21" name="img205" descr="Cost J: tracking error over 24 steps weighted by Q, plus R times steering squared plus S times steering change squared over 8 moves"/>
          <p:cNvPicPr>
            <a:picLocks noChangeAspect="1"/>
          </p:cNvPicPr>
          <p:nvPr/>
        </p:nvPicPr>
        <p:blipFill>
          <a:blip r:embed="rId4"/>
          <a:stretch>
            <a:fillRect/>
          </a:stretch>
        </p:blipFill>
        <p:spPr>
          <a:xfrm>
            <a:off x="3594049" y="5332781"/>
            <a:ext cx="5643677" cy="819302"/>
          </a:xfrm>
          <a:prstGeom prst="rect">
            <a:avLst/>
          </a:prstGeom>
        </p:spPr>
      </p:pic>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adge206"/>
          <p:cNvSpPr/>
          <p:nvPr/>
        </p:nvSpPr>
        <p:spPr>
          <a:xfrm>
            <a:off x="548640" y="356616"/>
            <a:ext cx="256032" cy="256032"/>
          </a:xfrm>
          <a:prstGeom prst="ellipse">
            <a:avLst/>
          </a:prstGeom>
          <a:solidFill>
            <a:schemeClr val="accent1"/>
          </a:solidFill>
          <a:ln/>
        </p:spPr>
      </p:sp>
      <p:sp>
        <p:nvSpPr>
          <p:cNvPr id="3" name="t207"/>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3  ·  Hybrid A* and NMPC</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How Hybrid A* and NMPC Work Together</a:t>
            </a:r>
            <a:endParaRPr lang="en-US" sz="2800" dirty="0"/>
          </a:p>
        </p:txBody>
      </p:sp>
      <p:sp>
        <p:nvSpPr>
          <p:cNvPr id="6" name="card208"/>
          <p:cNvSpPr/>
          <p:nvPr/>
        </p:nvSpPr>
        <p:spPr>
          <a:xfrm>
            <a:off x="548640" y="1481328"/>
            <a:ext cx="2468880" cy="1417320"/>
          </a:xfrm>
          <a:prstGeom prst="roundRect">
            <a:avLst>
              <a:gd name="adj" fmla="val 7742"/>
            </a:avLst>
          </a:prstGeom>
          <a:solidFill>
            <a:schemeClr val="bg2"/>
          </a:solidFill>
          <a:ln/>
        </p:spPr>
      </p:sp>
      <p:sp>
        <p:nvSpPr>
          <p:cNvPr id="7" name="t209"/>
          <p:cNvSpPr txBox="1"/>
          <p:nvPr/>
        </p:nvSpPr>
        <p:spPr>
          <a:xfrm>
            <a:off x="731520" y="1591056"/>
            <a:ext cx="2103120" cy="457200"/>
          </a:xfrm>
          <a:prstGeom prst="rect">
            <a:avLst/>
          </a:prstGeom>
          <a:noFill/>
          <a:ln/>
        </p:spPr>
        <p:txBody>
          <a:bodyPr wrap="square" lIns="0" tIns="0" rIns="0" bIns="0" rtlCol="0" anchor="t"/>
          <a:lstStyle/>
          <a:p>
            <a:pPr marL="0" indent="0">
              <a:buNone/>
            </a:pPr>
            <a:r>
              <a:rPr lang="en-US" sz="1700" b="1" dirty="0">
                <a:solidFill>
                  <a:schemeClr val="tx1"/>
                </a:solidFill>
              </a:rPr>
              <a:t>Yard and Bay</a:t>
            </a:r>
            <a:endParaRPr lang="en-US" sz="1700" dirty="0"/>
          </a:p>
        </p:txBody>
      </p:sp>
      <p:sp>
        <p:nvSpPr>
          <p:cNvPr id="8" name="t210"/>
          <p:cNvSpPr txBox="1"/>
          <p:nvPr/>
        </p:nvSpPr>
        <p:spPr>
          <a:xfrm>
            <a:off x="731520" y="2075688"/>
            <a:ext cx="2103120" cy="731520"/>
          </a:xfrm>
          <a:prstGeom prst="rect">
            <a:avLst/>
          </a:prstGeom>
          <a:noFill/>
          <a:ln/>
        </p:spPr>
        <p:txBody>
          <a:bodyPr wrap="square" lIns="0" tIns="0" rIns="0" bIns="0" rtlCol="0" anchor="t"/>
          <a:lstStyle/>
          <a:p>
            <a:pPr marL="0" indent="0">
              <a:buNone/>
            </a:pPr>
            <a:r>
              <a:rPr lang="en-US" sz="1300" dirty="0">
                <a:solidFill>
                  <a:schemeClr val="tx2"/>
                </a:solidFill>
              </a:rPr>
              <a:t>Obstacles, parked trucks, chosen bay</a:t>
            </a:r>
            <a:endParaRPr lang="en-US" sz="1300" dirty="0"/>
          </a:p>
        </p:txBody>
      </p:sp>
      <p:sp>
        <p:nvSpPr>
          <p:cNvPr id="9" name="arrow211"/>
          <p:cNvSpPr/>
          <p:nvPr/>
        </p:nvSpPr>
        <p:spPr>
          <a:xfrm>
            <a:off x="3090672" y="2194560"/>
            <a:ext cx="259994" cy="914"/>
          </a:xfrm>
          <a:prstGeom prst="line">
            <a:avLst/>
          </a:prstGeom>
          <a:noFill/>
          <a:ln w="31750">
            <a:solidFill>
              <a:schemeClr val="accent4"/>
            </a:solidFill>
            <a:prstDash val="solid"/>
            <a:tailEnd type="triangle"/>
          </a:ln>
        </p:spPr>
      </p:sp>
      <p:sp>
        <p:nvSpPr>
          <p:cNvPr id="10" name="card212"/>
          <p:cNvSpPr/>
          <p:nvPr/>
        </p:nvSpPr>
        <p:spPr>
          <a:xfrm>
            <a:off x="3423818" y="1481328"/>
            <a:ext cx="2468880" cy="1417320"/>
          </a:xfrm>
          <a:prstGeom prst="roundRect">
            <a:avLst>
              <a:gd name="adj" fmla="val 7742"/>
            </a:avLst>
          </a:prstGeom>
          <a:solidFill>
            <a:schemeClr val="accent5"/>
          </a:solidFill>
          <a:ln/>
        </p:spPr>
      </p:sp>
      <p:sp>
        <p:nvSpPr>
          <p:cNvPr id="11" name="t213"/>
          <p:cNvSpPr txBox="1"/>
          <p:nvPr/>
        </p:nvSpPr>
        <p:spPr>
          <a:xfrm>
            <a:off x="3606698" y="1591056"/>
            <a:ext cx="2103120" cy="457200"/>
          </a:xfrm>
          <a:prstGeom prst="rect">
            <a:avLst/>
          </a:prstGeom>
          <a:noFill/>
          <a:ln/>
        </p:spPr>
        <p:txBody>
          <a:bodyPr wrap="square" lIns="0" tIns="0" rIns="0" bIns="0" rtlCol="0" anchor="t"/>
          <a:lstStyle/>
          <a:p>
            <a:pPr marL="0" indent="0">
              <a:buNone/>
            </a:pPr>
            <a:r>
              <a:rPr lang="en-US" sz="1700" b="1" dirty="0">
                <a:solidFill>
                  <a:schemeClr val="accent1"/>
                </a:solidFill>
              </a:rPr>
              <a:t>Hybrid A*</a:t>
            </a:r>
            <a:endParaRPr lang="en-US" sz="1700" dirty="0"/>
          </a:p>
        </p:txBody>
      </p:sp>
      <p:sp>
        <p:nvSpPr>
          <p:cNvPr id="12" name="t214"/>
          <p:cNvSpPr txBox="1"/>
          <p:nvPr/>
        </p:nvSpPr>
        <p:spPr>
          <a:xfrm>
            <a:off x="3606698" y="2075688"/>
            <a:ext cx="2103120" cy="731520"/>
          </a:xfrm>
          <a:prstGeom prst="rect">
            <a:avLst/>
          </a:prstGeom>
          <a:noFill/>
          <a:ln/>
        </p:spPr>
        <p:txBody>
          <a:bodyPr wrap="square" lIns="0" tIns="0" rIns="0" bIns="0" rtlCol="0" anchor="t"/>
          <a:lstStyle/>
          <a:p>
            <a:pPr marL="0" indent="0">
              <a:buNone/>
            </a:pPr>
            <a:r>
              <a:rPr lang="en-US" sz="1300" dirty="0">
                <a:solidFill>
                  <a:schemeClr val="tx2"/>
                </a:solidFill>
              </a:rPr>
              <a:t>Plans the whole route once</a:t>
            </a:r>
            <a:endParaRPr lang="en-US" sz="1300" dirty="0"/>
          </a:p>
        </p:txBody>
      </p:sp>
      <p:sp>
        <p:nvSpPr>
          <p:cNvPr id="13" name="arrow215"/>
          <p:cNvSpPr/>
          <p:nvPr/>
        </p:nvSpPr>
        <p:spPr>
          <a:xfrm>
            <a:off x="5965850" y="2194560"/>
            <a:ext cx="259994" cy="914"/>
          </a:xfrm>
          <a:prstGeom prst="line">
            <a:avLst/>
          </a:prstGeom>
          <a:noFill/>
          <a:ln w="31750">
            <a:solidFill>
              <a:schemeClr val="accent4"/>
            </a:solidFill>
            <a:prstDash val="solid"/>
            <a:tailEnd type="triangle"/>
          </a:ln>
        </p:spPr>
      </p:sp>
      <p:sp>
        <p:nvSpPr>
          <p:cNvPr id="14" name="card216"/>
          <p:cNvSpPr/>
          <p:nvPr/>
        </p:nvSpPr>
        <p:spPr>
          <a:xfrm>
            <a:off x="6298997" y="1481328"/>
            <a:ext cx="2468880" cy="1417320"/>
          </a:xfrm>
          <a:prstGeom prst="roundRect">
            <a:avLst>
              <a:gd name="adj" fmla="val 7742"/>
            </a:avLst>
          </a:prstGeom>
          <a:solidFill>
            <a:schemeClr val="accent5"/>
          </a:solidFill>
          <a:ln/>
        </p:spPr>
      </p:sp>
      <p:sp>
        <p:nvSpPr>
          <p:cNvPr id="15" name="t217"/>
          <p:cNvSpPr txBox="1"/>
          <p:nvPr/>
        </p:nvSpPr>
        <p:spPr>
          <a:xfrm>
            <a:off x="6481877" y="1591056"/>
            <a:ext cx="2103120" cy="457200"/>
          </a:xfrm>
          <a:prstGeom prst="rect">
            <a:avLst/>
          </a:prstGeom>
          <a:noFill/>
          <a:ln/>
        </p:spPr>
        <p:txBody>
          <a:bodyPr wrap="square" lIns="0" tIns="0" rIns="0" bIns="0" rtlCol="0" anchor="t"/>
          <a:lstStyle/>
          <a:p>
            <a:pPr marL="0" indent="0">
              <a:buNone/>
            </a:pPr>
            <a:r>
              <a:rPr lang="en-US" sz="1700" b="1" dirty="0">
                <a:solidFill>
                  <a:schemeClr val="accent1"/>
                </a:solidFill>
              </a:rPr>
              <a:t>NMPC</a:t>
            </a:r>
            <a:endParaRPr lang="en-US" sz="1700" dirty="0"/>
          </a:p>
        </p:txBody>
      </p:sp>
      <p:sp>
        <p:nvSpPr>
          <p:cNvPr id="16" name="t218"/>
          <p:cNvSpPr txBox="1"/>
          <p:nvPr/>
        </p:nvSpPr>
        <p:spPr>
          <a:xfrm>
            <a:off x="6481877" y="2075688"/>
            <a:ext cx="2103120" cy="731520"/>
          </a:xfrm>
          <a:prstGeom prst="rect">
            <a:avLst/>
          </a:prstGeom>
          <a:noFill/>
          <a:ln/>
        </p:spPr>
        <p:txBody>
          <a:bodyPr wrap="square" lIns="0" tIns="0" rIns="0" bIns="0" rtlCol="0" anchor="t"/>
          <a:lstStyle/>
          <a:p>
            <a:pPr marL="0" indent="0">
              <a:buNone/>
            </a:pPr>
            <a:r>
              <a:rPr lang="en-US" sz="1300" dirty="0">
                <a:solidFill>
                  <a:schemeClr val="tx2"/>
                </a:solidFill>
              </a:rPr>
              <a:t>Tracks it every 0.25 s, ψ ≤ 60°</a:t>
            </a:r>
            <a:endParaRPr lang="en-US" sz="1300" dirty="0"/>
          </a:p>
        </p:txBody>
      </p:sp>
      <p:sp>
        <p:nvSpPr>
          <p:cNvPr id="17" name="arrow219"/>
          <p:cNvSpPr/>
          <p:nvPr/>
        </p:nvSpPr>
        <p:spPr>
          <a:xfrm>
            <a:off x="8841029" y="2194560"/>
            <a:ext cx="259994" cy="914"/>
          </a:xfrm>
          <a:prstGeom prst="line">
            <a:avLst/>
          </a:prstGeom>
          <a:noFill/>
          <a:ln w="31750">
            <a:solidFill>
              <a:schemeClr val="accent4"/>
            </a:solidFill>
            <a:prstDash val="solid"/>
            <a:tailEnd type="triangle"/>
          </a:ln>
        </p:spPr>
      </p:sp>
      <p:sp>
        <p:nvSpPr>
          <p:cNvPr id="18" name="card220"/>
          <p:cNvSpPr/>
          <p:nvPr/>
        </p:nvSpPr>
        <p:spPr>
          <a:xfrm>
            <a:off x="9174175" y="1481328"/>
            <a:ext cx="2468880" cy="1417320"/>
          </a:xfrm>
          <a:prstGeom prst="roundRect">
            <a:avLst>
              <a:gd name="adj" fmla="val 7742"/>
            </a:avLst>
          </a:prstGeom>
          <a:solidFill>
            <a:schemeClr val="bg2"/>
          </a:solidFill>
          <a:ln/>
        </p:spPr>
      </p:sp>
      <p:sp>
        <p:nvSpPr>
          <p:cNvPr id="19" name="t221"/>
          <p:cNvSpPr txBox="1"/>
          <p:nvPr/>
        </p:nvSpPr>
        <p:spPr>
          <a:xfrm>
            <a:off x="9357055" y="1591056"/>
            <a:ext cx="2103120" cy="457200"/>
          </a:xfrm>
          <a:prstGeom prst="rect">
            <a:avLst/>
          </a:prstGeom>
          <a:noFill/>
          <a:ln/>
        </p:spPr>
        <p:txBody>
          <a:bodyPr wrap="square" lIns="0" tIns="0" rIns="0" bIns="0" rtlCol="0" anchor="t"/>
          <a:lstStyle/>
          <a:p>
            <a:pPr marL="0" indent="0">
              <a:buNone/>
            </a:pPr>
            <a:r>
              <a:rPr lang="en-US" sz="1700" b="1" dirty="0">
                <a:solidFill>
                  <a:schemeClr val="tx1"/>
                </a:solidFill>
              </a:rPr>
              <a:t>Driver Guidance</a:t>
            </a:r>
            <a:endParaRPr lang="en-US" sz="1700" dirty="0"/>
          </a:p>
        </p:txBody>
      </p:sp>
      <p:sp>
        <p:nvSpPr>
          <p:cNvPr id="20" name="t222"/>
          <p:cNvSpPr txBox="1"/>
          <p:nvPr/>
        </p:nvSpPr>
        <p:spPr>
          <a:xfrm>
            <a:off x="9357055" y="2075688"/>
            <a:ext cx="2103120" cy="731520"/>
          </a:xfrm>
          <a:prstGeom prst="rect">
            <a:avLst/>
          </a:prstGeom>
          <a:noFill/>
          <a:ln/>
        </p:spPr>
        <p:txBody>
          <a:bodyPr wrap="square" lIns="0" tIns="0" rIns="0" bIns="0" rtlCol="0" anchor="t"/>
          <a:lstStyle/>
          <a:p>
            <a:pPr marL="0" indent="0">
              <a:buNone/>
            </a:pPr>
            <a:r>
              <a:rPr lang="en-US" sz="1300" dirty="0">
                <a:solidFill>
                  <a:schemeClr val="tx2"/>
                </a:solidFill>
              </a:rPr>
              <a:t>Gear, km/h, wheel turns, distance</a:t>
            </a:r>
            <a:endParaRPr lang="en-US" sz="1300" dirty="0"/>
          </a:p>
        </p:txBody>
      </p:sp>
      <p:pic>
        <p:nvPicPr>
          <p:cNvPr id="21" name="img223" descr="Viewer screenshot: rig reversing with the NMPC look-ahead and the planned path"/>
          <p:cNvPicPr>
            <a:picLocks noChangeAspect="1"/>
          </p:cNvPicPr>
          <p:nvPr/>
        </p:nvPicPr>
        <p:blipFill>
          <a:blip r:embed="rId3"/>
          <a:stretch>
            <a:fillRect/>
          </a:stretch>
        </p:blipFill>
        <p:spPr>
          <a:xfrm>
            <a:off x="548640" y="3218688"/>
            <a:ext cx="5100277" cy="2697480"/>
          </a:xfrm>
          <a:prstGeom prst="rect">
            <a:avLst/>
          </a:prstGeom>
        </p:spPr>
      </p:pic>
      <p:sp>
        <p:nvSpPr>
          <p:cNvPr id="22" name="t224"/>
          <p:cNvSpPr txBox="1"/>
          <p:nvPr/>
        </p:nvSpPr>
        <p:spPr>
          <a:xfrm>
            <a:off x="548640" y="5980176"/>
            <a:ext cx="5577840" cy="274320"/>
          </a:xfrm>
          <a:prstGeom prst="rect">
            <a:avLst/>
          </a:prstGeom>
          <a:noFill/>
          <a:ln/>
        </p:spPr>
        <p:txBody>
          <a:bodyPr wrap="square" lIns="0" tIns="0" rIns="0" bIns="0" rtlCol="0" anchor="t"/>
          <a:lstStyle/>
          <a:p>
            <a:pPr marL="0" indent="0">
              <a:buNone/>
            </a:pPr>
            <a:r>
              <a:rPr lang="en-US" sz="1100" i="1" dirty="0">
                <a:solidFill>
                  <a:schemeClr val="accent4"/>
                </a:solidFill>
              </a:rPr>
              <a:t>Planned path (dashed) and the NMPC look-ahead as ghost rigs</a:t>
            </a:r>
            <a:endParaRPr lang="en-US" sz="1100" dirty="0"/>
          </a:p>
        </p:txBody>
      </p:sp>
      <p:sp>
        <p:nvSpPr>
          <p:cNvPr id="23" name="t225"/>
          <p:cNvSpPr txBox="1"/>
          <p:nvPr/>
        </p:nvSpPr>
        <p:spPr>
          <a:xfrm>
            <a:off x="6492240" y="3264408"/>
            <a:ext cx="5150815" cy="411480"/>
          </a:xfrm>
          <a:prstGeom prst="rect">
            <a:avLst/>
          </a:prstGeom>
          <a:noFill/>
          <a:ln/>
        </p:spPr>
        <p:txBody>
          <a:bodyPr wrap="square" lIns="0" tIns="0" rIns="0" bIns="0" rtlCol="0" anchor="t"/>
          <a:lstStyle/>
          <a:p>
            <a:pPr marL="0" indent="0">
              <a:buNone/>
            </a:pPr>
            <a:r>
              <a:rPr lang="en-US" sz="1700" b="1" dirty="0">
                <a:solidFill>
                  <a:schemeClr val="accent1"/>
                </a:solidFill>
              </a:rPr>
              <a:t>Planner: Global</a:t>
            </a:r>
            <a:endParaRPr lang="en-US" sz="1700" dirty="0"/>
          </a:p>
        </p:txBody>
      </p:sp>
      <p:sp>
        <p:nvSpPr>
          <p:cNvPr id="24" name="t226"/>
          <p:cNvSpPr txBox="1"/>
          <p:nvPr/>
        </p:nvSpPr>
        <p:spPr>
          <a:xfrm>
            <a:off x="6492240" y="3703320"/>
            <a:ext cx="5150815" cy="914400"/>
          </a:xfrm>
          <a:prstGeom prst="rect">
            <a:avLst/>
          </a:prstGeom>
          <a:noFill/>
          <a:ln/>
        </p:spPr>
        <p:txBody>
          <a:bodyPr wrap="square" lIns="0" tIns="0" rIns="0" bIns="0" rtlCol="0" anchor="t"/>
          <a:lstStyle/>
          <a:p>
            <a:pPr marL="0" indent="0">
              <a:buNone/>
            </a:pPr>
            <a:r>
              <a:rPr lang="en-US" sz="1500" dirty="0">
                <a:solidFill>
                  <a:schemeClr val="tx2"/>
                </a:solidFill>
              </a:rPr>
              <a:t>Sees the whole yard; decides which way to go and where to switch gear</a:t>
            </a:r>
            <a:endParaRPr lang="en-US" sz="1500" dirty="0"/>
          </a:p>
        </p:txBody>
      </p:sp>
      <p:sp>
        <p:nvSpPr>
          <p:cNvPr id="25" name="t227"/>
          <p:cNvSpPr txBox="1"/>
          <p:nvPr/>
        </p:nvSpPr>
        <p:spPr>
          <a:xfrm>
            <a:off x="6492240" y="4773168"/>
            <a:ext cx="5150815" cy="411480"/>
          </a:xfrm>
          <a:prstGeom prst="rect">
            <a:avLst/>
          </a:prstGeom>
          <a:noFill/>
          <a:ln/>
        </p:spPr>
        <p:txBody>
          <a:bodyPr wrap="square" lIns="0" tIns="0" rIns="0" bIns="0" rtlCol="0" anchor="t"/>
          <a:lstStyle/>
          <a:p>
            <a:pPr marL="0" indent="0">
              <a:buNone/>
            </a:pPr>
            <a:r>
              <a:rPr lang="en-US" sz="1700" b="1" dirty="0">
                <a:solidFill>
                  <a:srgbClr val="F2B45A"/>
                </a:solidFill>
              </a:rPr>
              <a:t>Controller: Local</a:t>
            </a:r>
            <a:endParaRPr lang="en-US" sz="1700" dirty="0"/>
          </a:p>
        </p:txBody>
      </p:sp>
      <p:sp>
        <p:nvSpPr>
          <p:cNvPr id="26" name="t228"/>
          <p:cNvSpPr txBox="1"/>
          <p:nvPr/>
        </p:nvSpPr>
        <p:spPr>
          <a:xfrm>
            <a:off x="6492240" y="5212080"/>
            <a:ext cx="5150815" cy="914400"/>
          </a:xfrm>
          <a:prstGeom prst="rect">
            <a:avLst/>
          </a:prstGeom>
          <a:noFill/>
          <a:ln/>
        </p:spPr>
        <p:txBody>
          <a:bodyPr wrap="square" lIns="0" tIns="0" rIns="0" bIns="0" rtlCol="0" anchor="t"/>
          <a:lstStyle/>
          <a:p>
            <a:pPr marL="0" indent="0">
              <a:buNone/>
            </a:pPr>
            <a:r>
              <a:rPr lang="en-US" sz="1500" dirty="0">
                <a:solidFill>
                  <a:schemeClr val="tx2"/>
                </a:solidFill>
              </a:rPr>
              <a:t>Sees 9.6 s ahead; decides how to steer right now and corrects drift</a:t>
            </a:r>
            <a:endParaRPr lang="en-US" sz="1500" dirty="0"/>
          </a:p>
        </p:txBody>
      </p:sp>
      <p:sp>
        <p:nvSpPr>
          <p:cNvPr id="27"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adge229"/>
          <p:cNvSpPr/>
          <p:nvPr/>
        </p:nvSpPr>
        <p:spPr>
          <a:xfrm>
            <a:off x="1371600" y="2331720"/>
            <a:ext cx="1828800" cy="1828800"/>
          </a:xfrm>
          <a:prstGeom prst="ellipse">
            <a:avLst/>
          </a:prstGeom>
          <a:solidFill>
            <a:schemeClr val="accent1"/>
          </a:solidFill>
          <a:ln/>
        </p:spPr>
      </p:sp>
      <p:sp>
        <p:nvSpPr>
          <p:cNvPr id="3" name="t230"/>
          <p:cNvSpPr txBox="1"/>
          <p:nvPr/>
        </p:nvSpPr>
        <p:spPr>
          <a:xfrm>
            <a:off x="1371600" y="2331720"/>
            <a:ext cx="1828800" cy="1828800"/>
          </a:xfrm>
          <a:prstGeom prst="rect">
            <a:avLst/>
          </a:prstGeom>
          <a:noFill/>
          <a:ln/>
        </p:spPr>
        <p:txBody>
          <a:bodyPr wrap="square" lIns="0" tIns="0" rIns="0" bIns="0" rtlCol="0" anchor="ctr"/>
          <a:lstStyle/>
          <a:p>
            <a:pPr marL="0" indent="0" algn="ctr">
              <a:buNone/>
            </a:pPr>
            <a:r>
              <a:rPr lang="en-US" sz="7200" b="1" dirty="0">
                <a:solidFill>
                  <a:schemeClr val="bg1"/>
                </a:solidFill>
              </a:rPr>
              <a:t>4</a:t>
            </a:r>
            <a:endParaRPr lang="en-US" sz="7200" dirty="0"/>
          </a:p>
        </p:txBody>
      </p:sp>
      <p:sp>
        <p:nvSpPr>
          <p:cNvPr id="4" name="Text 0"/>
          <p:cNvSpPr>
            <a:spLocks noGrp="1"/>
          </p:cNvSpPr>
          <p:nvPr>
            <p:ph type="body" idx="100" hasCustomPrompt="1"/>
          </p:nvPr>
        </p:nvSpPr>
        <p:spPr>
          <a:xfrm>
            <a:off x="3749040" y="2240280"/>
            <a:ext cx="7863840" cy="457200"/>
          </a:xfrm>
          <a:prstGeom prst="rect">
            <a:avLst/>
          </a:prstGeom>
          <a:noFill/>
          <a:ln/>
        </p:spPr>
        <p:txBody>
          <a:bodyPr wrap="square" lIns="0" tIns="0" rIns="0" bIns="0" rtlCol="0" anchor="ctr"/>
          <a:lstStyle/>
          <a:p>
            <a:pPr marL="0" indent="0">
              <a:buNone/>
            </a:pPr>
            <a:r>
              <a:rPr lang="en-US" sz="1800" b="1" dirty="0">
                <a:solidFill>
                  <a:schemeClr val="accent1"/>
                </a:solidFill>
              </a:rPr>
              <a:t>Part 4</a:t>
            </a:r>
            <a:endParaRPr lang="en-US" sz="1800" dirty="0"/>
          </a:p>
        </p:txBody>
      </p:sp>
      <p:sp>
        <p:nvSpPr>
          <p:cNvPr id="5" name="Text 0"/>
          <p:cNvSpPr>
            <a:spLocks noGrp="1"/>
          </p:cNvSpPr>
          <p:nvPr>
            <p:ph type="title" idx="101" hasCustomPrompt="1"/>
          </p:nvPr>
        </p:nvSpPr>
        <p:spPr>
          <a:xfrm>
            <a:off x="3749040" y="2697480"/>
            <a:ext cx="7863840" cy="1005840"/>
          </a:xfrm>
          <a:prstGeom prst="rect">
            <a:avLst/>
          </a:prstGeom>
          <a:noFill/>
          <a:ln/>
        </p:spPr>
        <p:txBody>
          <a:bodyPr wrap="square" lIns="0" tIns="0" rIns="0" bIns="0" rtlCol="0" anchor="ctr"/>
          <a:lstStyle/>
          <a:p>
            <a:pPr marL="0" indent="0" algn="l">
              <a:buNone/>
            </a:pPr>
            <a:r>
              <a:rPr lang="en-US" sz="3400" dirty="0">
                <a:solidFill>
                  <a:schemeClr val="tx1"/>
                </a:solidFill>
              </a:rPr>
              <a:t>Limitations and Future Scope</a:t>
            </a:r>
            <a:endParaRPr lang="en-US" sz="3400" dirty="0"/>
          </a:p>
        </p:txBody>
      </p:sp>
      <p:sp>
        <p:nvSpPr>
          <p:cNvPr id="6" name="Text 0"/>
          <p:cNvSpPr>
            <a:spLocks noGrp="1"/>
          </p:cNvSpPr>
          <p:nvPr>
            <p:ph type="body" idx="102" hasCustomPrompt="1"/>
          </p:nvPr>
        </p:nvSpPr>
        <p:spPr>
          <a:xfrm>
            <a:off x="3749040" y="3749040"/>
            <a:ext cx="7680960" cy="914400"/>
          </a:xfrm>
          <a:prstGeom prst="rect">
            <a:avLst/>
          </a:prstGeom>
          <a:noFill/>
          <a:ln/>
        </p:spPr>
        <p:txBody>
          <a:bodyPr wrap="square" lIns="0" tIns="0" rIns="0" bIns="0" rtlCol="0" anchor="t"/>
          <a:lstStyle/>
          <a:p>
            <a:pPr marL="0" indent="0">
              <a:buNone/>
            </a:pPr>
            <a:r>
              <a:rPr lang="en-US" sz="1800" dirty="0">
                <a:solidFill>
                  <a:schemeClr val="tx2"/>
                </a:solidFill>
              </a:rPr>
              <a:t>What the system achieves today, what it does not do yet, and where it goes next</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adge231"/>
          <p:cNvSpPr/>
          <p:nvPr/>
        </p:nvSpPr>
        <p:spPr>
          <a:xfrm>
            <a:off x="548640" y="356616"/>
            <a:ext cx="256032" cy="256032"/>
          </a:xfrm>
          <a:prstGeom prst="ellipse">
            <a:avLst/>
          </a:prstGeom>
          <a:solidFill>
            <a:schemeClr val="accent1"/>
          </a:solidFill>
          <a:ln/>
        </p:spPr>
      </p:sp>
      <p:sp>
        <p:nvSpPr>
          <p:cNvPr id="3" name="t232"/>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4  ·  Results, Limitations and Future Scope</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Results at a Glance</a:t>
            </a:r>
            <a:endParaRPr lang="en-US" sz="2800" dirty="0"/>
          </a:p>
        </p:txBody>
      </p:sp>
      <p:sp>
        <p:nvSpPr>
          <p:cNvPr id="6" name="card233"/>
          <p:cNvSpPr/>
          <p:nvPr/>
        </p:nvSpPr>
        <p:spPr>
          <a:xfrm>
            <a:off x="548640" y="1481328"/>
            <a:ext cx="2567864" cy="1600200"/>
          </a:xfrm>
          <a:prstGeom prst="roundRect">
            <a:avLst>
              <a:gd name="adj" fmla="val 6857"/>
            </a:avLst>
          </a:prstGeom>
          <a:solidFill>
            <a:schemeClr val="bg2"/>
          </a:solidFill>
          <a:ln/>
        </p:spPr>
      </p:sp>
      <p:sp>
        <p:nvSpPr>
          <p:cNvPr id="7" name="t234"/>
          <p:cNvSpPr txBox="1"/>
          <p:nvPr/>
        </p:nvSpPr>
        <p:spPr>
          <a:xfrm>
            <a:off x="777240" y="1591056"/>
            <a:ext cx="2202104" cy="777240"/>
          </a:xfrm>
          <a:prstGeom prst="rect">
            <a:avLst/>
          </a:prstGeom>
          <a:noFill/>
          <a:ln/>
        </p:spPr>
        <p:txBody>
          <a:bodyPr wrap="square" lIns="0" tIns="0" rIns="0" bIns="0" rtlCol="0" anchor="ctr"/>
          <a:lstStyle/>
          <a:p>
            <a:pPr marL="0" indent="0">
              <a:buNone/>
            </a:pPr>
            <a:r>
              <a:rPr lang="en-US" sz="2900" b="1" dirty="0">
                <a:solidFill>
                  <a:schemeClr val="accent1"/>
                </a:solidFill>
              </a:rPr>
              <a:t>110/110</a:t>
            </a:r>
            <a:endParaRPr lang="en-US" sz="2900" dirty="0"/>
          </a:p>
        </p:txBody>
      </p:sp>
      <p:sp>
        <p:nvSpPr>
          <p:cNvPr id="8" name="t235"/>
          <p:cNvSpPr txBox="1"/>
          <p:nvPr/>
        </p:nvSpPr>
        <p:spPr>
          <a:xfrm>
            <a:off x="777240" y="2377440"/>
            <a:ext cx="2110664" cy="640080"/>
          </a:xfrm>
          <a:prstGeom prst="rect">
            <a:avLst/>
          </a:prstGeom>
          <a:noFill/>
          <a:ln/>
        </p:spPr>
        <p:txBody>
          <a:bodyPr wrap="square" lIns="0" tIns="0" rIns="0" bIns="0" rtlCol="0" anchor="t"/>
          <a:lstStyle/>
          <a:p>
            <a:pPr marL="0" indent="0">
              <a:buNone/>
            </a:pPr>
            <a:r>
              <a:rPr lang="en-US" sz="1300" dirty="0">
                <a:solidFill>
                  <a:schemeClr val="tx2"/>
                </a:solidFill>
              </a:rPr>
              <a:t>Bays certified for guidance</a:t>
            </a:r>
            <a:endParaRPr lang="en-US" sz="1300" dirty="0"/>
          </a:p>
        </p:txBody>
      </p:sp>
      <p:sp>
        <p:nvSpPr>
          <p:cNvPr id="9" name="card236"/>
          <p:cNvSpPr/>
          <p:nvPr/>
        </p:nvSpPr>
        <p:spPr>
          <a:xfrm>
            <a:off x="3390824" y="1481328"/>
            <a:ext cx="2567864" cy="1600200"/>
          </a:xfrm>
          <a:prstGeom prst="roundRect">
            <a:avLst>
              <a:gd name="adj" fmla="val 6857"/>
            </a:avLst>
          </a:prstGeom>
          <a:solidFill>
            <a:schemeClr val="bg2"/>
          </a:solidFill>
          <a:ln/>
        </p:spPr>
      </p:sp>
      <p:sp>
        <p:nvSpPr>
          <p:cNvPr id="10" name="t237"/>
          <p:cNvSpPr txBox="1"/>
          <p:nvPr/>
        </p:nvSpPr>
        <p:spPr>
          <a:xfrm>
            <a:off x="3619424" y="1591056"/>
            <a:ext cx="2202104" cy="777240"/>
          </a:xfrm>
          <a:prstGeom prst="rect">
            <a:avLst/>
          </a:prstGeom>
          <a:noFill/>
          <a:ln/>
        </p:spPr>
        <p:txBody>
          <a:bodyPr wrap="square" lIns="0" tIns="0" rIns="0" bIns="0" rtlCol="0" anchor="ctr"/>
          <a:lstStyle/>
          <a:p>
            <a:pPr marL="0" indent="0">
              <a:buNone/>
            </a:pPr>
            <a:r>
              <a:rPr lang="en-US" sz="2900" b="1" dirty="0">
                <a:solidFill>
                  <a:schemeClr val="accent1"/>
                </a:solidFill>
              </a:rPr>
              <a:t>0</a:t>
            </a:r>
            <a:endParaRPr lang="en-US" sz="2900" dirty="0"/>
          </a:p>
        </p:txBody>
      </p:sp>
      <p:sp>
        <p:nvSpPr>
          <p:cNvPr id="11" name="t238"/>
          <p:cNvSpPr txBox="1"/>
          <p:nvPr/>
        </p:nvSpPr>
        <p:spPr>
          <a:xfrm>
            <a:off x="3619424" y="2377440"/>
            <a:ext cx="2110664" cy="640080"/>
          </a:xfrm>
          <a:prstGeom prst="rect">
            <a:avLst/>
          </a:prstGeom>
          <a:noFill/>
          <a:ln/>
        </p:spPr>
        <p:txBody>
          <a:bodyPr wrap="square" lIns="0" tIns="0" rIns="0" bIns="0" rtlCol="0" anchor="t"/>
          <a:lstStyle/>
          <a:p>
            <a:pPr marL="0" indent="0">
              <a:buNone/>
            </a:pPr>
            <a:r>
              <a:rPr lang="en-US" sz="1300" dirty="0">
                <a:solidFill>
                  <a:schemeClr val="tx2"/>
                </a:solidFill>
              </a:rPr>
              <a:t>Hitch-limit violations with NMPC</a:t>
            </a:r>
            <a:endParaRPr lang="en-US" sz="1300" dirty="0"/>
          </a:p>
        </p:txBody>
      </p:sp>
      <p:sp>
        <p:nvSpPr>
          <p:cNvPr id="12" name="card239"/>
          <p:cNvSpPr/>
          <p:nvPr/>
        </p:nvSpPr>
        <p:spPr>
          <a:xfrm>
            <a:off x="6233008" y="1481328"/>
            <a:ext cx="2567864" cy="1600200"/>
          </a:xfrm>
          <a:prstGeom prst="roundRect">
            <a:avLst>
              <a:gd name="adj" fmla="val 6857"/>
            </a:avLst>
          </a:prstGeom>
          <a:solidFill>
            <a:schemeClr val="bg2"/>
          </a:solidFill>
          <a:ln/>
        </p:spPr>
      </p:sp>
      <p:sp>
        <p:nvSpPr>
          <p:cNvPr id="13" name="t240"/>
          <p:cNvSpPr txBox="1"/>
          <p:nvPr/>
        </p:nvSpPr>
        <p:spPr>
          <a:xfrm>
            <a:off x="6461608" y="1591056"/>
            <a:ext cx="2202104" cy="777240"/>
          </a:xfrm>
          <a:prstGeom prst="rect">
            <a:avLst/>
          </a:prstGeom>
          <a:noFill/>
          <a:ln/>
        </p:spPr>
        <p:txBody>
          <a:bodyPr wrap="square" lIns="0" tIns="0" rIns="0" bIns="0" rtlCol="0" anchor="ctr"/>
          <a:lstStyle/>
          <a:p>
            <a:pPr marL="0" indent="0">
              <a:buNone/>
            </a:pPr>
            <a:r>
              <a:rPr lang="en-US" sz="2900" b="1" dirty="0">
                <a:solidFill>
                  <a:schemeClr val="accent1"/>
                </a:solidFill>
              </a:rPr>
              <a:t>50.1°</a:t>
            </a:r>
            <a:endParaRPr lang="en-US" sz="2900" dirty="0"/>
          </a:p>
        </p:txBody>
      </p:sp>
      <p:sp>
        <p:nvSpPr>
          <p:cNvPr id="14" name="t241"/>
          <p:cNvSpPr txBox="1"/>
          <p:nvPr/>
        </p:nvSpPr>
        <p:spPr>
          <a:xfrm>
            <a:off x="6461608" y="2377440"/>
            <a:ext cx="2110664" cy="640080"/>
          </a:xfrm>
          <a:prstGeom prst="rect">
            <a:avLst/>
          </a:prstGeom>
          <a:noFill/>
          <a:ln/>
        </p:spPr>
        <p:txBody>
          <a:bodyPr wrap="square" lIns="0" tIns="0" rIns="0" bIns="0" rtlCol="0" anchor="t"/>
          <a:lstStyle/>
          <a:p>
            <a:pPr marL="0" indent="0">
              <a:buNone/>
            </a:pPr>
            <a:r>
              <a:rPr lang="en-US" sz="1300" dirty="0">
                <a:solidFill>
                  <a:schemeClr val="tx2"/>
                </a:solidFill>
              </a:rPr>
              <a:t>Worst hitch angle (limit 60°)</a:t>
            </a:r>
            <a:endParaRPr lang="en-US" sz="1300" dirty="0"/>
          </a:p>
        </p:txBody>
      </p:sp>
      <p:sp>
        <p:nvSpPr>
          <p:cNvPr id="15" name="card242"/>
          <p:cNvSpPr/>
          <p:nvPr/>
        </p:nvSpPr>
        <p:spPr>
          <a:xfrm>
            <a:off x="9075191" y="1481328"/>
            <a:ext cx="2567864" cy="1600200"/>
          </a:xfrm>
          <a:prstGeom prst="roundRect">
            <a:avLst>
              <a:gd name="adj" fmla="val 6857"/>
            </a:avLst>
          </a:prstGeom>
          <a:solidFill>
            <a:schemeClr val="bg2"/>
          </a:solidFill>
          <a:ln/>
        </p:spPr>
      </p:sp>
      <p:sp>
        <p:nvSpPr>
          <p:cNvPr id="16" name="t243"/>
          <p:cNvSpPr txBox="1"/>
          <p:nvPr/>
        </p:nvSpPr>
        <p:spPr>
          <a:xfrm>
            <a:off x="9303791" y="1591056"/>
            <a:ext cx="2202104" cy="777240"/>
          </a:xfrm>
          <a:prstGeom prst="rect">
            <a:avLst/>
          </a:prstGeom>
          <a:noFill/>
          <a:ln/>
        </p:spPr>
        <p:txBody>
          <a:bodyPr wrap="square" lIns="0" tIns="0" rIns="0" bIns="0" rtlCol="0" anchor="ctr"/>
          <a:lstStyle/>
          <a:p>
            <a:pPr marL="0" indent="0">
              <a:buNone/>
            </a:pPr>
            <a:r>
              <a:rPr lang="en-US" sz="2900" b="1" dirty="0">
                <a:solidFill>
                  <a:schemeClr val="accent3"/>
                </a:solidFill>
              </a:rPr>
              <a:t>72/72</a:t>
            </a:r>
            <a:endParaRPr lang="en-US" sz="2900" dirty="0"/>
          </a:p>
        </p:txBody>
      </p:sp>
      <p:sp>
        <p:nvSpPr>
          <p:cNvPr id="17" name="t244"/>
          <p:cNvSpPr txBox="1"/>
          <p:nvPr/>
        </p:nvSpPr>
        <p:spPr>
          <a:xfrm>
            <a:off x="9303791" y="2377440"/>
            <a:ext cx="2110664" cy="640080"/>
          </a:xfrm>
          <a:prstGeom prst="rect">
            <a:avLst/>
          </a:prstGeom>
          <a:noFill/>
          <a:ln/>
        </p:spPr>
        <p:txBody>
          <a:bodyPr wrap="square" lIns="0" tIns="0" rIns="0" bIns="0" rtlCol="0" anchor="t"/>
          <a:lstStyle/>
          <a:p>
            <a:pPr marL="0" indent="0">
              <a:buNone/>
            </a:pPr>
            <a:r>
              <a:rPr lang="en-US" sz="1300" dirty="0">
                <a:solidFill>
                  <a:schemeClr val="tx2"/>
                </a:solidFill>
              </a:rPr>
              <a:t>Unaided reverses jackknife</a:t>
            </a:r>
            <a:endParaRPr lang="en-US" sz="1300" dirty="0"/>
          </a:p>
        </p:txBody>
      </p:sp>
      <p:pic>
        <p:nvPicPr>
          <p:cNvPr id="18" name="img245" descr="Hitch angle against time for one bay: NMPC stays inside 60 degrees, the unaided driver jackknifes"/>
          <p:cNvPicPr>
            <a:picLocks noChangeAspect="1"/>
          </p:cNvPicPr>
          <p:nvPr/>
        </p:nvPicPr>
        <p:blipFill>
          <a:blip r:embed="rId3"/>
          <a:stretch>
            <a:fillRect/>
          </a:stretch>
        </p:blipFill>
        <p:spPr>
          <a:xfrm>
            <a:off x="548640" y="3310128"/>
            <a:ext cx="4347319" cy="2926080"/>
          </a:xfrm>
          <a:prstGeom prst="rect">
            <a:avLst/>
          </a:prstGeom>
        </p:spPr>
      </p:pic>
      <p:pic>
        <p:nvPicPr>
          <p:cNvPr id="19" name="photo246" descr="With NMPC guidance: parked"/>
          <p:cNvPicPr>
            <a:picLocks noChangeAspect="1"/>
          </p:cNvPicPr>
          <p:nvPr/>
        </p:nvPicPr>
        <p:blipFill>
          <a:blip r:embed="rId4"/>
          <a:srcRect/>
          <a:stretch/>
        </p:blipFill>
        <p:spPr>
          <a:xfrm>
            <a:off x="5303520" y="3355848"/>
            <a:ext cx="3032608" cy="2423160"/>
          </a:xfrm>
          <a:prstGeom prst="rect">
            <a:avLst/>
          </a:prstGeom>
        </p:spPr>
      </p:pic>
      <p:sp>
        <p:nvSpPr>
          <p:cNvPr id="20" name="t247"/>
          <p:cNvSpPr txBox="1"/>
          <p:nvPr/>
        </p:nvSpPr>
        <p:spPr>
          <a:xfrm>
            <a:off x="5303520" y="5852160"/>
            <a:ext cx="3032608" cy="365760"/>
          </a:xfrm>
          <a:prstGeom prst="rect">
            <a:avLst/>
          </a:prstGeom>
          <a:noFill/>
          <a:ln/>
        </p:spPr>
        <p:txBody>
          <a:bodyPr wrap="square" lIns="0" tIns="0" rIns="0" bIns="0" rtlCol="0" anchor="t"/>
          <a:lstStyle/>
          <a:p>
            <a:pPr marL="0" indent="0">
              <a:buNone/>
            </a:pPr>
            <a:r>
              <a:rPr lang="en-US" sz="1200" b="1" dirty="0">
                <a:solidFill>
                  <a:srgbClr val="4CC38A"/>
                </a:solidFill>
              </a:rPr>
              <a:t>With NMPC guidance: parked</a:t>
            </a:r>
            <a:endParaRPr lang="en-US" sz="1200" dirty="0"/>
          </a:p>
        </p:txBody>
      </p:sp>
      <p:pic>
        <p:nvPicPr>
          <p:cNvPr id="21" name="photo248" descr="Without guidance: jackknife"/>
          <p:cNvPicPr>
            <a:picLocks noChangeAspect="1"/>
          </p:cNvPicPr>
          <p:nvPr/>
        </p:nvPicPr>
        <p:blipFill>
          <a:blip r:embed="rId5"/>
          <a:srcRect/>
          <a:stretch/>
        </p:blipFill>
        <p:spPr>
          <a:xfrm>
            <a:off x="8610448" y="3355848"/>
            <a:ext cx="3032608" cy="2423160"/>
          </a:xfrm>
          <a:prstGeom prst="rect">
            <a:avLst/>
          </a:prstGeom>
        </p:spPr>
      </p:pic>
      <p:sp>
        <p:nvSpPr>
          <p:cNvPr id="22" name="t249"/>
          <p:cNvSpPr txBox="1"/>
          <p:nvPr/>
        </p:nvSpPr>
        <p:spPr>
          <a:xfrm>
            <a:off x="8610448" y="5852160"/>
            <a:ext cx="3032608" cy="365760"/>
          </a:xfrm>
          <a:prstGeom prst="rect">
            <a:avLst/>
          </a:prstGeom>
          <a:noFill/>
          <a:ln/>
        </p:spPr>
        <p:txBody>
          <a:bodyPr wrap="square" lIns="0" tIns="0" rIns="0" bIns="0" rtlCol="0" anchor="t"/>
          <a:lstStyle/>
          <a:p>
            <a:pPr marL="0" indent="0">
              <a:buNone/>
            </a:pPr>
            <a:r>
              <a:rPr lang="en-US" sz="1200" b="1" dirty="0">
                <a:solidFill>
                  <a:schemeClr val="accent3"/>
                </a:solidFill>
              </a:rPr>
              <a:t>Without guidance: jackknife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adge250"/>
          <p:cNvSpPr/>
          <p:nvPr/>
        </p:nvSpPr>
        <p:spPr>
          <a:xfrm>
            <a:off x="548640" y="356616"/>
            <a:ext cx="256032" cy="256032"/>
          </a:xfrm>
          <a:prstGeom prst="ellipse">
            <a:avLst/>
          </a:prstGeom>
          <a:solidFill>
            <a:schemeClr val="accent1"/>
          </a:solidFill>
          <a:ln/>
        </p:spPr>
      </p:sp>
      <p:sp>
        <p:nvSpPr>
          <p:cNvPr id="3" name="t251"/>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4  ·  Results, Limitations and Future Scope</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Limitations and Future Scope</a:t>
            </a:r>
            <a:endParaRPr lang="en-US" sz="2800" dirty="0"/>
          </a:p>
        </p:txBody>
      </p:sp>
      <p:sp>
        <p:nvSpPr>
          <p:cNvPr id="6" name="card252"/>
          <p:cNvSpPr/>
          <p:nvPr/>
        </p:nvSpPr>
        <p:spPr>
          <a:xfrm>
            <a:off x="548640" y="1481328"/>
            <a:ext cx="5364328" cy="4663440"/>
          </a:xfrm>
          <a:prstGeom prst="roundRect">
            <a:avLst>
              <a:gd name="adj" fmla="val 2353"/>
            </a:avLst>
          </a:prstGeom>
          <a:solidFill>
            <a:schemeClr val="bg2"/>
          </a:solidFill>
          <a:ln/>
        </p:spPr>
      </p:sp>
      <p:sp>
        <p:nvSpPr>
          <p:cNvPr id="7" name="t253"/>
          <p:cNvSpPr txBox="1"/>
          <p:nvPr/>
        </p:nvSpPr>
        <p:spPr>
          <a:xfrm>
            <a:off x="868680" y="1709928"/>
            <a:ext cx="4724248" cy="457200"/>
          </a:xfrm>
          <a:prstGeom prst="rect">
            <a:avLst/>
          </a:prstGeom>
          <a:noFill/>
          <a:ln/>
        </p:spPr>
        <p:txBody>
          <a:bodyPr wrap="square" lIns="0" tIns="0" rIns="0" bIns="0" rtlCol="0" anchor="t"/>
          <a:lstStyle/>
          <a:p>
            <a:pPr marL="0" indent="0">
              <a:buNone/>
            </a:pPr>
            <a:r>
              <a:rPr lang="en-US" sz="2000" b="1" dirty="0">
                <a:solidFill>
                  <a:schemeClr val="tx1"/>
                </a:solidFill>
              </a:rPr>
              <a:t>Limitations</a:t>
            </a:r>
            <a:endParaRPr lang="en-US" sz="2000" dirty="0"/>
          </a:p>
        </p:txBody>
      </p:sp>
      <p:sp>
        <p:nvSpPr>
          <p:cNvPr id="8" name="t254"/>
          <p:cNvSpPr txBox="1"/>
          <p:nvPr/>
        </p:nvSpPr>
        <p:spPr>
          <a:xfrm>
            <a:off x="868680" y="2395728"/>
            <a:ext cx="4724248" cy="3566160"/>
          </a:xfrm>
          <a:prstGeom prst="rect">
            <a:avLst/>
          </a:prstGeom>
          <a:noFill/>
          <a:ln/>
        </p:spPr>
        <p:txBody>
          <a:bodyPr wrap="square" lIns="0" tIns="0" rIns="0" bIns="0" rtlCol="0" anchor="t"/>
          <a:lstStyle/>
          <a:p>
            <a:pPr marL="203200" indent="-203200">
              <a:spcAft>
                <a:spcPts val="1600"/>
              </a:spcAft>
              <a:buSzPct val="100000"/>
              <a:buChar char="•"/>
            </a:pPr>
            <a:r>
              <a:rPr lang="en-US" sz="1700" dirty="0">
                <a:solidFill>
                  <a:schemeClr val="tx1"/>
                </a:solidFill>
              </a:rPr>
              <a:t>Kinematic model: no tyre slip or load transfer</a:t>
            </a:r>
            <a:endParaRPr lang="en-US" sz="1700" dirty="0"/>
          </a:p>
          <a:p>
            <a:pPr marL="203200" indent="-203200">
              <a:spcAft>
                <a:spcPts val="1600"/>
              </a:spcAft>
              <a:buSzPct val="100000"/>
              <a:buChar char="•"/>
            </a:pPr>
            <a:r>
              <a:rPr lang="en-US" sz="1700" dirty="0">
                <a:solidFill>
                  <a:schemeClr val="tx1"/>
                </a:solidFill>
              </a:rPr>
              <a:t>Pose assumed known: no camera or LiDAR yet</a:t>
            </a:r>
            <a:endParaRPr lang="en-US" sz="1700" dirty="0"/>
          </a:p>
          <a:p>
            <a:pPr marL="203200" indent="-203200">
              <a:spcAft>
                <a:spcPts val="1600"/>
              </a:spcAft>
              <a:buSzPct val="100000"/>
              <a:buChar char="•"/>
            </a:pPr>
            <a:r>
              <a:rPr lang="en-US" sz="1700" dirty="0">
                <a:solidFill>
                  <a:schemeClr val="tx1"/>
                </a:solidFill>
              </a:rPr>
              <a:t>One trailer, in a simulated yard</a:t>
            </a:r>
            <a:endParaRPr lang="en-US" sz="1700" dirty="0"/>
          </a:p>
          <a:p>
            <a:pPr marL="203200" indent="-203200">
              <a:spcAft>
                <a:spcPts val="1600"/>
              </a:spcAft>
              <a:buSzPct val="100000"/>
              <a:buChar char="•"/>
            </a:pPr>
            <a:r>
              <a:rPr lang="en-US" sz="1700" dirty="0">
                <a:solidFill>
                  <a:schemeClr val="tx1"/>
                </a:solidFill>
              </a:rPr>
              <a:t>Solver runs on a laptop; tight yards plan slowly</a:t>
            </a:r>
            <a:endParaRPr lang="en-US" sz="1700" dirty="0"/>
          </a:p>
        </p:txBody>
      </p:sp>
      <p:sp>
        <p:nvSpPr>
          <p:cNvPr id="9" name="card255"/>
          <p:cNvSpPr/>
          <p:nvPr/>
        </p:nvSpPr>
        <p:spPr>
          <a:xfrm>
            <a:off x="6278728" y="1481328"/>
            <a:ext cx="5364328" cy="4663440"/>
          </a:xfrm>
          <a:prstGeom prst="roundRect">
            <a:avLst>
              <a:gd name="adj" fmla="val 2353"/>
            </a:avLst>
          </a:prstGeom>
          <a:solidFill>
            <a:schemeClr val="accent5"/>
          </a:solidFill>
          <a:ln/>
        </p:spPr>
      </p:sp>
      <p:sp>
        <p:nvSpPr>
          <p:cNvPr id="10" name="t256"/>
          <p:cNvSpPr txBox="1"/>
          <p:nvPr/>
        </p:nvSpPr>
        <p:spPr>
          <a:xfrm>
            <a:off x="6598768" y="1709928"/>
            <a:ext cx="4724248" cy="457200"/>
          </a:xfrm>
          <a:prstGeom prst="rect">
            <a:avLst/>
          </a:prstGeom>
          <a:noFill/>
          <a:ln/>
        </p:spPr>
        <p:txBody>
          <a:bodyPr wrap="square" lIns="0" tIns="0" rIns="0" bIns="0" rtlCol="0" anchor="t"/>
          <a:lstStyle/>
          <a:p>
            <a:pPr marL="0" indent="0">
              <a:buNone/>
            </a:pPr>
            <a:r>
              <a:rPr lang="en-US" sz="2000" b="1" dirty="0">
                <a:solidFill>
                  <a:schemeClr val="accent1"/>
                </a:solidFill>
              </a:rPr>
              <a:t>Future Scope</a:t>
            </a:r>
            <a:endParaRPr lang="en-US" sz="2000" dirty="0"/>
          </a:p>
        </p:txBody>
      </p:sp>
      <p:sp>
        <p:nvSpPr>
          <p:cNvPr id="11" name="t257"/>
          <p:cNvSpPr txBox="1"/>
          <p:nvPr/>
        </p:nvSpPr>
        <p:spPr>
          <a:xfrm>
            <a:off x="6598768" y="2395728"/>
            <a:ext cx="4724248" cy="3566160"/>
          </a:xfrm>
          <a:prstGeom prst="rect">
            <a:avLst/>
          </a:prstGeom>
          <a:noFill/>
          <a:ln/>
        </p:spPr>
        <p:txBody>
          <a:bodyPr wrap="square" lIns="0" tIns="0" rIns="0" bIns="0" rtlCol="0" anchor="t"/>
          <a:lstStyle/>
          <a:p>
            <a:pPr marL="203200" indent="-203200">
              <a:spcAft>
                <a:spcPts val="1600"/>
              </a:spcAft>
              <a:buSzPct val="100000"/>
              <a:buChar char="•"/>
            </a:pPr>
            <a:r>
              <a:rPr lang="en-US" sz="1700" dirty="0">
                <a:solidFill>
                  <a:schemeClr val="tx1"/>
                </a:solidFill>
              </a:rPr>
              <a:t>Camera and LiDAR pose feedback, as base paper [1] proposes</a:t>
            </a:r>
            <a:endParaRPr lang="en-US" sz="1700" dirty="0"/>
          </a:p>
          <a:p>
            <a:pPr marL="203200" indent="-203200">
              <a:spcAft>
                <a:spcPts val="1600"/>
              </a:spcAft>
              <a:buSzPct val="100000"/>
              <a:buChar char="•"/>
            </a:pPr>
            <a:r>
              <a:rPr lang="en-US" sz="1700" dirty="0">
                <a:solidFill>
                  <a:schemeClr val="tx1"/>
                </a:solidFill>
              </a:rPr>
              <a:t>Faster NMPC (acados, IPOPT) for tighter yards</a:t>
            </a:r>
            <a:endParaRPr lang="en-US" sz="1700" dirty="0"/>
          </a:p>
          <a:p>
            <a:pPr marL="203200" indent="-203200">
              <a:spcAft>
                <a:spcPts val="1600"/>
              </a:spcAft>
              <a:buSzPct val="100000"/>
              <a:buChar char="•"/>
            </a:pPr>
            <a:r>
              <a:rPr lang="en-US" sz="1700" dirty="0">
                <a:solidFill>
                  <a:schemeClr val="tx1"/>
                </a:solidFill>
              </a:rPr>
              <a:t>Re-planning inside the control loop</a:t>
            </a:r>
            <a:endParaRPr lang="en-US" sz="1700" dirty="0"/>
          </a:p>
          <a:p>
            <a:pPr marL="203200" indent="-203200">
              <a:spcAft>
                <a:spcPts val="1600"/>
              </a:spcAft>
              <a:buSzPct val="100000"/>
              <a:buChar char="•"/>
            </a:pPr>
            <a:r>
              <a:rPr lang="en-US" sz="1700" dirty="0">
                <a:solidFill>
                  <a:schemeClr val="tx1"/>
                </a:solidFill>
              </a:rPr>
              <a:t>Trials with real drivers; double-trailer rigs</a:t>
            </a:r>
            <a:endParaRPr lang="en-US"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adge258"/>
          <p:cNvSpPr/>
          <p:nvPr/>
        </p:nvSpPr>
        <p:spPr>
          <a:xfrm>
            <a:off x="548640" y="356616"/>
            <a:ext cx="256032" cy="256032"/>
          </a:xfrm>
          <a:prstGeom prst="ellipse">
            <a:avLst/>
          </a:prstGeom>
          <a:solidFill>
            <a:schemeClr val="accent1"/>
          </a:solidFill>
          <a:ln/>
        </p:spPr>
      </p:sp>
      <p:sp>
        <p:nvSpPr>
          <p:cNvPr id="3" name="t259"/>
          <p:cNvSpPr txBox="1"/>
          <p:nvPr/>
        </p:nvSpPr>
        <p:spPr>
          <a:xfrm>
            <a:off x="548640" y="3566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4" name="Text 0"/>
          <p:cNvSpPr>
            <a:spLocks noGrp="1"/>
          </p:cNvSpPr>
          <p:nvPr>
            <p:ph type="body" idx="100" hasCustomPrompt="1"/>
          </p:nvPr>
        </p:nvSpPr>
        <p:spPr>
          <a:xfrm>
            <a:off x="960120" y="329184"/>
            <a:ext cx="7315200" cy="310896"/>
          </a:xfrm>
          <a:prstGeom prst="rect">
            <a:avLst/>
          </a:prstGeom>
          <a:noFill/>
          <a:ln/>
        </p:spPr>
        <p:txBody>
          <a:bodyPr wrap="square" lIns="0" tIns="0" rIns="0" bIns="0" rtlCol="0" anchor="ctr"/>
          <a:lstStyle/>
          <a:p>
            <a:pPr marL="0" indent="0">
              <a:buNone/>
            </a:pPr>
            <a:r>
              <a:rPr lang="en-US" sz="1300" b="1" dirty="0">
                <a:solidFill>
                  <a:schemeClr val="accent1"/>
                </a:solidFill>
              </a:rPr>
              <a:t>Part 4  ·  Results, Limitations and Future Scope</a:t>
            </a:r>
            <a:endParaRPr lang="en-US" sz="1300" dirty="0"/>
          </a:p>
        </p:txBody>
      </p:sp>
      <p:sp>
        <p:nvSpPr>
          <p:cNvPr id="5"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Conclusion</a:t>
            </a:r>
            <a:endParaRPr lang="en-US" sz="2800" dirty="0"/>
          </a:p>
        </p:txBody>
      </p:sp>
      <p:sp>
        <p:nvSpPr>
          <p:cNvPr id="6" name="badge260"/>
          <p:cNvSpPr/>
          <p:nvPr/>
        </p:nvSpPr>
        <p:spPr>
          <a:xfrm>
            <a:off x="548640" y="1847088"/>
            <a:ext cx="502920" cy="502920"/>
          </a:xfrm>
          <a:prstGeom prst="ellipse">
            <a:avLst/>
          </a:prstGeom>
          <a:solidFill>
            <a:schemeClr val="accent1"/>
          </a:solidFill>
          <a:ln/>
        </p:spPr>
      </p:sp>
      <p:sp>
        <p:nvSpPr>
          <p:cNvPr id="7" name="t261"/>
          <p:cNvSpPr txBox="1"/>
          <p:nvPr/>
        </p:nvSpPr>
        <p:spPr>
          <a:xfrm>
            <a:off x="548640" y="184708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t262"/>
          <p:cNvSpPr txBox="1"/>
          <p:nvPr/>
        </p:nvSpPr>
        <p:spPr>
          <a:xfrm>
            <a:off x="1188720" y="1976296"/>
            <a:ext cx="5760720" cy="960120"/>
          </a:xfrm>
          <a:prstGeom prst="rect">
            <a:avLst/>
          </a:prstGeom>
          <a:noFill/>
          <a:ln/>
        </p:spPr>
        <p:txBody>
          <a:bodyPr wrap="square" lIns="0" tIns="0" rIns="0" bIns="0" rtlCol="0" anchor="t"/>
          <a:lstStyle/>
          <a:p>
            <a:pPr marL="0" indent="0">
              <a:buNone/>
            </a:pPr>
            <a:r>
              <a:rPr lang="en-US" sz="1700" dirty="0">
                <a:solidFill>
                  <a:schemeClr val="tx1"/>
                </a:solidFill>
              </a:rPr>
              <a:t>Reversing a trailer is unstable: a 2° error reaches 60° in 28 m</a:t>
            </a:r>
            <a:endParaRPr lang="en-US" sz="1700" dirty="0"/>
          </a:p>
        </p:txBody>
      </p:sp>
      <p:sp>
        <p:nvSpPr>
          <p:cNvPr id="9" name="badge263"/>
          <p:cNvSpPr/>
          <p:nvPr/>
        </p:nvSpPr>
        <p:spPr>
          <a:xfrm>
            <a:off x="548640" y="2807208"/>
            <a:ext cx="502920" cy="502920"/>
          </a:xfrm>
          <a:prstGeom prst="ellipse">
            <a:avLst/>
          </a:prstGeom>
          <a:solidFill>
            <a:schemeClr val="accent1"/>
          </a:solidFill>
          <a:ln/>
        </p:spPr>
      </p:sp>
      <p:sp>
        <p:nvSpPr>
          <p:cNvPr id="10" name="t264"/>
          <p:cNvSpPr txBox="1"/>
          <p:nvPr/>
        </p:nvSpPr>
        <p:spPr>
          <a:xfrm>
            <a:off x="548640" y="280720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1" name="t265"/>
          <p:cNvSpPr txBox="1"/>
          <p:nvPr/>
        </p:nvSpPr>
        <p:spPr>
          <a:xfrm>
            <a:off x="1257300" y="2936416"/>
            <a:ext cx="5760720" cy="960120"/>
          </a:xfrm>
          <a:prstGeom prst="rect">
            <a:avLst/>
          </a:prstGeom>
          <a:noFill/>
          <a:ln/>
        </p:spPr>
        <p:txBody>
          <a:bodyPr wrap="square" lIns="0" tIns="0" rIns="0" bIns="0" rtlCol="0" anchor="t"/>
          <a:lstStyle/>
          <a:p>
            <a:pPr marL="0" indent="0">
              <a:buNone/>
            </a:pPr>
            <a:r>
              <a:rPr lang="en-US" sz="1700" dirty="0">
                <a:solidFill>
                  <a:schemeClr val="tx1"/>
                </a:solidFill>
              </a:rPr>
              <a:t>Hybrid A* plans a route the rig can drive; NMPC holds |ψ| ≤ 60°</a:t>
            </a:r>
            <a:endParaRPr lang="en-US" sz="1700" dirty="0"/>
          </a:p>
        </p:txBody>
      </p:sp>
      <p:sp>
        <p:nvSpPr>
          <p:cNvPr id="12" name="badge266"/>
          <p:cNvSpPr/>
          <p:nvPr/>
        </p:nvSpPr>
        <p:spPr>
          <a:xfrm>
            <a:off x="548640" y="3767328"/>
            <a:ext cx="502920" cy="502920"/>
          </a:xfrm>
          <a:prstGeom prst="ellipse">
            <a:avLst/>
          </a:prstGeom>
          <a:solidFill>
            <a:schemeClr val="accent1"/>
          </a:solidFill>
          <a:ln/>
        </p:spPr>
      </p:sp>
      <p:sp>
        <p:nvSpPr>
          <p:cNvPr id="13" name="t267"/>
          <p:cNvSpPr txBox="1"/>
          <p:nvPr/>
        </p:nvSpPr>
        <p:spPr>
          <a:xfrm>
            <a:off x="548640" y="376732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4" name="t268"/>
          <p:cNvSpPr txBox="1"/>
          <p:nvPr/>
        </p:nvSpPr>
        <p:spPr>
          <a:xfrm>
            <a:off x="1257300" y="3886994"/>
            <a:ext cx="5760720" cy="960120"/>
          </a:xfrm>
          <a:prstGeom prst="rect">
            <a:avLst/>
          </a:prstGeom>
          <a:noFill/>
          <a:ln/>
        </p:spPr>
        <p:txBody>
          <a:bodyPr wrap="square" lIns="0" tIns="0" rIns="0" bIns="0" rtlCol="0" anchor="t"/>
          <a:lstStyle/>
          <a:p>
            <a:pPr marL="0" indent="0">
              <a:buNone/>
            </a:pPr>
            <a:r>
              <a:rPr lang="en-US" sz="1700" dirty="0">
                <a:solidFill>
                  <a:schemeClr val="tx1"/>
                </a:solidFill>
              </a:rPr>
              <a:t>All 110 test bays parked; every unaided reverse jackknifed</a:t>
            </a:r>
            <a:endParaRPr lang="en-US" sz="1700" dirty="0"/>
          </a:p>
        </p:txBody>
      </p:sp>
      <p:sp>
        <p:nvSpPr>
          <p:cNvPr id="15" name="badge269"/>
          <p:cNvSpPr/>
          <p:nvPr/>
        </p:nvSpPr>
        <p:spPr>
          <a:xfrm>
            <a:off x="548640" y="4727448"/>
            <a:ext cx="502920" cy="502920"/>
          </a:xfrm>
          <a:prstGeom prst="ellipse">
            <a:avLst/>
          </a:prstGeom>
          <a:solidFill>
            <a:schemeClr val="accent1"/>
          </a:solidFill>
          <a:ln/>
        </p:spPr>
      </p:sp>
      <p:sp>
        <p:nvSpPr>
          <p:cNvPr id="16" name="t270"/>
          <p:cNvSpPr txBox="1"/>
          <p:nvPr/>
        </p:nvSpPr>
        <p:spPr>
          <a:xfrm>
            <a:off x="548640" y="472744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7" name="t271"/>
          <p:cNvSpPr txBox="1"/>
          <p:nvPr/>
        </p:nvSpPr>
        <p:spPr>
          <a:xfrm>
            <a:off x="1325880" y="4847114"/>
            <a:ext cx="5760720" cy="960120"/>
          </a:xfrm>
          <a:prstGeom prst="rect">
            <a:avLst/>
          </a:prstGeom>
          <a:noFill/>
          <a:ln/>
        </p:spPr>
        <p:txBody>
          <a:bodyPr wrap="square" lIns="0" tIns="0" rIns="0" bIns="0" rtlCol="0" anchor="t"/>
          <a:lstStyle/>
          <a:p>
            <a:pPr marL="0" indent="0">
              <a:buNone/>
            </a:pPr>
            <a:r>
              <a:rPr lang="en-US" sz="1700" dirty="0">
                <a:solidFill>
                  <a:schemeClr val="tx1"/>
                </a:solidFill>
              </a:rPr>
              <a:t>Driver output: gear, speed, wheel turns</a:t>
            </a:r>
            <a:endParaRPr lang="en-US"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676656"/>
            <a:ext cx="11094415" cy="658368"/>
          </a:xfrm>
          <a:prstGeom prst="rect">
            <a:avLst/>
          </a:prstGeom>
          <a:noFill/>
          <a:ln/>
        </p:spPr>
        <p:txBody>
          <a:bodyPr wrap="square" lIns="0" tIns="0" rIns="0" bIns="0" rtlCol="0" anchor="ctr"/>
          <a:lstStyle/>
          <a:p>
            <a:pPr marL="0" indent="0" algn="l">
              <a:buNone/>
            </a:pPr>
            <a:r>
              <a:rPr lang="en-US" sz="2800" dirty="0">
                <a:solidFill>
                  <a:schemeClr val="tx1"/>
                </a:solidFill>
              </a:rPr>
              <a:t>References</a:t>
            </a:r>
            <a:endParaRPr lang="en-US" sz="2800" dirty="0"/>
          </a:p>
        </p:txBody>
      </p:sp>
      <p:sp>
        <p:nvSpPr>
          <p:cNvPr id="3" name="t273"/>
          <p:cNvSpPr txBox="1"/>
          <p:nvPr/>
        </p:nvSpPr>
        <p:spPr>
          <a:xfrm>
            <a:off x="548640" y="1435608"/>
            <a:ext cx="11094415" cy="4754880"/>
          </a:xfrm>
          <a:prstGeom prst="rect">
            <a:avLst/>
          </a:prstGeom>
          <a:noFill/>
          <a:ln/>
        </p:spPr>
        <p:txBody>
          <a:bodyPr wrap="square" lIns="0" tIns="0" rIns="0" bIns="0" rtlCol="0" anchor="t"/>
          <a:lstStyle/>
          <a:p>
            <a:pPr marL="0" indent="0">
              <a:spcAft>
                <a:spcPts val="1000"/>
              </a:spcAft>
              <a:buNone/>
            </a:pPr>
            <a:r>
              <a:rPr lang="en-US" sz="1400" dirty="0">
                <a:solidFill>
                  <a:schemeClr val="tx2"/>
                </a:solidFill>
              </a:rPr>
              <a:t>[1]  G. Alenchery et al., “Parking Assistance for Trailer-Truck Transport Vehicles Using Sensor Fusion and Motion Planning,” arXiv:2605.02716, 2026.</a:t>
            </a:r>
            <a:endParaRPr lang="en-US" sz="1400" dirty="0"/>
          </a:p>
          <a:p>
            <a:pPr marL="0" indent="0">
              <a:spcAft>
                <a:spcPts val="1000"/>
              </a:spcAft>
              <a:buNone/>
            </a:pPr>
            <a:r>
              <a:rPr lang="en-US" sz="1400" dirty="0">
                <a:solidFill>
                  <a:schemeClr val="tx2"/>
                </a:solidFill>
              </a:rPr>
              <a:t>[2]  M. Beglini, T. Belvedere, L. Lanari, G. Oriolo, “An Intrinsically Stable MPC Approach for Anti-Jackknifing Control of Tractor-Trailer Vehicles,” IEEE/ASME Trans. Mechatronics, 27(6), 4417–4428, 2022.</a:t>
            </a:r>
            <a:endParaRPr lang="en-US" sz="1400" dirty="0"/>
          </a:p>
          <a:p>
            <a:pPr marL="0" indent="0">
              <a:spcAft>
                <a:spcPts val="1000"/>
              </a:spcAft>
              <a:buNone/>
            </a:pPr>
            <a:r>
              <a:rPr lang="en-US" sz="1400" dirty="0">
                <a:solidFill>
                  <a:schemeClr val="tx2"/>
                </a:solidFill>
              </a:rPr>
              <a:t>[3]  E. Kayacan, E. Kayacan, H. Ramon, W. Saeys, “Robust Tube-Based Decentralized Nonlinear Model Predictive Control of an Autonomous Tractor-Trailer System,” IEEE/ASME Trans. Mechatronics, 20(1), 447–456, 2015.</a:t>
            </a:r>
            <a:endParaRPr lang="en-US" sz="1400" dirty="0"/>
          </a:p>
          <a:p>
            <a:pPr marL="0" indent="0">
              <a:spcAft>
                <a:spcPts val="1000"/>
              </a:spcAft>
              <a:buNone/>
            </a:pPr>
            <a:r>
              <a:rPr lang="en-US" sz="1400" dirty="0">
                <a:solidFill>
                  <a:schemeClr val="tx2"/>
                </a:solidFill>
              </a:rPr>
              <a:t>[4]  D. Dolgov, S. Thrun, M. Montemerlo, J. Diebel, “Path Planning for Autonomous Vehicles in Unknown Semi-structured Environments,” Int. J. Robotics Research, 29(5), 485–501, 2010.</a:t>
            </a:r>
            <a:endParaRPr lang="en-US" sz="1400" dirty="0"/>
          </a:p>
          <a:p>
            <a:pPr marL="0" indent="0">
              <a:spcAft>
                <a:spcPts val="1000"/>
              </a:spcAft>
              <a:buNone/>
            </a:pPr>
            <a:r>
              <a:rPr lang="en-US" sz="1400" dirty="0">
                <a:solidFill>
                  <a:schemeClr val="tx2"/>
                </a:solidFill>
              </a:rPr>
              <a:t>[5]  L. E. Dubins, “On Curves of Minimal Length with a Constraint on Average Curvature,” American J. Mathematics, 79(3), 497–516, 1957.</a:t>
            </a:r>
            <a:endParaRPr lang="en-US" sz="1400" dirty="0"/>
          </a:p>
          <a:p>
            <a:pPr marL="0" indent="0">
              <a:spcAft>
                <a:spcPts val="1000"/>
              </a:spcAft>
              <a:buNone/>
            </a:pPr>
            <a:r>
              <a:rPr lang="en-US" sz="1400" dirty="0">
                <a:solidFill>
                  <a:schemeClr val="tx2"/>
                </a:solidFill>
              </a:rPr>
              <a:t>[6]  D. Kraft, “A Software Package for Sequential Quadratic Programming,” DFVLR-FB 88-28, DLR, 1988.</a:t>
            </a:r>
            <a:endParaRPr lang="en-US" sz="1400" dirty="0"/>
          </a:p>
          <a:p>
            <a:pPr marL="0" indent="0">
              <a:spcAft>
                <a:spcPts val="1000"/>
              </a:spcAft>
              <a:buNone/>
            </a:pPr>
            <a:r>
              <a:rPr lang="en-US" sz="1400" dirty="0">
                <a:solidFill>
                  <a:schemeClr val="tx2"/>
                </a:solidFill>
              </a:rPr>
              <a:t>[7]  S. M. LaValle, Planning Algorithms, Cambridge University Press, 2006, ch. 13 (nonholonomic systems).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B9 Yard">
  <a:themeElements>
    <a:clrScheme name="B9 Yard">
      <a:dk1>
        <a:srgbClr val="E6EDF3"/>
      </a:dk1>
      <a:lt1>
        <a:srgbClr val="11161C"/>
      </a:lt1>
      <a:dk2>
        <a:srgbClr val="AEB8C2"/>
      </a:dk2>
      <a:lt2>
        <a:srgbClr val="1A2129"/>
      </a:lt2>
      <a:accent1>
        <a:srgbClr val="4FB3C2"/>
      </a:accent1>
      <a:accent2>
        <a:srgbClr val="F0A847"/>
      </a:accent2>
      <a:accent3>
        <a:srgbClr val="F0705F"/>
      </a:accent3>
      <a:accent4>
        <a:srgbClr val="7D8996"/>
      </a:accent4>
      <a:accent5>
        <a:srgbClr val="163039"/>
      </a:accent5>
      <a:accent6>
        <a:srgbClr val="3A2F1C"/>
      </a:accent6>
      <a:hlink>
        <a:srgbClr val="4FB3C2"/>
      </a:hlink>
      <a:folHlink>
        <a:srgbClr val="7D8996"/>
      </a:folHlink>
    </a:clrScheme>
    <a:fontScheme name="B9 Yard">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4085</Words>
  <Application>Microsoft Office PowerPoint</Application>
  <PresentationFormat>Widescreen</PresentationFormat>
  <Paragraphs>277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Cambria Math</vt:lpstr>
      <vt:lpstr>Segoe UI</vt:lpstr>
      <vt:lpstr>B9 Yard</vt:lpstr>
      <vt:lpstr>Model Predictive Control for Automated Reverse Docking</vt:lpstr>
      <vt:lpstr>Why a Truck With a Trailer Is a Different Problem</vt:lpstr>
      <vt:lpstr>How This Presentation Is Organised</vt:lpstr>
      <vt:lpstr>Modelling the Tractor-Trailer</vt:lpstr>
      <vt:lpstr>A Tractor-Trailer Is a Wheeled Mobile Robot</vt:lpstr>
      <vt:lpstr>Three Robotics Principles Behind the Model</vt:lpstr>
      <vt:lpstr>State Variables and Control Inputs</vt:lpstr>
      <vt:lpstr>Vehicle Kinematics</vt:lpstr>
      <vt:lpstr>The Tractor: Kinematic Bicycle Model</vt:lpstr>
      <vt:lpstr>The Trailer: Hitch Geometry and No-Slip Constraint</vt:lpstr>
      <vt:lpstr>The Complete Four-State Model</vt:lpstr>
      <vt:lpstr>Hybrid A* and NMPC</vt:lpstr>
      <vt:lpstr>Why Reversing Is Unstable</vt:lpstr>
      <vt:lpstr>Hybrid A*: Planning a Path the Truck Can Drive</vt:lpstr>
      <vt:lpstr>NMPC: Predict, Optimise, Apply, Repeat</vt:lpstr>
      <vt:lpstr>How Hybrid A* and NMPC Work Together</vt:lpstr>
      <vt:lpstr>Limitations and Future Scope</vt:lpstr>
      <vt:lpstr>Results at a Glance</vt:lpstr>
      <vt:lpstr>Limitations and Future Scope</vt:lpstr>
      <vt:lpstr>Conclusion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Predictive Control for Automated Reverse Docking</dc:title>
  <dc:subject>PptxGenJS Presentation</dc:subject>
  <dc:creator>Group B9</dc:creator>
  <cp:lastModifiedBy>Harshith KV</cp:lastModifiedBy>
  <cp:revision>3</cp:revision>
  <dcterms:created xsi:type="dcterms:W3CDTF">2026-10-26T14:07:13Z</dcterms:created>
  <dcterms:modified xsi:type="dcterms:W3CDTF">2026-10-27T08:08:53Z</dcterms:modified>
</cp:coreProperties>
</file>